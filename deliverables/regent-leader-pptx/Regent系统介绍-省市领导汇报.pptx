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3" Type="http://schemas.openxmlformats.org/officeDocument/2006/relationships/tableStyles" Target="tableStyles.xml" /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9" Type="http://schemas.openxmlformats.org/officeDocument/2006/relationships/slide" Target="slides/slide19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17" Type="http://schemas.openxmlformats.org/officeDocument/2006/relationships/slide" Target="slides/slide17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notesMaster" Target="notesMasters/notesMaster1.xml" /><Relationship Id="rId22" Type="http://schemas.openxmlformats.org/officeDocument/2006/relationships/presProps" Target="presProps.xml" /><Relationship Id="rId24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'1280px', height: '720px', background: '#0E1B2E', fontFamily: &quot;'PingFang SC','Microsoft YaHei','Helvetica Neue',sans-serif&quot;, overflow: 'hidden' }}&gt;&#10;  &lt;Box style={{ position: 'absolute', top: -150, right: -120, width: 560, height: 560, borderRadius: 280, background: 'linear-gradient(135deg,#16335B 0%,#2E6DB4 100%)', opacity: 0.28 }} /&gt;&#10;  &lt;Box style={{ position: 'absolute', bottom: -190, left: -110, width: 480, height: 480, borderRadius: 240, background: 'linear-gradient(135deg,#16335B 0%,#2E6DB4 100%)', opacity: 0.18 }} /&gt;&#10;&#10;  &lt;Box style={{ position: 'absolute', top: 48, left: 64, right: 64, flexDirection: 'row', justifyContent: 'space-between', alignItems: 'center' }}&gt;&#10;    &lt;Text style={{ fontSize: 18, color: '#9DB2CC', letterSpacing: 2 }}&gt;树米科技 · 呈&lt;/Text&gt;&#10;    &lt;Text style={{ fontSize: 18, color: '#9DB2CC' }}&gt;AI 操作系统汇报&lt;/Text&gt;&#10;  &lt;/Box&gt;&#10;&#10;  &lt;Box style={{ position: 'absolute', top: 220, left: 64, right: 64 }}&gt;&#10;    &lt;Text style={{ fontSize: 20, color: '#5FA8E6', fontWeight: 'bold', letterSpacing: 4, marginBottom: 16 }}&gt;REGENT · 智能目标执行系统&lt;/Text&gt;&#10;    &lt;Text style={{ fontSize: 64, fontWeight: 'bold', color: '#FFFFFF', lineHeight: 1.18 }}&gt;&#10;      让 AI 真正干事，&#10;      &lt;br /&gt;&#10;      &lt;span style={{ color: '#F4B400' }}&gt;且始终在掌控之中&lt;/span&gt;&#10;    &lt;/Text&gt;&#10;    &lt;Box style={{ width: 130, height: 6, background: 'linear-gradient(90deg,#2E6DB4,#D7263D)', marginTop: 28, marginBottom: 28, borderRadius: 3 }} /&gt;&#10;    &lt;Text style={{ fontSize: 24, color: '#CBD5E1', lineHeight: 1.7 }}&gt;&#10;      自主可控 · 安全合规 · 可持续运营的 AI 操作系统&#10;    &lt;/Text&gt;&#10;  &lt;/Box&gt;&#10;&#10;  &lt;Box style={{ position: 'absolute', bottom: 36, left: 64, right: 64, flexDirection: 'row', justifyContent: 'space-between', alignItems: 'center' }}&gt;&#10;    &lt;Text style={{ fontSize: 14, color: '#64748B' }}&gt;Regent 系统介绍 · 树米科技&lt;/Text&gt;&#10;    &lt;Text style={{ fontSize: 14, color: '#64748B' }}&gt;01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001000" y="-1428750"/>
            <a:ext cx="5334000" cy="5334000"/>
          </a:xfrm>
          <a:custGeom>
            <a:pathLst>
              <a:path w="560" h="560">
                <a:moveTo>
                  <a:pt x="440" y="510"/>
                </a:moveTo>
                <a:lnTo>
                  <a:pt x="437" y="512"/>
                </a:lnTo>
                <a:lnTo>
                  <a:pt x="431" y="516"/>
                </a:lnTo>
                <a:lnTo>
                  <a:pt x="425" y="519"/>
                </a:lnTo>
                <a:lnTo>
                  <a:pt x="419" y="523"/>
                </a:lnTo>
                <a:lnTo>
                  <a:pt x="413" y="526"/>
                </a:lnTo>
                <a:lnTo>
                  <a:pt x="407" y="529"/>
                </a:lnTo>
                <a:lnTo>
                  <a:pt x="401" y="532"/>
                </a:lnTo>
                <a:lnTo>
                  <a:pt x="395" y="535"/>
                </a:lnTo>
                <a:lnTo>
                  <a:pt x="389" y="538"/>
                </a:lnTo>
                <a:lnTo>
                  <a:pt x="383" y="541"/>
                </a:lnTo>
                <a:lnTo>
                  <a:pt x="376" y="543"/>
                </a:lnTo>
                <a:lnTo>
                  <a:pt x="370" y="545"/>
                </a:lnTo>
                <a:lnTo>
                  <a:pt x="363" y="547"/>
                </a:lnTo>
                <a:lnTo>
                  <a:pt x="357" y="549"/>
                </a:lnTo>
                <a:lnTo>
                  <a:pt x="350" y="551"/>
                </a:lnTo>
                <a:lnTo>
                  <a:pt x="343" y="553"/>
                </a:lnTo>
                <a:lnTo>
                  <a:pt x="336" y="554"/>
                </a:lnTo>
                <a:lnTo>
                  <a:pt x="330" y="556"/>
                </a:lnTo>
                <a:lnTo>
                  <a:pt x="323" y="557"/>
                </a:lnTo>
                <a:lnTo>
                  <a:pt x="316" y="558"/>
                </a:lnTo>
                <a:lnTo>
                  <a:pt x="309" y="559"/>
                </a:lnTo>
                <a:lnTo>
                  <a:pt x="302" y="559"/>
                </a:lnTo>
                <a:lnTo>
                  <a:pt x="294" y="560"/>
                </a:lnTo>
                <a:lnTo>
                  <a:pt x="287" y="560"/>
                </a:lnTo>
                <a:lnTo>
                  <a:pt x="280" y="560"/>
                </a:lnTo>
                <a:lnTo>
                  <a:pt x="273" y="560"/>
                </a:lnTo>
                <a:lnTo>
                  <a:pt x="266" y="560"/>
                </a:lnTo>
                <a:lnTo>
                  <a:pt x="258" y="559"/>
                </a:lnTo>
                <a:lnTo>
                  <a:pt x="251" y="559"/>
                </a:lnTo>
                <a:lnTo>
                  <a:pt x="244" y="558"/>
                </a:lnTo>
                <a:lnTo>
                  <a:pt x="237" y="557"/>
                </a:lnTo>
                <a:lnTo>
                  <a:pt x="230" y="556"/>
                </a:lnTo>
                <a:lnTo>
                  <a:pt x="224" y="554"/>
                </a:lnTo>
                <a:lnTo>
                  <a:pt x="217" y="553"/>
                </a:lnTo>
                <a:lnTo>
                  <a:pt x="210" y="551"/>
                </a:lnTo>
                <a:lnTo>
                  <a:pt x="203" y="549"/>
                </a:lnTo>
                <a:lnTo>
                  <a:pt x="197" y="547"/>
                </a:lnTo>
                <a:lnTo>
                  <a:pt x="190" y="545"/>
                </a:lnTo>
                <a:lnTo>
                  <a:pt x="184" y="543"/>
                </a:lnTo>
                <a:lnTo>
                  <a:pt x="177" y="541"/>
                </a:lnTo>
                <a:lnTo>
                  <a:pt x="171" y="538"/>
                </a:lnTo>
                <a:lnTo>
                  <a:pt x="165" y="535"/>
                </a:lnTo>
                <a:lnTo>
                  <a:pt x="159" y="532"/>
                </a:lnTo>
                <a:lnTo>
                  <a:pt x="153" y="529"/>
                </a:lnTo>
                <a:lnTo>
                  <a:pt x="147" y="526"/>
                </a:lnTo>
                <a:lnTo>
                  <a:pt x="141" y="523"/>
                </a:lnTo>
                <a:lnTo>
                  <a:pt x="135" y="519"/>
                </a:lnTo>
                <a:lnTo>
                  <a:pt x="129" y="516"/>
                </a:lnTo>
                <a:lnTo>
                  <a:pt x="123" y="512"/>
                </a:lnTo>
                <a:lnTo>
                  <a:pt x="118" y="508"/>
                </a:lnTo>
                <a:lnTo>
                  <a:pt x="113" y="504"/>
                </a:lnTo>
                <a:lnTo>
                  <a:pt x="107" y="500"/>
                </a:lnTo>
                <a:lnTo>
                  <a:pt x="102" y="496"/>
                </a:lnTo>
                <a:lnTo>
                  <a:pt x="97" y="492"/>
                </a:lnTo>
                <a:lnTo>
                  <a:pt x="92" y="487"/>
                </a:lnTo>
                <a:lnTo>
                  <a:pt x="87" y="483"/>
                </a:lnTo>
                <a:lnTo>
                  <a:pt x="82" y="478"/>
                </a:lnTo>
                <a:lnTo>
                  <a:pt x="77" y="473"/>
                </a:lnTo>
                <a:lnTo>
                  <a:pt x="73" y="468"/>
                </a:lnTo>
                <a:lnTo>
                  <a:pt x="68" y="463"/>
                </a:lnTo>
                <a:lnTo>
                  <a:pt x="64" y="458"/>
                </a:lnTo>
                <a:lnTo>
                  <a:pt x="60" y="453"/>
                </a:lnTo>
                <a:lnTo>
                  <a:pt x="56" y="447"/>
                </a:lnTo>
                <a:lnTo>
                  <a:pt x="52" y="442"/>
                </a:lnTo>
                <a:lnTo>
                  <a:pt x="48" y="437"/>
                </a:lnTo>
                <a:lnTo>
                  <a:pt x="44" y="431"/>
                </a:lnTo>
                <a:lnTo>
                  <a:pt x="41" y="425"/>
                </a:lnTo>
                <a:lnTo>
                  <a:pt x="37" y="419"/>
                </a:lnTo>
                <a:lnTo>
                  <a:pt x="34" y="413"/>
                </a:lnTo>
                <a:lnTo>
                  <a:pt x="31" y="407"/>
                </a:lnTo>
                <a:lnTo>
                  <a:pt x="28" y="401"/>
                </a:lnTo>
                <a:lnTo>
                  <a:pt x="25" y="395"/>
                </a:lnTo>
                <a:lnTo>
                  <a:pt x="22" y="389"/>
                </a:lnTo>
                <a:lnTo>
                  <a:pt x="19" y="383"/>
                </a:lnTo>
                <a:lnTo>
                  <a:pt x="17" y="376"/>
                </a:lnTo>
                <a:lnTo>
                  <a:pt x="15" y="370"/>
                </a:lnTo>
                <a:lnTo>
                  <a:pt x="13" y="363"/>
                </a:lnTo>
                <a:lnTo>
                  <a:pt x="11" y="357"/>
                </a:lnTo>
                <a:lnTo>
                  <a:pt x="9" y="350"/>
                </a:lnTo>
                <a:lnTo>
                  <a:pt x="7" y="343"/>
                </a:lnTo>
                <a:lnTo>
                  <a:pt x="6" y="336"/>
                </a:lnTo>
                <a:lnTo>
                  <a:pt x="4" y="330"/>
                </a:lnTo>
                <a:lnTo>
                  <a:pt x="3" y="323"/>
                </a:lnTo>
                <a:lnTo>
                  <a:pt x="2" y="316"/>
                </a:lnTo>
                <a:lnTo>
                  <a:pt x="1" y="309"/>
                </a:lnTo>
                <a:lnTo>
                  <a:pt x="1" y="302"/>
                </a:lnTo>
                <a:lnTo>
                  <a:pt x="0" y="294"/>
                </a:lnTo>
                <a:lnTo>
                  <a:pt x="0" y="287"/>
                </a:lnTo>
                <a:lnTo>
                  <a:pt x="0" y="280"/>
                </a:lnTo>
                <a:lnTo>
                  <a:pt x="0" y="273"/>
                </a:lnTo>
                <a:lnTo>
                  <a:pt x="0" y="266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7" y="184"/>
                </a:lnTo>
                <a:lnTo>
                  <a:pt x="19" y="177"/>
                </a:lnTo>
                <a:lnTo>
                  <a:pt x="22" y="171"/>
                </a:lnTo>
                <a:lnTo>
                  <a:pt x="25" y="165"/>
                </a:lnTo>
                <a:lnTo>
                  <a:pt x="28" y="159"/>
                </a:lnTo>
                <a:lnTo>
                  <a:pt x="31" y="153"/>
                </a:lnTo>
                <a:lnTo>
                  <a:pt x="32" y="150"/>
                </a:lnTo>
                <a:lnTo>
                  <a:pt x="440" y="150"/>
                </a:lnTo>
                <a:close/>
              </a:path>
            </a:pathLst>
          </a:custGeom>
          <a:gradFill>
            <a:gsLst>
              <a:gs pos="0">
                <a:srgbClr val="16335B">
                  <a:alpha val="28000"/>
                </a:srgbClr>
              </a:gs>
              <a:gs pos="100000">
                <a:srgbClr val="2E6DB4">
                  <a:alpha val="2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1047750" y="4095750"/>
            <a:ext cx="4572000" cy="4572000"/>
          </a:xfrm>
          <a:custGeom>
            <a:pathLst>
              <a:path w="480" h="480">
                <a:moveTo>
                  <a:pt x="246" y="0"/>
                </a:moveTo>
                <a:lnTo>
                  <a:pt x="252" y="0"/>
                </a:lnTo>
                <a:lnTo>
                  <a:pt x="258" y="1"/>
                </a:lnTo>
                <a:lnTo>
                  <a:pt x="265" y="1"/>
                </a:lnTo>
                <a:lnTo>
                  <a:pt x="271" y="2"/>
                </a:lnTo>
                <a:lnTo>
                  <a:pt x="277" y="3"/>
                </a:lnTo>
                <a:lnTo>
                  <a:pt x="282" y="4"/>
                </a:lnTo>
                <a:lnTo>
                  <a:pt x="288" y="5"/>
                </a:lnTo>
                <a:lnTo>
                  <a:pt x="294" y="6"/>
                </a:lnTo>
                <a:lnTo>
                  <a:pt x="300" y="8"/>
                </a:lnTo>
                <a:lnTo>
                  <a:pt x="306" y="9"/>
                </a:lnTo>
                <a:lnTo>
                  <a:pt x="311" y="11"/>
                </a:lnTo>
                <a:lnTo>
                  <a:pt x="317" y="13"/>
                </a:lnTo>
                <a:lnTo>
                  <a:pt x="322" y="15"/>
                </a:lnTo>
                <a:lnTo>
                  <a:pt x="328" y="17"/>
                </a:lnTo>
                <a:lnTo>
                  <a:pt x="333" y="19"/>
                </a:lnTo>
                <a:lnTo>
                  <a:pt x="339" y="21"/>
                </a:lnTo>
                <a:lnTo>
                  <a:pt x="344" y="24"/>
                </a:lnTo>
                <a:lnTo>
                  <a:pt x="349" y="26"/>
                </a:lnTo>
                <a:lnTo>
                  <a:pt x="354" y="29"/>
                </a:lnTo>
                <a:lnTo>
                  <a:pt x="359" y="32"/>
                </a:lnTo>
                <a:lnTo>
                  <a:pt x="364" y="35"/>
                </a:lnTo>
                <a:lnTo>
                  <a:pt x="369" y="38"/>
                </a:lnTo>
                <a:lnTo>
                  <a:pt x="374" y="41"/>
                </a:lnTo>
                <a:lnTo>
                  <a:pt x="379" y="44"/>
                </a:lnTo>
                <a:lnTo>
                  <a:pt x="384" y="48"/>
                </a:lnTo>
                <a:lnTo>
                  <a:pt x="388" y="51"/>
                </a:lnTo>
                <a:lnTo>
                  <a:pt x="393" y="55"/>
                </a:lnTo>
                <a:lnTo>
                  <a:pt x="397" y="59"/>
                </a:lnTo>
                <a:lnTo>
                  <a:pt x="401" y="62"/>
                </a:lnTo>
                <a:lnTo>
                  <a:pt x="406" y="66"/>
                </a:lnTo>
                <a:lnTo>
                  <a:pt x="410" y="70"/>
                </a:lnTo>
                <a:lnTo>
                  <a:pt x="414" y="74"/>
                </a:lnTo>
                <a:lnTo>
                  <a:pt x="418" y="79"/>
                </a:lnTo>
                <a:lnTo>
                  <a:pt x="421" y="83"/>
                </a:lnTo>
                <a:lnTo>
                  <a:pt x="425" y="87"/>
                </a:lnTo>
                <a:lnTo>
                  <a:pt x="429" y="92"/>
                </a:lnTo>
                <a:lnTo>
                  <a:pt x="432" y="96"/>
                </a:lnTo>
                <a:lnTo>
                  <a:pt x="436" y="101"/>
                </a:lnTo>
                <a:lnTo>
                  <a:pt x="439" y="106"/>
                </a:lnTo>
                <a:lnTo>
                  <a:pt x="442" y="111"/>
                </a:lnTo>
                <a:lnTo>
                  <a:pt x="445" y="116"/>
                </a:lnTo>
                <a:lnTo>
                  <a:pt x="448" y="121"/>
                </a:lnTo>
                <a:lnTo>
                  <a:pt x="451" y="126"/>
                </a:lnTo>
                <a:lnTo>
                  <a:pt x="454" y="131"/>
                </a:lnTo>
                <a:lnTo>
                  <a:pt x="456" y="136"/>
                </a:lnTo>
                <a:lnTo>
                  <a:pt x="459" y="141"/>
                </a:lnTo>
                <a:lnTo>
                  <a:pt x="461" y="147"/>
                </a:lnTo>
                <a:lnTo>
                  <a:pt x="463" y="152"/>
                </a:lnTo>
                <a:lnTo>
                  <a:pt x="465" y="158"/>
                </a:lnTo>
                <a:lnTo>
                  <a:pt x="467" y="163"/>
                </a:lnTo>
                <a:lnTo>
                  <a:pt x="469" y="169"/>
                </a:lnTo>
                <a:lnTo>
                  <a:pt x="471" y="174"/>
                </a:lnTo>
                <a:lnTo>
                  <a:pt x="472" y="180"/>
                </a:lnTo>
                <a:lnTo>
                  <a:pt x="474" y="186"/>
                </a:lnTo>
                <a:lnTo>
                  <a:pt x="475" y="192"/>
                </a:lnTo>
                <a:lnTo>
                  <a:pt x="476" y="198"/>
                </a:lnTo>
                <a:lnTo>
                  <a:pt x="477" y="203"/>
                </a:lnTo>
                <a:lnTo>
                  <a:pt x="478" y="209"/>
                </a:lnTo>
                <a:lnTo>
                  <a:pt x="479" y="215"/>
                </a:lnTo>
                <a:lnTo>
                  <a:pt x="479" y="222"/>
                </a:lnTo>
                <a:lnTo>
                  <a:pt x="480" y="228"/>
                </a:lnTo>
                <a:lnTo>
                  <a:pt x="480" y="234"/>
                </a:lnTo>
                <a:lnTo>
                  <a:pt x="480" y="240"/>
                </a:lnTo>
                <a:lnTo>
                  <a:pt x="480" y="246"/>
                </a:lnTo>
                <a:lnTo>
                  <a:pt x="480" y="252"/>
                </a:lnTo>
                <a:lnTo>
                  <a:pt x="479" y="258"/>
                </a:lnTo>
                <a:lnTo>
                  <a:pt x="479" y="265"/>
                </a:lnTo>
                <a:lnTo>
                  <a:pt x="478" y="271"/>
                </a:lnTo>
                <a:lnTo>
                  <a:pt x="477" y="277"/>
                </a:lnTo>
                <a:lnTo>
                  <a:pt x="476" y="282"/>
                </a:lnTo>
                <a:lnTo>
                  <a:pt x="475" y="288"/>
                </a:lnTo>
                <a:lnTo>
                  <a:pt x="475" y="290"/>
                </a:lnTo>
                <a:lnTo>
                  <a:pt x="110" y="290"/>
                </a:lnTo>
                <a:lnTo>
                  <a:pt x="110" y="38"/>
                </a:lnTo>
                <a:lnTo>
                  <a:pt x="111" y="38"/>
                </a:lnTo>
                <a:lnTo>
                  <a:pt x="116" y="35"/>
                </a:lnTo>
                <a:lnTo>
                  <a:pt x="121" y="32"/>
                </a:lnTo>
                <a:lnTo>
                  <a:pt x="126" y="29"/>
                </a:lnTo>
                <a:lnTo>
                  <a:pt x="131" y="26"/>
                </a:lnTo>
                <a:lnTo>
                  <a:pt x="136" y="24"/>
                </a:lnTo>
                <a:lnTo>
                  <a:pt x="141" y="21"/>
                </a:lnTo>
                <a:lnTo>
                  <a:pt x="147" y="19"/>
                </a:lnTo>
                <a:lnTo>
                  <a:pt x="152" y="17"/>
                </a:lnTo>
                <a:lnTo>
                  <a:pt x="158" y="15"/>
                </a:lnTo>
                <a:lnTo>
                  <a:pt x="163" y="13"/>
                </a:lnTo>
                <a:lnTo>
                  <a:pt x="169" y="11"/>
                </a:lnTo>
                <a:lnTo>
                  <a:pt x="174" y="9"/>
                </a:lnTo>
                <a:lnTo>
                  <a:pt x="180" y="8"/>
                </a:lnTo>
                <a:lnTo>
                  <a:pt x="186" y="6"/>
                </a:lnTo>
                <a:lnTo>
                  <a:pt x="192" y="5"/>
                </a:lnTo>
                <a:lnTo>
                  <a:pt x="198" y="4"/>
                </a:lnTo>
                <a:lnTo>
                  <a:pt x="203" y="3"/>
                </a:lnTo>
                <a:lnTo>
                  <a:pt x="209" y="2"/>
                </a:lnTo>
                <a:lnTo>
                  <a:pt x="215" y="1"/>
                </a:lnTo>
                <a:lnTo>
                  <a:pt x="222" y="1"/>
                </a:lnTo>
                <a:lnTo>
                  <a:pt x="228" y="0"/>
                </a:lnTo>
                <a:lnTo>
                  <a:pt x="234" y="0"/>
                </a:lnTo>
                <a:lnTo>
                  <a:pt x="240" y="0"/>
                </a:lnTo>
                <a:close/>
              </a:path>
            </a:pathLst>
          </a:custGeom>
          <a:gradFill>
            <a:gsLst>
              <a:gs pos="0">
                <a:srgbClr val="16335B">
                  <a:alpha val="18000"/>
                </a:srgbClr>
              </a:gs>
              <a:gs pos="100000">
                <a:srgbClr val="2E6DB4">
                  <a:alpha val="1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152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9DB2CC"/>
                </a:solidFill>
                <a:latin typeface="PingFang SC"/>
                <a:ea typeface="PingFang SC"/>
              </a:rPr>
              <a:t>树米科技</a:t>
            </a:r>
            <a:r>
              <a:rPr lang="en-US" sz="1350" spc="150">
                <a:solidFill>
                  <a:srgbClr val="9DB2CC"/>
                </a:solidFill>
                <a:latin typeface="PingFang SC"/>
                <a:ea typeface="PingFang SC"/>
              </a:rPr>
              <a:t> · </a:t>
            </a:r>
            <a:r>
              <a:rPr lang="zh-CN" sz="1350" spc="150">
                <a:solidFill>
                  <a:srgbClr val="9DB2CC"/>
                </a:solidFill>
                <a:latin typeface="PingFang SC"/>
                <a:ea typeface="PingFang SC"/>
              </a:rPr>
              <a:t>呈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10325100" y="457200"/>
            <a:ext cx="1257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9DB2CC"/>
                </a:solidFill>
                <a:latin typeface="PingFang SC"/>
                <a:ea typeface="PingFang SC"/>
              </a:rPr>
              <a:t>AI </a:t>
            </a:r>
            <a:r>
              <a:rPr lang="zh-CN" sz="1350">
                <a:solidFill>
                  <a:srgbClr val="9DB2CC"/>
                </a:solidFill>
                <a:latin typeface="PingFang SC"/>
                <a:ea typeface="PingFang SC"/>
              </a:rPr>
              <a:t>操作系统汇报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09550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300">
                <a:solidFill>
                  <a:srgbClr val="5FA8E6"/>
                </a:solidFill>
                <a:latin typeface="PingFang SC"/>
                <a:ea typeface="PingFang SC"/>
              </a:rPr>
              <a:t>REGENT · </a:t>
            </a:r>
            <a:r>
              <a:rPr lang="zh-CN" sz="1500" b="1" spc="300">
                <a:solidFill>
                  <a:srgbClr val="5FA8E6"/>
                </a:solidFill>
                <a:latin typeface="PingFang SC"/>
                <a:ea typeface="PingFang SC"/>
              </a:rPr>
              <a:t>智能目标执行系统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476500"/>
            <a:ext cx="10972800" cy="173355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800" b="1">
                <a:solidFill>
                  <a:srgbClr val="FFFFFF"/>
                </a:solidFill>
                <a:latin typeface="PingFang SC"/>
                <a:ea typeface="PingFang SC"/>
              </a:rPr>
              <a:t>让</a:t>
            </a:r>
            <a:r>
              <a:rPr lang="en-US" sz="4800" b="1">
                <a:solidFill>
                  <a:srgbClr val="FFFFFF"/>
                </a:solidFill>
                <a:latin typeface="PingFang SC"/>
                <a:ea typeface="PingFang SC"/>
              </a:rPr>
              <a:t> AI </a:t>
            </a:r>
            <a:r>
              <a:rPr lang="zh-CN" sz="4800" b="1">
                <a:solidFill>
                  <a:srgbClr val="FFFFFF"/>
                </a:solidFill>
                <a:latin typeface="PingFang SC"/>
                <a:ea typeface="PingFang SC"/>
              </a:rPr>
              <a:t>真正干事，</a:t>
            </a:r>
            <a:endParaRPr/>
          </a:p>
          <a:p>
            <a:pPr>
              <a:lnSpc>
                <a:spcPct val="118000"/>
              </a:lnSpc>
            </a:pPr>
            <a:r>
              <a:rPr lang="zh-CN" sz="4800" b="1">
                <a:solidFill>
                  <a:srgbClr val="F4B400"/>
                </a:solidFill>
                <a:latin typeface="PingFang SC"/>
                <a:ea typeface="PingFang SC"/>
              </a:rPr>
              <a:t>且始终在掌控之中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4476750"/>
            <a:ext cx="123825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6DB4"/>
              </a:gs>
              <a:gs pos="100000">
                <a:srgbClr val="D726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4800600"/>
            <a:ext cx="10972800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800">
                <a:solidFill>
                  <a:srgbClr val="CBD5E1"/>
                </a:solidFill>
                <a:latin typeface="PingFang SC"/>
                <a:ea typeface="PingFang SC"/>
              </a:rPr>
              <a:t>自主可控</a:t>
            </a:r>
            <a:r>
              <a:rPr lang="en-US" sz="1800">
                <a:solidFill>
                  <a:srgbClr val="CBD5E1"/>
                </a:solidFill>
                <a:latin typeface="PingFang SC"/>
                <a:ea typeface="PingFang SC"/>
              </a:rPr>
              <a:t> · </a:t>
            </a:r>
            <a:r>
              <a:rPr lang="zh-CN" sz="1800">
                <a:solidFill>
                  <a:srgbClr val="CBD5E1"/>
                </a:solidFill>
                <a:latin typeface="PingFang SC"/>
                <a:ea typeface="PingFang SC"/>
              </a:rPr>
              <a:t>安全合规</a:t>
            </a:r>
            <a:r>
              <a:rPr lang="en-US" sz="1800">
                <a:solidFill>
                  <a:srgbClr val="CBD5E1"/>
                </a:solidFill>
                <a:latin typeface="PingFang SC"/>
                <a:ea typeface="PingFang SC"/>
              </a:rPr>
              <a:t> · </a:t>
            </a:r>
            <a:r>
              <a:rPr lang="zh-CN" sz="1800">
                <a:solidFill>
                  <a:srgbClr val="CBD5E1"/>
                </a:solidFill>
                <a:latin typeface="PingFang SC"/>
                <a:ea typeface="PingFang SC"/>
              </a:rPr>
              <a:t>可持续运营的</a:t>
            </a:r>
            <a:r>
              <a:rPr lang="en-US" sz="1800">
                <a:solidFill>
                  <a:srgbClr val="CBD5E1"/>
                </a:solidFill>
                <a:latin typeface="PingFang SC"/>
                <a:ea typeface="PingFang SC"/>
              </a:rPr>
              <a:t> AI </a:t>
            </a:r>
            <a:r>
              <a:rPr lang="zh-CN" sz="1800">
                <a:solidFill>
                  <a:srgbClr val="CBD5E1"/>
                </a:solidFill>
                <a:latin typeface="PingFang SC"/>
                <a:ea typeface="PingFang SC"/>
              </a:rPr>
              <a:t>操作系统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01 / 20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05" name="" descr="&lt;Slide style={{ width: '1280px', height: '720px', background: '#FFFFFF', fontFamily: &quot;'PingFang SC','Microsoft YaHei','Helvetica Neue',sans-serif&quot;, overflow: 'hidden' }}&gt;&#10;  &lt;Box style={{ height: 120, padding: '30px 64px 0 64px', flexDirection: 'row', justifyContent: 'space-between', alignItems: 'flex-start' }}&gt;&#10;    &lt;Box&gt;&#10;      &lt;Text style={{ fontSize: 16, color: '#64748B', letterSpacing: 1 }}&gt;AGENDA&lt;/Text&gt;&#10;      &lt;Text style={{ fontSize: 34, fontWeight: 'bold', color: '#16335B', marginTop: 6 }}&gt;汇报目录&lt;/Text&gt;&#10;    &lt;/Box&gt;&#10;    &lt;Text style={{ fontSize: 16, color: '#2E6DB4', fontWeight: 'bold', paddingTop: 10 }}&gt;02&lt;/Text&gt;&#10;  &lt;/Box&gt;&#10;&#10;  &lt;Box style={{ padding: '20px 64px 0 64px', flexDirection: 'row', gap: 40 }}&gt;&#10;    &lt;Box style={{ flex: 1, gap: 16 }}&gt;&#10;      {[&#10;        ['01', '项目目标', '我们想做成什么'],&#10;        ['02', '系统定义', 'Regent 到底是什么'],&#10;        ['03', '核心能力突破', '自进化 · Hive 多智能体'],&#10;      ].map(([n, t, d]) =&gt; (&#10;        &lt;Box key={n} style={{ flexDirection: 'row', alignItems: 'center', gap: 18, background: '#F5F8FC', borderRadius: 14, padding: '18px 22px', borderLeft: '5px solid #2E6DB4' }}&gt;&#10;          &lt;Text style={{ fontSize: 30, fontWeight: 'bold', color: '#16335B', width: 54 }}&gt;{n}&lt;/Text&gt;&#10;          &lt;Box&gt;&#10;            &lt;Text style={{ fontSize: 22, fontWeight: 'bold', color: '#1F2A37' }}&gt;{t}&lt;/Text&gt;&#10;            &lt;Text style={{ fontSize: 16, color: '#64748B', marginTop: 2 }}&gt;{d}&lt;/Text&gt;&#10;          &lt;/Box&gt;&#10;        &lt;/Box&gt;&#10;      ))}&#10;    &lt;/Box&gt;&#10;    &lt;Box style={{ flex: 1, gap: 16 }}&gt;&#10;      {[&#10;        ['04', '安全与治理', '领导最关心的可控可信'],&#10;        ['05', '落地场景', '树米可承接的持久运营项目'],&#10;        ['06', '合作邀约', '请领导把项目交给树米'],&#10;      ].map(([n, t, d]) =&gt; (&#10;        &lt;Box key={n} style={{ flexDirection: 'row', alignItems: 'center', gap: 18, background: '#F5F8FC', borderRadius: 14, padding: '18px 22px', borderLeft: '5px solid #D7263D' }}&gt;&#10;          &lt;Text style={{ fontSize: 30, fontWeight: 'bold', color: '#16335B', width: 54 }}&gt;{n}&lt;/Text&gt;&#10;          &lt;Box&gt;&#10;            &lt;Text style={{ fontSize: 22, fontWeight: 'bold', color: '#1F2A37' }}&gt;{t}&lt;/Text&gt;&#10;            &lt;Text style={{ fontSize: 16, color: '#64748B', marginTop: 2 }}&gt;{d}&lt;/Text&gt;&#10;          &lt;/Box&gt;&#10;        &lt;/Box&gt;&#10;      ))}&#10;    &lt;/Box&gt;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02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09600" y="2857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AGENDA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09600" y="53340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汇报目录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391900" y="28575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57225" y="1333500"/>
            <a:ext cx="5295900" cy="809625"/>
          </a:xfrm>
          <a:prstGeom prst="roundRect">
            <a:avLst>
              <a:gd name="adj" fmla="val 16471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657225" y="1333500"/>
            <a:ext cx="5295900" cy="809625"/>
          </a:xfrm>
          <a:custGeom>
            <a:pathLst>
              <a:path w="556" h="85">
                <a:moveTo>
                  <a:pt x="13" y="0"/>
                </a:moveTo>
                <a:cubicBezTo>
                  <a:pt x="9" y="0"/>
                  <a:pt x="5" y="4"/>
                  <a:pt x="5" y="9"/>
                </a:cubicBezTo>
                <a:lnTo>
                  <a:pt x="5" y="76"/>
                </a:lnTo>
                <a:cubicBezTo>
                  <a:pt x="5" y="80"/>
                  <a:pt x="8" y="84"/>
                  <a:pt x="12" y="85"/>
                </a:cubicBezTo>
                <a:cubicBezTo>
                  <a:pt x="5" y="84"/>
                  <a:pt x="0" y="78"/>
                  <a:pt x="0" y="71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E6DB4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66775" y="157162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335B"/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552575" y="1504950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A37"/>
                </a:solidFill>
                <a:latin typeface="PingFang SC"/>
                <a:ea typeface="PingFang SC"/>
              </a:rPr>
              <a:t>项目目标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552575" y="17811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我们想做成什么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57225" y="2295525"/>
            <a:ext cx="5295900" cy="809625"/>
          </a:xfrm>
          <a:prstGeom prst="roundRect">
            <a:avLst>
              <a:gd name="adj" fmla="val 16471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657225" y="2295525"/>
            <a:ext cx="5295900" cy="809625"/>
          </a:xfrm>
          <a:custGeom>
            <a:pathLst>
              <a:path w="556" h="85">
                <a:moveTo>
                  <a:pt x="13" y="0"/>
                </a:moveTo>
                <a:cubicBezTo>
                  <a:pt x="9" y="0"/>
                  <a:pt x="5" y="4"/>
                  <a:pt x="5" y="9"/>
                </a:cubicBezTo>
                <a:lnTo>
                  <a:pt x="5" y="76"/>
                </a:lnTo>
                <a:cubicBezTo>
                  <a:pt x="5" y="80"/>
                  <a:pt x="8" y="84"/>
                  <a:pt x="12" y="85"/>
                </a:cubicBezTo>
                <a:cubicBezTo>
                  <a:pt x="5" y="84"/>
                  <a:pt x="0" y="78"/>
                  <a:pt x="0" y="71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E6DB4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66775" y="253365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335B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552575" y="2466975"/>
            <a:ext cx="1323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A37"/>
                </a:solidFill>
                <a:latin typeface="PingFang SC"/>
                <a:ea typeface="PingFang SC"/>
              </a:rPr>
              <a:t>系统定义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552575" y="2743200"/>
            <a:ext cx="13239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到底是什么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57225" y="3257550"/>
            <a:ext cx="5295900" cy="809625"/>
          </a:xfrm>
          <a:prstGeom prst="roundRect">
            <a:avLst>
              <a:gd name="adj" fmla="val 16471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657225" y="3257550"/>
            <a:ext cx="5295900" cy="809625"/>
          </a:xfrm>
          <a:custGeom>
            <a:pathLst>
              <a:path w="556" h="85">
                <a:moveTo>
                  <a:pt x="13" y="0"/>
                </a:moveTo>
                <a:cubicBezTo>
                  <a:pt x="9" y="0"/>
                  <a:pt x="5" y="4"/>
                  <a:pt x="5" y="9"/>
                </a:cubicBezTo>
                <a:lnTo>
                  <a:pt x="5" y="76"/>
                </a:lnTo>
                <a:cubicBezTo>
                  <a:pt x="5" y="80"/>
                  <a:pt x="8" y="84"/>
                  <a:pt x="12" y="85"/>
                </a:cubicBezTo>
                <a:cubicBezTo>
                  <a:pt x="5" y="84"/>
                  <a:pt x="0" y="78"/>
                  <a:pt x="0" y="71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E6DB4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66775" y="349567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335B"/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552575" y="3429000"/>
            <a:ext cx="1571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A37"/>
                </a:solidFill>
                <a:latin typeface="PingFang SC"/>
                <a:ea typeface="PingFang SC"/>
              </a:rPr>
              <a:t>核心能力突破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552575" y="3705225"/>
            <a:ext cx="1571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自进化</a:t>
            </a:r>
            <a:r>
              <a:rPr lang="en-US" sz="1200">
                <a:solidFill>
                  <a:srgbClr val="64748B"/>
                </a:solidFill>
                <a:latin typeface="PingFang SC"/>
                <a:ea typeface="PingFang SC"/>
              </a:rPr>
              <a:t> · Hive </a:t>
            </a: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多智能体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334125" y="1333500"/>
            <a:ext cx="5295900" cy="809625"/>
          </a:xfrm>
          <a:prstGeom prst="roundRect">
            <a:avLst>
              <a:gd name="adj" fmla="val 16471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6334125" y="1333500"/>
            <a:ext cx="5295900" cy="809625"/>
          </a:xfrm>
          <a:custGeom>
            <a:pathLst>
              <a:path w="556" h="85">
                <a:moveTo>
                  <a:pt x="13" y="0"/>
                </a:moveTo>
                <a:cubicBezTo>
                  <a:pt x="9" y="0"/>
                  <a:pt x="5" y="4"/>
                  <a:pt x="5" y="9"/>
                </a:cubicBezTo>
                <a:lnTo>
                  <a:pt x="5" y="76"/>
                </a:lnTo>
                <a:cubicBezTo>
                  <a:pt x="5" y="80"/>
                  <a:pt x="8" y="84"/>
                  <a:pt x="12" y="85"/>
                </a:cubicBezTo>
                <a:cubicBezTo>
                  <a:pt x="5" y="84"/>
                  <a:pt x="0" y="78"/>
                  <a:pt x="0" y="71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D7263D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543675" y="157162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335B"/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7229475" y="1504950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A37"/>
                </a:solidFill>
                <a:latin typeface="PingFang SC"/>
                <a:ea typeface="PingFang SC"/>
              </a:rPr>
              <a:t>安全与治理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7229475" y="1781175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领导最关心的可控可信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334125" y="2295525"/>
            <a:ext cx="5295900" cy="809625"/>
          </a:xfrm>
          <a:prstGeom prst="roundRect">
            <a:avLst>
              <a:gd name="adj" fmla="val 16471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31" name=""/>
          <p:cNvSpPr/>
          <p:nvPr/>
        </p:nvSpPr>
        <p:spPr>
          <a:xfrm rot="0" flipH="0" flipV="0">
            <a:off x="6334125" y="2295525"/>
            <a:ext cx="5295900" cy="809625"/>
          </a:xfrm>
          <a:custGeom>
            <a:pathLst>
              <a:path w="556" h="85">
                <a:moveTo>
                  <a:pt x="13" y="0"/>
                </a:moveTo>
                <a:cubicBezTo>
                  <a:pt x="9" y="0"/>
                  <a:pt x="5" y="4"/>
                  <a:pt x="5" y="9"/>
                </a:cubicBezTo>
                <a:lnTo>
                  <a:pt x="5" y="76"/>
                </a:lnTo>
                <a:cubicBezTo>
                  <a:pt x="5" y="80"/>
                  <a:pt x="8" y="84"/>
                  <a:pt x="12" y="85"/>
                </a:cubicBezTo>
                <a:cubicBezTo>
                  <a:pt x="5" y="84"/>
                  <a:pt x="0" y="78"/>
                  <a:pt x="0" y="71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D7263D"/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6543675" y="253365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335B"/>
                </a:solidFill>
                <a:latin typeface="PingFang SC"/>
                <a:ea typeface="PingFang SC"/>
              </a:rPr>
              <a:t>05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7229475" y="246697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A37"/>
                </a:solidFill>
                <a:latin typeface="PingFang SC"/>
                <a:ea typeface="PingFang SC"/>
              </a:rPr>
              <a:t>落地场景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7229475" y="2743200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树米可承接的持久运营项目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6334125" y="3257550"/>
            <a:ext cx="5295900" cy="809625"/>
          </a:xfrm>
          <a:prstGeom prst="roundRect">
            <a:avLst>
              <a:gd name="adj" fmla="val 16471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6334125" y="3257550"/>
            <a:ext cx="5295900" cy="809625"/>
          </a:xfrm>
          <a:custGeom>
            <a:pathLst>
              <a:path w="556" h="85">
                <a:moveTo>
                  <a:pt x="13" y="0"/>
                </a:moveTo>
                <a:cubicBezTo>
                  <a:pt x="9" y="0"/>
                  <a:pt x="5" y="4"/>
                  <a:pt x="5" y="9"/>
                </a:cubicBezTo>
                <a:lnTo>
                  <a:pt x="5" y="76"/>
                </a:lnTo>
                <a:cubicBezTo>
                  <a:pt x="5" y="80"/>
                  <a:pt x="8" y="84"/>
                  <a:pt x="12" y="85"/>
                </a:cubicBezTo>
                <a:cubicBezTo>
                  <a:pt x="5" y="84"/>
                  <a:pt x="0" y="78"/>
                  <a:pt x="0" y="71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D7263D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543675" y="349567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335B"/>
                </a:solidFill>
                <a:latin typeface="PingFang SC"/>
                <a:ea typeface="PingFang SC"/>
              </a:rPr>
              <a:t>06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229475" y="3429000"/>
            <a:ext cx="1524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2A37"/>
                </a:solidFill>
                <a:latin typeface="PingFang SC"/>
                <a:ea typeface="PingFang SC"/>
              </a:rPr>
              <a:t>合作邀约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7229475" y="3705225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PingFang SC"/>
                <a:ea typeface="PingFang SC"/>
              </a:rPr>
              <a:t>请领导把项目交给树米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02 / 20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55" name="" descr="&lt;Slide style={{ width: '1280px', height: '720px', background: '#0E1B2E', fontFamily: &quot;'PingFang SC','Microsoft YaHei','Helvetica Neue',sans-serif&quot;, overflow: 'hidden' }}&gt;&#10;  &lt;Box style={{ position: 'absolute', top: -120, left: -100, width: 520, height: 520, borderRadius: 260, background: 'linear-gradient(135deg,#16335B 0%,#2E6DB4 100%)', opacity: 0.22 }} /&gt;&#10;  &lt;Box style={{ position: 'absolute', top: 0, bottom: 0, left: 64, justifyContent: 'center' }}&gt;&#10;    &lt;Text style={{ fontSize: 120, fontWeight: 'bold', color: '#1E3A5F' }}&gt;01&lt;/Text&gt;&#10;  &lt;/Box&gt;&#10;  &lt;Box style={{ position: 'absolute', top: 0, bottom: 0, left: 280, justifyContent: 'center' }}&gt;&#10;    &lt;Text style={{ fontSize: 22, color: '#5FA8E6', fontWeight: 'bold', letterSpacing: 4 }}&gt;CHAPTER ONE&lt;/Text&gt;&#10;    &lt;Text style={{ fontSize: 56, fontWeight: 'bold', color: '#FFFFFF', marginTop: 14 }}&gt;我们想做成什么&lt;/Text&gt;&#10;    &lt;Box style={{ width: 120, height: 6, background: 'linear-gradient(90deg,#2E6DB4,#D7263D)', marginTop: 24, borderRadius: 3 }} /&gt;&#10;    &lt;Text style={{ fontSize: 22, color: '#CBD5E1', marginTop: 22 }}&gt;项目目标 · 为什么需要 Regent&lt;/Text&gt;&#10;  &lt;/Box&gt;&#10;  &lt;Box style={{ position: 'absolute', bottom: 36, left: 64, right: 64, flexDirection: 'row', justifyContent: 'space-between', alignItems: 'center' }}&gt;&#10;    &lt;Text style={{ fontSize: 14, color: '#64748B' }}&gt;Regent 系统介绍 · 树米科技&lt;/Text&gt;&#10;    &lt;Text style={{ fontSize: 14, color: '#64748B' }}&gt;03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-952500" y="-1143000"/>
            <a:ext cx="4953000" cy="4953000"/>
          </a:xfrm>
          <a:custGeom>
            <a:pathLst>
              <a:path w="520" h="520">
                <a:moveTo>
                  <a:pt x="482" y="125"/>
                </a:moveTo>
                <a:lnTo>
                  <a:pt x="486" y="131"/>
                </a:lnTo>
                <a:lnTo>
                  <a:pt x="489" y="136"/>
                </a:lnTo>
                <a:lnTo>
                  <a:pt x="492" y="142"/>
                </a:lnTo>
                <a:lnTo>
                  <a:pt x="494" y="147"/>
                </a:lnTo>
                <a:lnTo>
                  <a:pt x="497" y="153"/>
                </a:lnTo>
                <a:lnTo>
                  <a:pt x="500" y="159"/>
                </a:lnTo>
                <a:lnTo>
                  <a:pt x="502" y="165"/>
                </a:lnTo>
                <a:lnTo>
                  <a:pt x="504" y="171"/>
                </a:lnTo>
                <a:lnTo>
                  <a:pt x="506" y="177"/>
                </a:lnTo>
                <a:lnTo>
                  <a:pt x="508" y="183"/>
                </a:lnTo>
                <a:lnTo>
                  <a:pt x="510" y="189"/>
                </a:lnTo>
                <a:lnTo>
                  <a:pt x="512" y="195"/>
                </a:lnTo>
                <a:lnTo>
                  <a:pt x="513" y="201"/>
                </a:lnTo>
                <a:lnTo>
                  <a:pt x="515" y="208"/>
                </a:lnTo>
                <a:lnTo>
                  <a:pt x="516" y="214"/>
                </a:lnTo>
                <a:lnTo>
                  <a:pt x="517" y="220"/>
                </a:lnTo>
                <a:lnTo>
                  <a:pt x="518" y="227"/>
                </a:lnTo>
                <a:lnTo>
                  <a:pt x="519" y="233"/>
                </a:lnTo>
                <a:lnTo>
                  <a:pt x="519" y="240"/>
                </a:lnTo>
                <a:lnTo>
                  <a:pt x="520" y="247"/>
                </a:lnTo>
                <a:lnTo>
                  <a:pt x="520" y="253"/>
                </a:lnTo>
                <a:lnTo>
                  <a:pt x="520" y="260"/>
                </a:lnTo>
                <a:lnTo>
                  <a:pt x="520" y="267"/>
                </a:lnTo>
                <a:lnTo>
                  <a:pt x="520" y="273"/>
                </a:lnTo>
                <a:lnTo>
                  <a:pt x="519" y="280"/>
                </a:lnTo>
                <a:lnTo>
                  <a:pt x="519" y="287"/>
                </a:lnTo>
                <a:lnTo>
                  <a:pt x="518" y="293"/>
                </a:lnTo>
                <a:lnTo>
                  <a:pt x="517" y="300"/>
                </a:lnTo>
                <a:lnTo>
                  <a:pt x="516" y="306"/>
                </a:lnTo>
                <a:lnTo>
                  <a:pt x="515" y="312"/>
                </a:lnTo>
                <a:lnTo>
                  <a:pt x="513" y="319"/>
                </a:lnTo>
                <a:lnTo>
                  <a:pt x="512" y="325"/>
                </a:lnTo>
                <a:lnTo>
                  <a:pt x="510" y="331"/>
                </a:lnTo>
                <a:lnTo>
                  <a:pt x="508" y="337"/>
                </a:lnTo>
                <a:lnTo>
                  <a:pt x="506" y="343"/>
                </a:lnTo>
                <a:lnTo>
                  <a:pt x="504" y="349"/>
                </a:lnTo>
                <a:lnTo>
                  <a:pt x="502" y="355"/>
                </a:lnTo>
                <a:lnTo>
                  <a:pt x="500" y="361"/>
                </a:lnTo>
                <a:lnTo>
                  <a:pt x="497" y="367"/>
                </a:lnTo>
                <a:lnTo>
                  <a:pt x="494" y="373"/>
                </a:lnTo>
                <a:lnTo>
                  <a:pt x="492" y="378"/>
                </a:lnTo>
                <a:lnTo>
                  <a:pt x="489" y="384"/>
                </a:lnTo>
                <a:lnTo>
                  <a:pt x="486" y="389"/>
                </a:lnTo>
                <a:lnTo>
                  <a:pt x="482" y="395"/>
                </a:lnTo>
                <a:lnTo>
                  <a:pt x="479" y="400"/>
                </a:lnTo>
                <a:lnTo>
                  <a:pt x="476" y="405"/>
                </a:lnTo>
                <a:lnTo>
                  <a:pt x="472" y="410"/>
                </a:lnTo>
                <a:lnTo>
                  <a:pt x="468" y="416"/>
                </a:lnTo>
                <a:lnTo>
                  <a:pt x="465" y="420"/>
                </a:lnTo>
                <a:lnTo>
                  <a:pt x="461" y="425"/>
                </a:lnTo>
                <a:lnTo>
                  <a:pt x="457" y="430"/>
                </a:lnTo>
                <a:lnTo>
                  <a:pt x="452" y="435"/>
                </a:lnTo>
                <a:lnTo>
                  <a:pt x="448" y="439"/>
                </a:lnTo>
                <a:lnTo>
                  <a:pt x="444" y="444"/>
                </a:lnTo>
                <a:lnTo>
                  <a:pt x="439" y="448"/>
                </a:lnTo>
                <a:lnTo>
                  <a:pt x="435" y="452"/>
                </a:lnTo>
                <a:lnTo>
                  <a:pt x="430" y="457"/>
                </a:lnTo>
                <a:lnTo>
                  <a:pt x="425" y="461"/>
                </a:lnTo>
                <a:lnTo>
                  <a:pt x="420" y="465"/>
                </a:lnTo>
                <a:lnTo>
                  <a:pt x="416" y="468"/>
                </a:lnTo>
                <a:lnTo>
                  <a:pt x="410" y="472"/>
                </a:lnTo>
                <a:lnTo>
                  <a:pt x="405" y="476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100" y="120"/>
                </a:lnTo>
                <a:lnTo>
                  <a:pt x="479" y="120"/>
                </a:lnTo>
                <a:close/>
              </a:path>
            </a:pathLst>
          </a:custGeom>
          <a:gradFill>
            <a:gsLst>
              <a:gs pos="0">
                <a:srgbClr val="16335B">
                  <a:alpha val="22000"/>
                </a:srgbClr>
              </a:gs>
              <a:gs pos="100000">
                <a:srgbClr val="2E6DB4">
                  <a:alpha val="2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09600" y="2743200"/>
            <a:ext cx="14192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E3A5F"/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2667000" y="2533650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5FA8E6"/>
                </a:solidFill>
                <a:latin typeface="PingFang SC"/>
                <a:ea typeface="PingFang SC"/>
              </a:rPr>
              <a:t>CHAPTER ONE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2667000" y="2924175"/>
            <a:ext cx="3733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PingFang SC"/>
                <a:ea typeface="PingFang SC"/>
              </a:rPr>
              <a:t>我们想做成什么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2667000" y="3800475"/>
            <a:ext cx="1143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6DB4"/>
              </a:gs>
              <a:gs pos="100000">
                <a:srgbClr val="D726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2667000" y="4067175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项目目标</a:t>
            </a:r>
            <a:r>
              <a:rPr lang="en-US" sz="1650">
                <a:solidFill>
                  <a:srgbClr val="CBD5E1"/>
                </a:solidFill>
                <a:latin typeface="PingFang SC"/>
                <a:ea typeface="PingFang SC"/>
              </a:rPr>
              <a:t> · </a:t>
            </a: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为什么需要</a:t>
            </a:r>
            <a:r>
              <a:rPr lang="en-US" sz="1650">
                <a:solidFill>
                  <a:srgbClr val="CBD5E1"/>
                </a:solidFill>
                <a:latin typeface="PingFang SC"/>
                <a:ea typeface="PingFang SC"/>
              </a:rPr>
              <a:t> Regent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03 / 20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65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一章 · 项目目标&lt;/Text&gt;&#10;      &lt;Text style={{ fontSize: 34, fontWeight: 'bold', color: '#16335B', marginTop: 6 }}&gt;为什么需要 Regent&lt;/Text&gt;&#10;    &lt;/Box&gt;&#10;    &lt;Text style={{ fontSize: 16, color: '#2E6DB4', fontWeight: 'bold', paddingTop: 10 }}&gt;04&lt;/Text&gt;&#10;  &lt;/Box&gt;&#10;&#10;  &lt;Text style={{ padding: '6px 64px 0 64px', fontSize: 19, color: '#1F2A37' }}&gt;AI 要真正服务发展，落地仍是最大难题。当前普遍面临四道坎：&lt;/Text&gt;&#10;&#10;  &lt;Box style={{ padding: '16px 64px 0 64px', flexDirection: 'row', gap: 18 }}&gt;&#10;    {[&#10;      ['⏳', '从想法到可用，太慢太贵', '“做个应用”仍靠堆人、堆时间，周期长、门槛高，基层与中小企业用不起。'],&#10;      ['❓', '会聊不会干，难验证', '多数 AI 只停留在对话，生成的东西不可信、不可审计，关键场景不敢用。'],&#10;      ['🔓', '怕失控、怕担责', '安全边界不清、责任难追溯、数据易泄露——政务与关键领域最忌“黑箱”。'],&#10;      ['🔁', '重复造轮子', '各部门、各企业各自摸索，能力无法沉淀复用，资源大量浪费。'],&#10;    ].map(([ic, t, d], i) =&gt; (&#10;      &lt;Box key={i} style={{ flex: 1, background: '#F5F8FC', border: '1px solid #E2E8F0', borderRadius: 14, padding: '22px 20px' }}&gt;&#10;        &lt;Text style={{ fontSize: 34 }}&gt;{ic}&lt;/Text&gt;&#10;        &lt;Text style={{ fontSize: 20, fontWeight: 'bold', color: '#16335B', marginTop: 12 }}&gt;{t}&lt;/Text&gt;&#10;        &lt;Text style={{ fontSize: 15.5, color: '#64748B', marginTop: 10, lineHeight: 1.65 }}&gt;{d}&lt;/Text&gt;&#10;      &lt;/Box&gt;&#10;    ))}&#10;  &lt;/Box&gt;&#10;&#10;  &lt;Box style={{ margin: '20px 64px 0 64px', background: '#16335B', borderRadius: 14, padding: '18px 26px', flexDirection: 'row', gap: 16, alignItems: 'center' }}&gt;&#10;    &lt;Text style={{ fontSize: 16, color: '#9DB2CC', fontWeight: 'bold' }}&gt;核心问题&lt;/Text&gt;&#10;    &lt;Text style={{ fontSize: 18, color: '#FFFFFF', lineHeight: 1.5 }}&gt;缺一套&lt;span style={{ color: '#F4B400', fontWeight: 'bold' }}&gt;「让 AI 真正干事、且始终在掌控之中」&lt;/span&gt;的系统。这正是 Regent 要解决的。&lt;/Text&gt;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04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2876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第一章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项目目标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2876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为什么需要</a:t>
            </a:r>
            <a:r>
              <a:rPr lang="en-US" sz="2550" b="1">
                <a:solidFill>
                  <a:srgbClr val="16335B"/>
                </a:solidFill>
                <a:latin typeface="PingFang SC"/>
                <a:ea typeface="PingFang SC"/>
              </a:rPr>
              <a:t> Regent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0" y="1143000"/>
            <a:ext cx="12192000" cy="276225"/>
          </a:xfrm>
          <a:prstGeom prst="rect"/>
        </p:spPr>
        <p:txBody>
          <a:bodyPr wrap="none" lIns="457200" tIns="42863" rIns="45720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1F2A37"/>
                </a:solidFill>
                <a:latin typeface="PingFang SC"/>
                <a:ea typeface="PingFang SC"/>
              </a:rPr>
              <a:t>AI </a:t>
            </a:r>
            <a:r>
              <a:rPr lang="zh-CN" sz="1425">
                <a:solidFill>
                  <a:srgbClr val="1F2A37"/>
                </a:solidFill>
                <a:latin typeface="PingFang SC"/>
                <a:ea typeface="PingFang SC"/>
              </a:rPr>
              <a:t>要真正服务发展，落地仍是最大难题。当前普遍面临四道坎：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09600" y="1571625"/>
            <a:ext cx="2619375" cy="2133600"/>
          </a:xfrm>
          <a:prstGeom prst="roundRect">
            <a:avLst>
              <a:gd name="adj" fmla="val 6250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2238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chemeClr val="tx1"/>
                </a:solidFill>
                <a:latin typeface="PingFang SC"/>
                <a:ea typeface="PingFang SC"/>
              </a:rPr>
              <a:t>⏳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00100" y="2286000"/>
            <a:ext cx="2238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335B"/>
                </a:solidFill>
                <a:latin typeface="PingFang SC"/>
                <a:ea typeface="PingFang SC"/>
              </a:rPr>
              <a:t>从想法到可用，太慢太贵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00100" y="2609850"/>
            <a:ext cx="2238375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“做个应用”仍靠堆人、堆时间，周期长、门槛高，基层与中小企业用不起。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3400425" y="1571625"/>
            <a:ext cx="2609850" cy="2133600"/>
          </a:xfrm>
          <a:prstGeom prst="roundRect">
            <a:avLst>
              <a:gd name="adj" fmla="val 6250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3590925" y="1781175"/>
            <a:ext cx="2228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chemeClr val="tx1"/>
                </a:solidFill>
                <a:latin typeface="PingFang SC"/>
                <a:ea typeface="PingFang SC"/>
              </a:rPr>
              <a:t>❓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590925" y="2286000"/>
            <a:ext cx="2228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335B"/>
                </a:solidFill>
                <a:latin typeface="PingFang SC"/>
                <a:ea typeface="PingFang SC"/>
              </a:rPr>
              <a:t>会聊不会干，难验证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3590925" y="2609850"/>
            <a:ext cx="22288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多数</a:t>
            </a:r>
            <a:r>
              <a:rPr lang="en-US" sz="1163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只停留在对话，生成的东西不可信、不可审计，关键场景不敢用。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6181725" y="1571625"/>
            <a:ext cx="2619375" cy="2133600"/>
          </a:xfrm>
          <a:prstGeom prst="roundRect">
            <a:avLst>
              <a:gd name="adj" fmla="val 6250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6372225" y="1781175"/>
            <a:ext cx="2238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chemeClr val="tx1"/>
                </a:solidFill>
                <a:latin typeface="PingFang SC"/>
                <a:ea typeface="PingFang SC"/>
              </a:rPr>
              <a:t>🔓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372225" y="2286000"/>
            <a:ext cx="2238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335B"/>
                </a:solidFill>
                <a:latin typeface="PingFang SC"/>
                <a:ea typeface="PingFang SC"/>
              </a:rPr>
              <a:t>怕失控、怕担责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372225" y="2609850"/>
            <a:ext cx="2238375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安全边界不清、责任难追溯、数据易泄露——政务与关键领域最忌“黑箱”。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8972550" y="1571625"/>
            <a:ext cx="2609850" cy="2133600"/>
          </a:xfrm>
          <a:prstGeom prst="roundRect">
            <a:avLst>
              <a:gd name="adj" fmla="val 6250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9163050" y="1781175"/>
            <a:ext cx="2228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chemeClr val="tx1"/>
                </a:solidFill>
                <a:latin typeface="PingFang SC"/>
                <a:ea typeface="PingFang SC"/>
              </a:rPr>
              <a:t>🔁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9163050" y="2286000"/>
            <a:ext cx="2228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6335B"/>
                </a:solidFill>
                <a:latin typeface="PingFang SC"/>
                <a:ea typeface="PingFang SC"/>
              </a:rPr>
              <a:t>重复造轮子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9163050" y="2609850"/>
            <a:ext cx="22288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各部门、各企业各自摸索，能力无法沉淀复用，资源大量浪费。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09600" y="3895725"/>
            <a:ext cx="10972800" cy="657225"/>
          </a:xfrm>
          <a:prstGeom prst="roundRect">
            <a:avLst>
              <a:gd name="adj" fmla="val 20290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57250" y="41338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DB2CC"/>
                </a:solidFill>
                <a:latin typeface="PingFang SC"/>
                <a:ea typeface="PingFang SC"/>
              </a:rPr>
              <a:t>核心问题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619250" y="4067175"/>
            <a:ext cx="6286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PingFang SC"/>
                <a:ea typeface="PingFang SC"/>
              </a:rPr>
              <a:t>缺一套</a:t>
            </a:r>
            <a:r>
              <a:rPr lang="zh-CN" sz="1350" b="1">
                <a:solidFill>
                  <a:srgbClr val="F4B400"/>
                </a:solidFill>
                <a:latin typeface="PingFang SC"/>
                <a:ea typeface="PingFang SC"/>
              </a:rPr>
              <a:t>「让</a:t>
            </a:r>
            <a:r>
              <a:rPr lang="en-US" sz="1350" b="1">
                <a:solidFill>
                  <a:srgbClr val="F4B400"/>
                </a:solidFill>
                <a:latin typeface="PingFang SC"/>
                <a:ea typeface="PingFang SC"/>
              </a:rPr>
              <a:t> AI </a:t>
            </a:r>
            <a:r>
              <a:rPr lang="zh-CN" sz="1350" b="1">
                <a:solidFill>
                  <a:srgbClr val="F4B400"/>
                </a:solidFill>
                <a:latin typeface="PingFang SC"/>
                <a:ea typeface="PingFang SC"/>
              </a:rPr>
              <a:t>真正干事、且始终在掌控之中」</a:t>
            </a:r>
            <a:r>
              <a:rPr lang="zh-CN" sz="1350">
                <a:solidFill>
                  <a:srgbClr val="FFFFFF"/>
                </a:solidFill>
                <a:latin typeface="PingFang SC"/>
                <a:ea typeface="PingFang SC"/>
              </a:rPr>
              <a:t>的系统。这正是</a:t>
            </a:r>
            <a:r>
              <a:rPr lang="en-US" sz="1350">
                <a:solidFill>
                  <a:srgbClr val="FFFFFF"/>
                </a:solidFill>
                <a:latin typeface="PingFang SC"/>
                <a:ea typeface="PingFang SC"/>
              </a:rPr>
              <a:t> Regent </a:t>
            </a:r>
            <a:r>
              <a:rPr lang="zh-CN" sz="1350">
                <a:solidFill>
                  <a:srgbClr val="FFFFFF"/>
                </a:solidFill>
                <a:latin typeface="PingFang SC"/>
                <a:ea typeface="PingFang SC"/>
              </a:rPr>
              <a:t>要解决的。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04 / 20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93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一章 · 项目目标&lt;/Text&gt;&#10;      &lt;Text style={{ fontSize: 34, fontWeight: 'bold', color: '#16335B', marginTop: 6 }}&gt;项目目标 · 我们要做成什么&lt;/Text&gt;&#10;    &lt;/Box&gt;&#10;    &lt;Text style={{ fontSize: 16, color: '#2E6DB4', fontWeight: 'bold', paddingTop: 10 }}&gt;05&lt;/Text&gt;&#10;  &lt;/Box&gt;&#10;&#10;  &lt;Box style={{ padding: '16px 64px 0 64px', flexDirection: 'row', gap: 18 }}&gt;&#10;    {[&#10;      ['①', '升级 AI 的能力', '把 AI 从“会聊天的工具”升级为“能干事的目标执行系统”——一句话目标，输出可运行、可验证的真实应用。'],&#10;      ['②', '建一套生产体系', '自主可控、安全合规的 AI 应用生产体系：边界内自治、全程留痕、可审计、可接管。'],&#10;      ['③', '让能力可沉淀', '缺什么补什么，不重复造轮子；用得越多越聪明，能力跨场景复用。'],&#10;    ].map(([n, t, d], i) =&gt; (&#10;      &lt;Box key={i} style={{ flex: 1, background: '#F5F8FC', border: '1px solid #E2E8F0', borderRadius: 14, padding: '24px 22px' }}&gt;&#10;        &lt;Box style={{ width: 46, height: 46, borderRadius: 12, background: '#16335B', alignItems: 'center', justifyContent: 'center' }}&gt;&#10;          &lt;Text style={{ fontSize: 22, fontWeight: 'bold', color: '#FFFFFF' }}&gt;{n}&lt;/Text&gt;&#10;        &lt;/Box&gt;&#10;        &lt;Text style={{ fontSize: 21, fontWeight: 'bold', color: '#16335B', marginTop: 14 }}&gt;{t}&lt;/Text&gt;&#10;        &lt;Text style={{ fontSize: 15.5, color: '#64748B', marginTop: 10, lineHeight: 1.7 }}&gt;{d}&lt;/Text&gt;&#10;      &lt;/Box&gt;&#10;    ))}&#10;  &lt;/Box&gt;&#10;&#10;  &lt;Box style={{ margin: '22px 64px 0 64px', background: 'linear-gradient(135deg,#16335B,#2E6DB4)', borderRadius: 14, padding: '20px 26px' }}&gt;&#10;    &lt;Text style={{ fontSize: 17, color: '#9DB2CC', fontWeight: 'bold', marginBottom: 6 }}&gt;战略定位&lt;/Text&gt;&#10;    &lt;Text style={{ fontSize: 19, color: '#FFFFFF', lineHeight: 1.6 }}&gt;Regent 不是又一个聊天机器人，而是管理 AI 团队在约束下自治干活的&lt;span style={{ color: '#F4B400', fontWeight: 'bold' }}&gt;「目标操作系统」&lt;/span&gt;——尤其适合智慧城市、文旅、场馆、工厂等需要&lt;span style={{ color: '#F4B400', fontWeight: 'bold' }}&gt;长期持久运营经营&lt;/span&gt;的项目。&lt;/Text&gt;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05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390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第一章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项目目标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3905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项目目标</a:t>
            </a:r>
            <a:r>
              <a:rPr lang="en-US" sz="2550" b="1">
                <a:solidFill>
                  <a:srgbClr val="16335B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我们要做成什么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05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609600" y="1295400"/>
            <a:ext cx="3543300" cy="2276475"/>
          </a:xfrm>
          <a:prstGeom prst="roundRect">
            <a:avLst>
              <a:gd name="adj" fmla="val 5858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9" name=""/>
          <p:cNvSpPr/>
          <p:nvPr/>
        </p:nvSpPr>
        <p:spPr>
          <a:xfrm rot="0" flipH="0" flipV="0">
            <a:off x="819150" y="15240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933450" y="16192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</a:rPr>
              <a:t>①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19150" y="20955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335B"/>
                </a:solidFill>
                <a:latin typeface="PingFang SC"/>
                <a:ea typeface="PingFang SC"/>
              </a:rPr>
              <a:t>升级</a:t>
            </a:r>
            <a:r>
              <a:rPr lang="en-US" sz="1575" b="1">
                <a:solidFill>
                  <a:srgbClr val="16335B"/>
                </a:solidFill>
                <a:latin typeface="PingFang SC"/>
                <a:ea typeface="PingFang SC"/>
              </a:rPr>
              <a:t> AI </a:t>
            </a:r>
            <a:r>
              <a:rPr lang="zh-CN" sz="1575" b="1">
                <a:solidFill>
                  <a:srgbClr val="16335B"/>
                </a:solidFill>
                <a:latin typeface="PingFang SC"/>
                <a:ea typeface="PingFang SC"/>
              </a:rPr>
              <a:t>的能力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19150" y="2438400"/>
            <a:ext cx="31242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把</a:t>
            </a:r>
            <a:r>
              <a:rPr lang="en-US" sz="1163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从“会聊天的工具”升级为“能干事的目标执行系统”——一句话目标，输出可运行、可验证的真实应用。</a:t>
            </a:r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4324350" y="1295400"/>
            <a:ext cx="3543300" cy="2276475"/>
          </a:xfrm>
          <a:prstGeom prst="roundRect">
            <a:avLst>
              <a:gd name="adj" fmla="val 5858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4" name=""/>
          <p:cNvSpPr/>
          <p:nvPr/>
        </p:nvSpPr>
        <p:spPr>
          <a:xfrm rot="0" flipH="0" flipV="0">
            <a:off x="4533900" y="15240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4648200" y="16192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</a:rPr>
              <a:t>②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4533900" y="20955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335B"/>
                </a:solidFill>
                <a:latin typeface="PingFang SC"/>
                <a:ea typeface="PingFang SC"/>
              </a:rPr>
              <a:t>建一套运营体系</a:t>
            </a:r>
            <a:endParaRPr lang="zh-CN" sz="1575" b="1">
              <a:solidFill>
                <a:srgbClr val="16335B"/>
              </a:solidFill>
              <a:latin typeface="PingFang SC"/>
              <a:ea typeface="PingFang SC"/>
            </a:endParaRPr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4533900" y="2438400"/>
            <a:ext cx="31242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自主可控、安全合规的 AI 应用运营体系：边界内自治、全程留痕、可审计、可接管。</a:t>
            </a:r>
            <a:endParaRPr lang="zh-CN" sz="1163">
              <a:solidFill>
                <a:srgbClr val="64748B"/>
              </a:solidFill>
              <a:latin typeface="PingFang SC"/>
              <a:ea typeface="PingFang SC"/>
            </a:endParaRPr>
          </a:p>
        </p:txBody>
      </p:sp>
      <p:sp>
        <p:nvSpPr>
          <p:cNvPr id="408" name=""/>
          <p:cNvSpPr/>
          <p:nvPr/>
        </p:nvSpPr>
        <p:spPr>
          <a:xfrm rot="0" flipH="0" flipV="0">
            <a:off x="8039100" y="1295400"/>
            <a:ext cx="3543300" cy="2276475"/>
          </a:xfrm>
          <a:prstGeom prst="roundRect">
            <a:avLst>
              <a:gd name="adj" fmla="val 5858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8248650" y="1524000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362950" y="16192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</a:rPr>
              <a:t>③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248650" y="20955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6335B"/>
                </a:solidFill>
                <a:latin typeface="PingFang SC"/>
                <a:ea typeface="PingFang SC"/>
              </a:rPr>
              <a:t>让能力可沉淀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248650" y="2438400"/>
            <a:ext cx="31242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缺什么补什么，不重复造轮子；用得越多越聪明，能力跨场景复用。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609600" y="3781425"/>
            <a:ext cx="10972800" cy="1333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57250" y="3971925"/>
            <a:ext cx="10477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9DB2CC"/>
                </a:solidFill>
                <a:latin typeface="PingFang SC"/>
                <a:ea typeface="PingFang SC"/>
              </a:rPr>
              <a:t>战略定位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857250" y="4229100"/>
            <a:ext cx="10477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425">
                <a:solidFill>
                  <a:srgbClr val="FFFFFF"/>
                </a:solidFill>
                <a:latin typeface="PingFang SC"/>
                <a:ea typeface="PingFang SC"/>
              </a:rPr>
              <a:t>Regent </a:t>
            </a:r>
            <a:r>
              <a:rPr lang="zh-CN" sz="1425">
                <a:solidFill>
                  <a:srgbClr val="FFFFFF"/>
                </a:solidFill>
                <a:latin typeface="PingFang SC"/>
                <a:ea typeface="PingFang SC"/>
              </a:rPr>
              <a:t>不是又一个聊天机器人，而是管理</a:t>
            </a:r>
            <a:r>
              <a:rPr lang="en-US" sz="1425">
                <a:solidFill>
                  <a:srgbClr val="FFFFFF"/>
                </a:solidFill>
                <a:latin typeface="PingFang SC"/>
                <a:ea typeface="PingFang SC"/>
              </a:rPr>
              <a:t> AI </a:t>
            </a:r>
            <a:r>
              <a:rPr lang="zh-CN" sz="1425">
                <a:solidFill>
                  <a:srgbClr val="FFFFFF"/>
                </a:solidFill>
                <a:latin typeface="PingFang SC"/>
                <a:ea typeface="PingFang SC"/>
              </a:rPr>
              <a:t>团队在约束下自治干活的</a:t>
            </a:r>
            <a:r>
              <a:rPr lang="zh-CN" sz="1425" b="1">
                <a:solidFill>
                  <a:srgbClr val="F4B400"/>
                </a:solidFill>
                <a:latin typeface="PingFang SC"/>
                <a:ea typeface="PingFang SC"/>
              </a:rPr>
              <a:t>「目标操作系统」</a:t>
            </a:r>
            <a:r>
              <a:rPr lang="zh-CN" sz="1425">
                <a:solidFill>
                  <a:srgbClr val="FFFFFF"/>
                </a:solidFill>
                <a:latin typeface="PingFang SC"/>
                <a:ea typeface="PingFang SC"/>
              </a:rPr>
              <a:t>——尤其适合智慧城市、文旅、场馆、工厂等需要</a:t>
            </a:r>
            <a:r>
              <a:rPr lang="zh-CN" sz="1425" b="1">
                <a:solidFill>
                  <a:srgbClr val="F4B400"/>
                </a:solidFill>
                <a:latin typeface="PingFang SC"/>
                <a:ea typeface="PingFang SC"/>
              </a:rPr>
              <a:t>长期持久运营经营</a:t>
            </a:r>
            <a:r>
              <a:rPr lang="zh-CN" sz="1425">
                <a:solidFill>
                  <a:srgbClr val="FFFFFF"/>
                </a:solidFill>
                <a:latin typeface="PingFang SC"/>
                <a:ea typeface="PingFang SC"/>
              </a:rPr>
              <a:t>的项目。</a:t>
            </a:r>
            <a:endParaRPr/>
          </a:p>
        </p:txBody>
      </p:sp>
      <p:sp>
        <p:nvSpPr>
          <p:cNvPr id="416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05 / 20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19" name="" descr="&lt;Slide style={{ width: '1280px', height: '720px', background: '#0E1B2E', fontFamily: &quot;'PingFang SC','Microsoft YaHei','Helvetica Neue',sans-serif&quot;, overflow: 'hidden' }}&gt;&#10;  &lt;Box style={{ position: 'absolute', top: -120, right: -100, width: 520, height: 520, borderRadius: 260, background: 'linear-gradient(135deg,#16335B 0%,#2E6DB4 100%)', opacity: 0.22 }} /&gt;&#10;  &lt;Box style={{ position: 'absolute', top: 0, bottom: 0, left: 64, justifyContent: 'center' }}&gt;&#10;    &lt;Text style={{ fontSize: 120, fontWeight: 'bold', color: '#1E3A5F' }}&gt;02&lt;/Text&gt;&#10;  &lt;/Box&gt;&#10;  &lt;Box style={{ position: 'absolute', top: 0, bottom: 0, left: 280, justifyContent: 'center' }}&gt;&#10;    &lt;Text style={{ fontSize: 22, color: '#5FA8E6', fontWeight: 'bold', letterSpacing: 4 }}&gt;CHAPTER TWO&lt;/Text&gt;&#10;    &lt;Text style={{ fontSize: 56, fontWeight: 'bold', color: '#FFFFFF', marginTop: 14 }}&gt;Regent 到底是什么&lt;/Text&gt;&#10;    &lt;Box style={{ width: 120, height: 6, background: 'linear-gradient(90deg,#2E6DB4,#D7263D)', marginTop: 24, borderRadius: 3 }} /&gt;&#10;    &lt;Text style={{ fontSize: 22, color: '#CBD5E1', marginTop: 22 }}&gt;系统定义 · 核心闭环&lt;/Text&gt;&#10;  &lt;/Box&gt;&#10;  &lt;Box style={{ position: 'absolute', bottom: 36, left: 64, right: 64, flexDirection: 'row', justifyContent: 'space-between', alignItems: 'center' }}&gt;&#10;    &lt;Text style={{ fontSize: 14, color: '#64748B' }}&gt;Regent 系统介绍 · 树米科技&lt;/Text&gt;&#10;    &lt;Text style={{ fontSize: 14, color: '#64748B' }}&gt;06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p/>
        </p:txBody>
      </p:sp>
      <p:sp>
        <p:nvSpPr>
          <p:cNvPr id="421" name=""/>
          <p:cNvSpPr/>
          <p:nvPr/>
        </p:nvSpPr>
        <p:spPr>
          <a:xfrm rot="0" flipH="0" flipV="0">
            <a:off x="8191500" y="-1143000"/>
            <a:ext cx="4953000" cy="4953000"/>
          </a:xfrm>
          <a:custGeom>
            <a:pathLst>
              <a:path w="520" h="520">
                <a:moveTo>
                  <a:pt x="420" y="465"/>
                </a:moveTo>
                <a:lnTo>
                  <a:pt x="416" y="468"/>
                </a:lnTo>
                <a:lnTo>
                  <a:pt x="410" y="472"/>
                </a:lnTo>
                <a:lnTo>
                  <a:pt x="405" y="476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31" y="136"/>
                </a:lnTo>
                <a:lnTo>
                  <a:pt x="34" y="131"/>
                </a:lnTo>
                <a:lnTo>
                  <a:pt x="38" y="125"/>
                </a:lnTo>
                <a:lnTo>
                  <a:pt x="41" y="120"/>
                </a:lnTo>
                <a:lnTo>
                  <a:pt x="420" y="120"/>
                </a:lnTo>
                <a:close/>
              </a:path>
            </a:pathLst>
          </a:custGeom>
          <a:gradFill>
            <a:gsLst>
              <a:gs pos="0">
                <a:srgbClr val="16335B">
                  <a:alpha val="22000"/>
                </a:srgbClr>
              </a:gs>
              <a:gs pos="100000">
                <a:srgbClr val="2E6DB4">
                  <a:alpha val="2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609600" y="2743200"/>
            <a:ext cx="14192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E3A5F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2667000" y="2533650"/>
            <a:ext cx="4733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5FA8E6"/>
                </a:solidFill>
                <a:latin typeface="PingFang SC"/>
                <a:ea typeface="PingFang SC"/>
              </a:rPr>
              <a:t>CHAPTER TWO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2667000" y="2924175"/>
            <a:ext cx="47339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FFFFFF"/>
                </a:solidFill>
                <a:latin typeface="PingFang SC"/>
                <a:ea typeface="PingFang SC"/>
              </a:rPr>
              <a:t>Regent </a:t>
            </a:r>
            <a:r>
              <a:rPr lang="zh-CN" sz="4200" b="1">
                <a:solidFill>
                  <a:srgbClr val="FFFFFF"/>
                </a:solidFill>
                <a:latin typeface="PingFang SC"/>
                <a:ea typeface="PingFang SC"/>
              </a:rPr>
              <a:t>到底是什么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2667000" y="3800475"/>
            <a:ext cx="1143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6DB4"/>
              </a:gs>
              <a:gs pos="100000">
                <a:srgbClr val="D726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2667000" y="4067175"/>
            <a:ext cx="4733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系统定义</a:t>
            </a:r>
            <a:r>
              <a:rPr lang="en-US" sz="1650">
                <a:solidFill>
                  <a:srgbClr val="CBD5E1"/>
                </a:solidFill>
                <a:latin typeface="PingFang SC"/>
                <a:ea typeface="PingFang SC"/>
              </a:rPr>
              <a:t> · </a:t>
            </a: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核心闭环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06 / 20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429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二章 · 系统定义&lt;/Text&gt;&#10;      &lt;Text style={{ fontSize: 34, fontWeight: 'bold', color: '#16335B', marginTop: 6 }}&gt;系统定义 · Regent 到底是什么&lt;/Text&gt;&#10;    &lt;/Box&gt;&#10;    &lt;Text style={{ fontSize: 16, color: '#2E6DB4', fontWeight: 'bold', paddingTop: 10 }}&gt;07&lt;/Text&gt;&#10;  &lt;/Box&gt;&#10;&#10;  &lt;Box style={{ padding: '14px 64px 0 64px', flexDirection: 'row', gap: 36 }}&gt;&#10;    &lt;Box style={{ flex: 1.05 }}&gt;&#10;      &lt;Text style={{ fontSize: 18, color: '#1F2A37', lineHeight: 1.8 }}&gt;Regent 接收人的自然语言目标，在明确的&lt;span style={{ color: '#16335B', fontWeight: 'bold' }}&gt;约束、资源、授权和治理边界&lt;/span&gt;内，自主解释目标、发现并补齐能力，形成最合适的人机组织，创建并运营可独立运行的应用，并依据&lt;span style={{ color: '#16335B', fontWeight: 'bold' }}&gt;可验证的外部结果&lt;/span&gt;持续调整，直至目标达成或被叫停。&lt;/Text&gt;&#10;      &lt;Box style={{ marginTop: 20, background: '#16335B', borderRadius: 12, padding: '18px 22px' }}&gt;&#10;        &lt;Text style={{ fontSize: 15, color: '#9DB2CC', fontWeight: 'bold', marginBottom: 6 }}&gt;产品身份&lt;/Text&gt;&#10;        &lt;Text style={{ fontSize: 17, color: '#FFFFFF', lineHeight: 1.65 }}&gt;不是“更强的单一 AI”，而是&lt;span style={{ color: '#F4B400', fontWeight: 'bold' }}&gt;管理 AI 组织在约束与治理下自治运行的目标操作系统&lt;/span&gt;。&lt;/Text&gt;&#10;      &lt;/Box&gt;&#10;    &lt;/Box&gt;&#10;    &lt;Box style={{ flex: 0.95, background: '#F5F8FC', borderRadius: 14, padding: '18px 22px', border: '1px solid #E2E8F0' }}&gt;&#10;      &lt;Text style={{ fontSize: 17, fontWeight: 'bold', color: '#16335B', marginBottom: 8 }}&gt;七个恒定属性&lt;/Text&gt;&#10;      {[&#10;        ['1', '目标驱动：一句话需求即可，不必写繁琐需求文档'],&#10;        ['2', '边界内自治：动作都在安全/预算/合规边界内，随时可接管'],&#10;        ['3', '能力自生长：缺什么能力自己补，不重复造轮子'],&#10;        ['4', '组织为手段：按任务灵活组建最合适的“AI 团队”'],&#10;        ['5', '应用为成果：交付能独立运行的真实应用，不绑定平台'],&#10;        ['6', '结果闭环：用真实使用数据说话，而非“生成者自评”'],&#10;        ['7', '明确终止：做成、做不动、或您叫停，都有清晰交代'],&#10;      ].map(([n, t]) =&gt; (&#10;        &lt;Box key={n} style={{ flexDirection: 'row', gap: 12, alignItems: 'flex-start', padding: '8px 0', borderBottom: '1px dashed #DCE5F0' }}&gt;&#10;          &lt;Box style={{ flex: '0 0 26px', height: 26, borderRadius: 7, background: '#2E6DB4', alignItems: 'center', justifyContent: 'center' }}&gt;&#10;            &lt;Text style={{ fontSize: 14, fontWeight: 'bold', color: '#FFFFFF' }}&gt;{n}&lt;/Text&gt;&#10;          &lt;/Box&gt;&#10;          &lt;Text style={{ fontSize: 15, color: '#1F2A37', lineHeight: 1.5 }}&gt;{t}&lt;/Text&gt;&#10;        &lt;/Box&gt;&#10;      ))}&#10;    &lt;/Box&gt;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07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4505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第二章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系统定义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45053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系统定义</a:t>
            </a:r>
            <a:r>
              <a:rPr lang="en-US" sz="2550" b="1">
                <a:solidFill>
                  <a:srgbClr val="16335B"/>
                </a:solidFill>
                <a:latin typeface="PingFang SC"/>
                <a:ea typeface="PingFang SC"/>
              </a:rPr>
              <a:t> · Regent </a:t>
            </a: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到底是什么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07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5581650" cy="1485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en-US" sz="1350">
                <a:solidFill>
                  <a:srgbClr val="1F2A37"/>
                </a:solidFill>
                <a:latin typeface="PingFang SC"/>
                <a:ea typeface="PingFang SC"/>
              </a:rPr>
              <a:t>Regent </a:t>
            </a:r>
            <a:r>
              <a:rPr lang="zh-CN" sz="1350">
                <a:solidFill>
                  <a:srgbClr val="1F2A37"/>
                </a:solidFill>
                <a:latin typeface="PingFang SC"/>
                <a:ea typeface="PingFang SC"/>
              </a:rPr>
              <a:t>接收人的自然语言目标，在明确的</a:t>
            </a:r>
            <a:r>
              <a:rPr lang="zh-CN" sz="1350" b="1">
                <a:solidFill>
                  <a:srgbClr val="16335B"/>
                </a:solidFill>
                <a:latin typeface="PingFang SC"/>
                <a:ea typeface="PingFang SC"/>
              </a:rPr>
              <a:t>约束、资源、授权和治理边界</a:t>
            </a:r>
            <a:r>
              <a:rPr lang="zh-CN" sz="1350">
                <a:solidFill>
                  <a:srgbClr val="1F2A37"/>
                </a:solidFill>
                <a:latin typeface="PingFang SC"/>
                <a:ea typeface="PingFang SC"/>
              </a:rPr>
              <a:t>内，自主解释目标、发现并补齐能力，形成最合适的人机组织，创建并运营可独立运行的应用，并依据</a:t>
            </a:r>
            <a:r>
              <a:rPr lang="zh-CN" sz="1350" b="1">
                <a:solidFill>
                  <a:srgbClr val="16335B"/>
                </a:solidFill>
                <a:latin typeface="PingFang SC"/>
                <a:ea typeface="PingFang SC"/>
              </a:rPr>
              <a:t>可验证的外部结果</a:t>
            </a:r>
            <a:r>
              <a:rPr lang="zh-CN" sz="1350">
                <a:solidFill>
                  <a:srgbClr val="1F2A37"/>
                </a:solidFill>
                <a:latin typeface="PingFang SC"/>
                <a:ea typeface="PingFang SC"/>
              </a:rPr>
              <a:t>持续调整，直至目标达成或被叫停。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09600" y="2952750"/>
            <a:ext cx="5581650" cy="1219200"/>
          </a:xfrm>
          <a:prstGeom prst="roundRect">
            <a:avLst>
              <a:gd name="adj" fmla="val 9375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819150" y="3124200"/>
            <a:ext cx="516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9DB2CC"/>
                </a:solidFill>
                <a:latin typeface="PingFang SC"/>
                <a:ea typeface="PingFang SC"/>
              </a:rPr>
              <a:t>产品身份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19150" y="3352800"/>
            <a:ext cx="51625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不是“更强的单一</a:t>
            </a:r>
            <a:r>
              <a:rPr lang="en-US" sz="1275">
                <a:solidFill>
                  <a:srgbClr val="FFFFFF"/>
                </a:solidFill>
                <a:latin typeface="PingFang SC"/>
                <a:ea typeface="PingFang SC"/>
              </a:rPr>
              <a:t> AI”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，而是</a:t>
            </a:r>
            <a:r>
              <a:rPr lang="zh-CN" sz="1275" b="1">
                <a:solidFill>
                  <a:srgbClr val="F4B400"/>
                </a:solidFill>
                <a:latin typeface="PingFang SC"/>
                <a:ea typeface="PingFang SC"/>
              </a:rPr>
              <a:t>管理</a:t>
            </a:r>
            <a:r>
              <a:rPr lang="en-US" sz="1275" b="1">
                <a:solidFill>
                  <a:srgbClr val="F4B400"/>
                </a:solidFill>
                <a:latin typeface="PingFang SC"/>
                <a:ea typeface="PingFang SC"/>
              </a:rPr>
              <a:t> AI </a:t>
            </a:r>
            <a:r>
              <a:rPr lang="zh-CN" sz="1275" b="1">
                <a:solidFill>
                  <a:srgbClr val="F4B400"/>
                </a:solidFill>
                <a:latin typeface="PingFang SC"/>
                <a:ea typeface="PingFang SC"/>
              </a:rPr>
              <a:t>组织在约束与治理下自治运行的目标操作系统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534150" y="1276350"/>
            <a:ext cx="5048250" cy="3552825"/>
          </a:xfrm>
          <a:prstGeom prst="roundRect">
            <a:avLst>
              <a:gd name="adj" fmla="val 3753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743700" y="1447800"/>
            <a:ext cx="4629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335B"/>
                </a:solidFill>
                <a:latin typeface="PingFang SC"/>
                <a:ea typeface="PingFang SC"/>
              </a:rPr>
              <a:t>七个恒定属性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743700" y="1724025"/>
            <a:ext cx="4629150" cy="428625"/>
          </a:xfrm>
          <a:custGeom>
            <a:pathLst>
              <a:path w="486" h="45">
                <a:moveTo>
                  <a:pt x="0" y="44"/>
                </a:moveTo>
                <a:lnTo>
                  <a:pt x="486" y="44"/>
                </a:lnTo>
                <a:lnTo>
                  <a:pt x="486" y="45"/>
                </a:lnTo>
                <a:lnTo>
                  <a:pt x="0" y="45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441" name=""/>
          <p:cNvSpPr/>
          <p:nvPr/>
        </p:nvSpPr>
        <p:spPr>
          <a:xfrm rot="0" flipH="0" flipV="0">
            <a:off x="6743700" y="180022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2E6DB4"/>
          </a:solidFill>
          <a:ln/>
        </p:spPr>
        <p:txBody>
          <a:bodyPr/>
          <a:p/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829425" y="18478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105650" y="1800225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A37"/>
                </a:solidFill>
                <a:latin typeface="PingFang SC"/>
                <a:ea typeface="PingFang SC"/>
              </a:rPr>
              <a:t>目标驱动：一句话需求即可，不必写繁琐需求文档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743700" y="2143125"/>
            <a:ext cx="4629150" cy="428625"/>
          </a:xfrm>
          <a:custGeom>
            <a:pathLst>
              <a:path w="486" h="45">
                <a:moveTo>
                  <a:pt x="0" y="44"/>
                </a:moveTo>
                <a:lnTo>
                  <a:pt x="486" y="44"/>
                </a:lnTo>
                <a:lnTo>
                  <a:pt x="486" y="45"/>
                </a:lnTo>
                <a:lnTo>
                  <a:pt x="0" y="45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6743700" y="221932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2E6DB4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829425" y="22669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105650" y="2219325"/>
            <a:ext cx="36957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A37"/>
                </a:solidFill>
                <a:latin typeface="PingFang SC"/>
                <a:ea typeface="PingFang SC"/>
              </a:rPr>
              <a:t>边界内自治：动作都在安全</a:t>
            </a:r>
            <a:r>
              <a:rPr lang="en-US" sz="1125">
                <a:solidFill>
                  <a:srgbClr val="1F2A37"/>
                </a:solidFill>
                <a:latin typeface="PingFang SC"/>
                <a:ea typeface="PingFang SC"/>
              </a:rPr>
              <a:t>/</a:t>
            </a:r>
            <a:r>
              <a:rPr lang="zh-CN" sz="1125">
                <a:solidFill>
                  <a:srgbClr val="1F2A37"/>
                </a:solidFill>
                <a:latin typeface="PingFang SC"/>
                <a:ea typeface="PingFang SC"/>
              </a:rPr>
              <a:t>预算</a:t>
            </a:r>
            <a:r>
              <a:rPr lang="en-US" sz="1125">
                <a:solidFill>
                  <a:srgbClr val="1F2A37"/>
                </a:solidFill>
                <a:latin typeface="PingFang SC"/>
                <a:ea typeface="PingFang SC"/>
              </a:rPr>
              <a:t>/</a:t>
            </a:r>
            <a:r>
              <a:rPr lang="zh-CN" sz="1125">
                <a:solidFill>
                  <a:srgbClr val="1F2A37"/>
                </a:solidFill>
                <a:latin typeface="PingFang SC"/>
                <a:ea typeface="PingFang SC"/>
              </a:rPr>
              <a:t>合规边界内，随时可接管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6743700" y="2562225"/>
            <a:ext cx="4629150" cy="428625"/>
          </a:xfrm>
          <a:custGeom>
            <a:pathLst>
              <a:path w="486" h="45">
                <a:moveTo>
                  <a:pt x="0" y="44"/>
                </a:moveTo>
                <a:lnTo>
                  <a:pt x="486" y="44"/>
                </a:lnTo>
                <a:lnTo>
                  <a:pt x="486" y="45"/>
                </a:lnTo>
                <a:lnTo>
                  <a:pt x="0" y="45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6743700" y="263842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2E6DB4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829425" y="26860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7105650" y="2638425"/>
            <a:ext cx="30003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A37"/>
                </a:solidFill>
                <a:latin typeface="PingFang SC"/>
                <a:ea typeface="PingFang SC"/>
              </a:rPr>
              <a:t>能力自生长：缺什么能力自己补，不重复造轮子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6743700" y="2981325"/>
            <a:ext cx="4629150" cy="428625"/>
          </a:xfrm>
          <a:custGeom>
            <a:pathLst>
              <a:path w="486" h="45">
                <a:moveTo>
                  <a:pt x="0" y="44"/>
                </a:moveTo>
                <a:lnTo>
                  <a:pt x="486" y="44"/>
                </a:lnTo>
                <a:lnTo>
                  <a:pt x="486" y="45"/>
                </a:lnTo>
                <a:lnTo>
                  <a:pt x="0" y="45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6743700" y="305752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2E6DB4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829425" y="31051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7105650" y="3057525"/>
            <a:ext cx="3190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A37"/>
                </a:solidFill>
                <a:latin typeface="PingFang SC"/>
                <a:ea typeface="PingFang SC"/>
              </a:rPr>
              <a:t>组织为手段：按任务灵活组建最合适的“</a:t>
            </a:r>
            <a:r>
              <a:rPr lang="en-US" sz="1125">
                <a:solidFill>
                  <a:srgbClr val="1F2A37"/>
                </a:solidFill>
                <a:latin typeface="PingFang SC"/>
                <a:ea typeface="PingFang SC"/>
              </a:rPr>
              <a:t>AI </a:t>
            </a:r>
            <a:r>
              <a:rPr lang="zh-CN" sz="1125">
                <a:solidFill>
                  <a:srgbClr val="1F2A37"/>
                </a:solidFill>
                <a:latin typeface="PingFang SC"/>
                <a:ea typeface="PingFang SC"/>
              </a:rPr>
              <a:t>团队”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743700" y="3400425"/>
            <a:ext cx="4629150" cy="428625"/>
          </a:xfrm>
          <a:custGeom>
            <a:pathLst>
              <a:path w="486" h="45">
                <a:moveTo>
                  <a:pt x="0" y="44"/>
                </a:moveTo>
                <a:lnTo>
                  <a:pt x="486" y="44"/>
                </a:lnTo>
                <a:lnTo>
                  <a:pt x="486" y="45"/>
                </a:lnTo>
                <a:lnTo>
                  <a:pt x="0" y="45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6743700" y="347662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2E6DB4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829425" y="35242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7105650" y="3476625"/>
            <a:ext cx="3429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A37"/>
                </a:solidFill>
                <a:latin typeface="PingFang SC"/>
                <a:ea typeface="PingFang SC"/>
              </a:rPr>
              <a:t>应用为成果：交付能独立运行的真实应用，不绑定平台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743700" y="3819525"/>
            <a:ext cx="4629150" cy="428625"/>
          </a:xfrm>
          <a:custGeom>
            <a:pathLst>
              <a:path w="486" h="45">
                <a:moveTo>
                  <a:pt x="0" y="44"/>
                </a:moveTo>
                <a:lnTo>
                  <a:pt x="486" y="44"/>
                </a:lnTo>
                <a:lnTo>
                  <a:pt x="486" y="45"/>
                </a:lnTo>
                <a:lnTo>
                  <a:pt x="0" y="45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6743700" y="389572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2E6DB4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829425" y="39433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PingFang SC"/>
                <a:ea typeface="PingFang SC"/>
              </a:rPr>
              <a:t>6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7105650" y="3895725"/>
            <a:ext cx="3429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A37"/>
                </a:solidFill>
                <a:latin typeface="PingFang SC"/>
                <a:ea typeface="PingFang SC"/>
              </a:rPr>
              <a:t>结果闭环：用真实使用数据说话，而非“生成者自评”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743700" y="4238625"/>
            <a:ext cx="4629150" cy="428625"/>
          </a:xfrm>
          <a:custGeom>
            <a:pathLst>
              <a:path w="486" h="45">
                <a:moveTo>
                  <a:pt x="0" y="44"/>
                </a:moveTo>
                <a:lnTo>
                  <a:pt x="486" y="44"/>
                </a:lnTo>
                <a:lnTo>
                  <a:pt x="486" y="45"/>
                </a:lnTo>
                <a:lnTo>
                  <a:pt x="0" y="45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6743700" y="4314825"/>
            <a:ext cx="247650" cy="247650"/>
          </a:xfrm>
          <a:prstGeom prst="roundRect">
            <a:avLst>
              <a:gd name="adj" fmla="val 26923"/>
            </a:avLst>
          </a:prstGeom>
          <a:solidFill>
            <a:srgbClr val="2E6DB4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6829425" y="43624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PingFang SC"/>
                <a:ea typeface="PingFang SC"/>
              </a:rPr>
              <a:t>7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7105650" y="4314825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F2A37"/>
                </a:solidFill>
                <a:latin typeface="PingFang SC"/>
                <a:ea typeface="PingFang SC"/>
              </a:rPr>
              <a:t>明确终止：做成、做不动、或您叫停，都有清晰交代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07 / 20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71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二章 · 系统定义&lt;/Text&gt;&#10;      &lt;Text style={{ fontSize: 34, fontWeight: 'bold', color: '#16335B', marginTop: 6 }}&gt;核心机制 · 一条可追溯、可验证的闭环&lt;/Text&gt;&#10;    &lt;/Box&gt;&#10;    &lt;Text style={{ fontSize: 16, color: '#2E6DB4', fontWeight: 'bold', paddingTop: 10 }}&gt;08&lt;/Text&gt;&#10;  &lt;/Box&gt;&#10;&#10;  &lt;Box style={{ padding: '24px 64px 0 64px', flexDirection: 'row', alignItems: 'center', justifyContent: 'center', gap: 8 }}&gt;&#10;    {[&#10;      ['目标', '一句话需求'],&#10;      ['计划', '拆解可执行步骤'],&#10;      ['能力', '补齐所需能力'],&#10;      ['构建', '生成真实应用'],&#10;      ['预览', '可运行可试用'],&#10;      ['观测', '采集真实使用'],&#10;      ['决策', '看证据下结论'],&#10;    ].map(([t, d], i) =&gt; (&#10;      &lt;Box key={i} style={{ flexDirection: 'row', alignItems: 'center', gap: 8 }}&gt;&#10;        &lt;Box style={{ background: 'linear-gradient(135deg,#16335B,#2E6DB4)', borderRadius: 12, padding: '16px 16px', minWidth: 92, alignItems: 'center' }}&gt;&#10;          &lt;Text style={{ fontSize: 19, fontWeight: 'bold', color: '#FFFFFF' }}&gt;{t}&lt;/Text&gt;&#10;          &lt;Text style={{ fontSize: 12.5, color: '#C9DEF6', marginTop: 4, textAlign: 'center' }}&gt;{d}&lt;/Text&gt;&#10;        &lt;/Box&gt;&#10;        {i &lt; 6 &amp;&amp; &lt;Text style={{ fontSize: 24, color: '#94A3B8', fontWeight: 'bold' }}&gt;→&lt;/Text&gt;}&#10;      &lt;/Box&gt;&#10;    ))}&#10;  &lt;/Box&gt;&#10;&#10;  &lt;Box style={{ padding: '22px 64px 0 64px', flexDirection: 'row', gap: 16, justifyContent: 'center' }}&gt;&#10;    &lt;Box style={{ background: '#2E6DB4', borderRadius: 30, padding: '12px 28px' }}&gt;&lt;Text style={{ fontSize: 16, color: '#FFFFFF', fontWeight: 'bold' }}&gt;✓ 继续 CONTINUE&lt;/Text&gt;&lt;/Box&gt;&#10;    &lt;Box style={{ background: '#D7263D', borderRadius: 30, padding: '12px 28px' }}&gt;&lt;Text style={{ fontSize: 16, color: '#FFFFFF', fontWeight: 'bold' }}&gt;↻ 改进 REVISE&lt;/Text&gt;&lt;/Box&gt;&#10;    &lt;Box style={{ background: '#16335B', borderRadius: 30, padding: '12px 28px' }}&gt;&lt;Text style={{ fontSize: 16, color: '#FFFFFF', fontWeight: 'bold' }}&gt;■ 停止 STOP&lt;/Text&gt;&lt;/Box&gt;&#10;  &lt;/Box&gt;&#10;&#10;  &lt;Text style={{ padding: '18px 64px 0 64px', fontSize: 17, color: '#64748B', textAlign: 'center', lineHeight: 1.6 }}&gt;每一环都产出证据；真实使用数据驱动“继续 / 改进 / 停止”决策，并回流到计划与构建，形成闭环。&lt;/Text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08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552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第二章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系统定义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5524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核心机制</a:t>
            </a:r>
            <a:r>
              <a:rPr lang="en-US" sz="2550" b="1">
                <a:solidFill>
                  <a:srgbClr val="16335B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一条可追溯、可验证的闭环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08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1381125" y="1371600"/>
            <a:ext cx="904875" cy="704850"/>
          </a:xfrm>
          <a:prstGeom prst="roundRect">
            <a:avLst>
              <a:gd name="adj" fmla="val 16216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657350" y="15240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目标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1533525" y="1781175"/>
            <a:ext cx="600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>
                <a:solidFill>
                  <a:srgbClr val="C9DEF6"/>
                </a:solidFill>
                <a:latin typeface="PingFang SC"/>
                <a:ea typeface="PingFang SC"/>
              </a:rPr>
              <a:t>一句话需求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2362200" y="1590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PingFang SC"/>
                <a:ea typeface="PingFang SC"/>
              </a:rPr>
              <a:t>→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2667000" y="1371600"/>
            <a:ext cx="1143000" cy="704850"/>
          </a:xfrm>
          <a:prstGeom prst="roundRect">
            <a:avLst>
              <a:gd name="adj" fmla="val 16216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3057525" y="15240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计划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2819400" y="1781175"/>
            <a:ext cx="8382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>
                <a:solidFill>
                  <a:srgbClr val="C9DEF6"/>
                </a:solidFill>
                <a:latin typeface="PingFang SC"/>
                <a:ea typeface="PingFang SC"/>
              </a:rPr>
              <a:t>拆解可执行步骤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3886200" y="1590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PingFang SC"/>
                <a:ea typeface="PingFang SC"/>
              </a:rPr>
              <a:t>→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4191000" y="1371600"/>
            <a:ext cx="1019175" cy="704850"/>
          </a:xfrm>
          <a:prstGeom prst="roundRect">
            <a:avLst>
              <a:gd name="adj" fmla="val 16216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4524375" y="15240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能力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4343400" y="1781175"/>
            <a:ext cx="7143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>
                <a:solidFill>
                  <a:srgbClr val="C9DEF6"/>
                </a:solidFill>
                <a:latin typeface="PingFang SC"/>
                <a:ea typeface="PingFang SC"/>
              </a:rPr>
              <a:t>补齐所需能力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5286375" y="1590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PingFang SC"/>
                <a:ea typeface="PingFang SC"/>
              </a:rPr>
              <a:t>→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5591175" y="1371600"/>
            <a:ext cx="1019175" cy="704850"/>
          </a:xfrm>
          <a:prstGeom prst="roundRect">
            <a:avLst>
              <a:gd name="adj" fmla="val 16216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5924550" y="15240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构建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5743575" y="1781175"/>
            <a:ext cx="7143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>
                <a:solidFill>
                  <a:srgbClr val="C9DEF6"/>
                </a:solidFill>
                <a:latin typeface="PingFang SC"/>
                <a:ea typeface="PingFang SC"/>
              </a:rPr>
              <a:t>生成真实应用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6686550" y="1590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PingFang SC"/>
                <a:ea typeface="PingFang SC"/>
              </a:rPr>
              <a:t>→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991350" y="1371600"/>
            <a:ext cx="1019175" cy="704850"/>
          </a:xfrm>
          <a:prstGeom prst="roundRect">
            <a:avLst>
              <a:gd name="adj" fmla="val 16216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324725" y="15240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预览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143750" y="1781175"/>
            <a:ext cx="7143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>
                <a:solidFill>
                  <a:srgbClr val="C9DEF6"/>
                </a:solidFill>
                <a:latin typeface="PingFang SC"/>
                <a:ea typeface="PingFang SC"/>
              </a:rPr>
              <a:t>可运行可试用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086725" y="1590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PingFang SC"/>
                <a:ea typeface="PingFang SC"/>
              </a:rPr>
              <a:t>→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8391525" y="1371600"/>
            <a:ext cx="1019175" cy="704850"/>
          </a:xfrm>
          <a:prstGeom prst="roundRect">
            <a:avLst>
              <a:gd name="adj" fmla="val 16216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724900" y="15240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观测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543925" y="1781175"/>
            <a:ext cx="7143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>
                <a:solidFill>
                  <a:srgbClr val="C9DEF6"/>
                </a:solidFill>
                <a:latin typeface="PingFang SC"/>
                <a:ea typeface="PingFang SC"/>
              </a:rPr>
              <a:t>采集真实使用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9486900" y="1590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94A3B8"/>
                </a:solidFill>
                <a:latin typeface="PingFang SC"/>
                <a:ea typeface="PingFang SC"/>
              </a:rPr>
              <a:t>→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9791700" y="1371600"/>
            <a:ext cx="1019175" cy="704850"/>
          </a:xfrm>
          <a:prstGeom prst="roundRect">
            <a:avLst>
              <a:gd name="adj" fmla="val 16216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0125075" y="152400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PingFang SC"/>
                <a:ea typeface="PingFang SC"/>
              </a:rPr>
              <a:t>决策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9944100" y="1781175"/>
            <a:ext cx="7143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38">
                <a:solidFill>
                  <a:srgbClr val="C9DEF6"/>
                </a:solidFill>
                <a:latin typeface="PingFang SC"/>
                <a:ea typeface="PingFang SC"/>
              </a:rPr>
              <a:t>看证据下结论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3495675" y="2286000"/>
            <a:ext cx="1924050" cy="419100"/>
          </a:xfrm>
          <a:prstGeom prst="roundRect">
            <a:avLst>
              <a:gd name="adj" fmla="val 68182"/>
            </a:avLst>
          </a:prstGeom>
          <a:solidFill>
            <a:srgbClr val="2E6DB4"/>
          </a:solidFill>
          <a:ln/>
        </p:spPr>
        <p:txBody>
          <a:bodyPr/>
          <a:p/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3762375" y="2400300"/>
            <a:ext cx="1390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PingFang SC"/>
                <a:ea typeface="PingFang SC"/>
              </a:rPr>
              <a:t>✓ </a:t>
            </a: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继续</a:t>
            </a:r>
            <a:r>
              <a:rPr lang="en-US" sz="1200" b="1">
                <a:solidFill>
                  <a:srgbClr val="FFFFFF"/>
                </a:solidFill>
                <a:latin typeface="PingFang SC"/>
                <a:ea typeface="PingFang SC"/>
              </a:rPr>
              <a:t> CONTINUE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5572125" y="2286000"/>
            <a:ext cx="1543050" cy="419100"/>
          </a:xfrm>
          <a:prstGeom prst="roundRect">
            <a:avLst>
              <a:gd name="adj" fmla="val 68182"/>
            </a:avLst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5838825" y="2400300"/>
            <a:ext cx="1009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PingFang SC"/>
                <a:ea typeface="PingFang SC"/>
              </a:rPr>
              <a:t>↻ </a:t>
            </a: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改进</a:t>
            </a:r>
            <a:r>
              <a:rPr lang="en-US" sz="1200" b="1">
                <a:solidFill>
                  <a:srgbClr val="FFFFFF"/>
                </a:solidFill>
                <a:latin typeface="PingFang SC"/>
                <a:ea typeface="PingFang SC"/>
              </a:rPr>
              <a:t> REVISE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7267575" y="2286000"/>
            <a:ext cx="1428750" cy="419100"/>
          </a:xfrm>
          <a:prstGeom prst="roundRect">
            <a:avLst>
              <a:gd name="adj" fmla="val 68182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7534275" y="2400300"/>
            <a:ext cx="895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PingFang SC"/>
                <a:ea typeface="PingFang SC"/>
              </a:rPr>
              <a:t>■ </a:t>
            </a:r>
            <a:r>
              <a:rPr lang="zh-CN" sz="1200" b="1">
                <a:solidFill>
                  <a:srgbClr val="FFFFFF"/>
                </a:solidFill>
                <a:latin typeface="PingFang SC"/>
                <a:ea typeface="PingFang SC"/>
              </a:rPr>
              <a:t>停止</a:t>
            </a:r>
            <a:r>
              <a:rPr lang="en-US" sz="1200" b="1">
                <a:solidFill>
                  <a:srgbClr val="FFFFFF"/>
                </a:solidFill>
                <a:latin typeface="PingFang SC"/>
                <a:ea typeface="PingFang SC"/>
              </a:rPr>
              <a:t> STOP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0" y="2705100"/>
            <a:ext cx="12192000" cy="485775"/>
          </a:xfrm>
          <a:prstGeom prst="rect"/>
        </p:spPr>
        <p:txBody>
          <a:bodyPr wrap="none" lIns="457200" tIns="128588" rIns="457200" bIns="0"/>
          <a:p>
            <a:pPr algn="ctr">
              <a:lnSpc>
                <a:spcPct val="160000"/>
              </a:lnSpc>
            </a:pP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每一环都产出证据；真实使用数据驱动“继续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改进</a:t>
            </a:r>
            <a:r>
              <a:rPr lang="en-US" sz="1275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1275">
                <a:solidFill>
                  <a:srgbClr val="64748B"/>
                </a:solidFill>
                <a:latin typeface="PingFang SC"/>
                <a:ea typeface="PingFang SC"/>
              </a:rPr>
              <a:t>停止”决策，并回流到计划与构建，形成闭环。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08 / 20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13" name="" descr="&lt;Slide style={{ width: '1280px', height: '720px', background: '#0E1B2E', fontFamily: &quot;'PingFang SC','Microsoft YaHei','Helvetica Neue',sans-serif&quot;, overflow: 'hidden' }}&gt;&#10;  &lt;Box style={{ position: 'absolute', bottom: -120, left: -100, width: 520, height: 520, borderRadius: 260, background: 'linear-gradient(135deg,#16335B 0%,#2E6DB4 100%)', opacity: 0.22 }} /&gt;&#10;  &lt;Box style={{ position: 'absolute', top: 0, bottom: 0, left: 64, justifyContent: 'center' }}&gt;&#10;    &lt;Text style={{ fontSize: 120, fontWeight: 'bold', color: '#1E3A5F' }}&gt;03&lt;/Text&gt;&#10;  &lt;/Box&gt;&#10;  &lt;Box style={{ position: 'absolute', top: 0, bottom: 0, left: 280, justifyContent: 'center' }}&gt;&#10;    &lt;Text style={{ fontSize: 22, color: '#5FA8E6', fontWeight: 'bold', letterSpacing: 4 }}&gt;CHAPTER THREE&lt;/Text&gt;&#10;    &lt;Text style={{ fontSize: 56, fontWeight: 'bold', color: '#FFFFFF', marginTop: 14 }}&gt;两项关键能力突破&lt;/Text&gt;&#10;    &lt;Box style={{ width: 120, height: 6, background: 'linear-gradient(90deg,#2E6DB4,#D7263D)', marginTop: 24, borderRadius: 3 }} /&gt;&#10;    &lt;Text style={{ fontSize: 22, color: '#CBD5E1', marginTop: 22 }}&gt;受监管的自进化 · Hive 多智能体架构&lt;/Text&gt;&#10;  &lt;/Box&gt;&#10;  &lt;Box style={{ position: 'absolute', bottom: 36, left: 64, right: 64, flexDirection: 'row', justifyContent: 'space-between', alignItems: 'center' }}&gt;&#10;    &lt;Text style={{ fontSize: 14, color: '#64748B' }}&gt;Regent 系统介绍 · 树米科技&lt;/Text&gt;&#10;    &lt;Text style={{ fontSize: 14, color: '#64748B' }}&gt;09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-952500" y="3048000"/>
            <a:ext cx="4953000" cy="4953000"/>
          </a:xfrm>
          <a:custGeom>
            <a:pathLst>
              <a:path w="520" h="520">
                <a:moveTo>
                  <a:pt x="267" y="0"/>
                </a:moveTo>
                <a:lnTo>
                  <a:pt x="273" y="0"/>
                </a:lnTo>
                <a:lnTo>
                  <a:pt x="280" y="1"/>
                </a:lnTo>
                <a:lnTo>
                  <a:pt x="287" y="1"/>
                </a:lnTo>
                <a:lnTo>
                  <a:pt x="293" y="2"/>
                </a:lnTo>
                <a:lnTo>
                  <a:pt x="300" y="3"/>
                </a:lnTo>
                <a:lnTo>
                  <a:pt x="306" y="4"/>
                </a:lnTo>
                <a:lnTo>
                  <a:pt x="312" y="5"/>
                </a:lnTo>
                <a:lnTo>
                  <a:pt x="319" y="7"/>
                </a:lnTo>
                <a:lnTo>
                  <a:pt x="325" y="8"/>
                </a:lnTo>
                <a:lnTo>
                  <a:pt x="331" y="10"/>
                </a:lnTo>
                <a:lnTo>
                  <a:pt x="337" y="12"/>
                </a:lnTo>
                <a:lnTo>
                  <a:pt x="343" y="14"/>
                </a:lnTo>
                <a:lnTo>
                  <a:pt x="349" y="16"/>
                </a:lnTo>
                <a:lnTo>
                  <a:pt x="355" y="18"/>
                </a:lnTo>
                <a:lnTo>
                  <a:pt x="361" y="20"/>
                </a:lnTo>
                <a:lnTo>
                  <a:pt x="367" y="23"/>
                </a:lnTo>
                <a:lnTo>
                  <a:pt x="373" y="26"/>
                </a:lnTo>
                <a:lnTo>
                  <a:pt x="378" y="28"/>
                </a:lnTo>
                <a:lnTo>
                  <a:pt x="384" y="31"/>
                </a:lnTo>
                <a:lnTo>
                  <a:pt x="389" y="34"/>
                </a:lnTo>
                <a:lnTo>
                  <a:pt x="395" y="38"/>
                </a:lnTo>
                <a:lnTo>
                  <a:pt x="400" y="41"/>
                </a:lnTo>
                <a:lnTo>
                  <a:pt x="405" y="44"/>
                </a:lnTo>
                <a:lnTo>
                  <a:pt x="410" y="48"/>
                </a:lnTo>
                <a:lnTo>
                  <a:pt x="416" y="52"/>
                </a:lnTo>
                <a:lnTo>
                  <a:pt x="420" y="55"/>
                </a:lnTo>
                <a:lnTo>
                  <a:pt x="425" y="59"/>
                </a:lnTo>
                <a:lnTo>
                  <a:pt x="430" y="63"/>
                </a:lnTo>
                <a:lnTo>
                  <a:pt x="435" y="68"/>
                </a:lnTo>
                <a:lnTo>
                  <a:pt x="439" y="72"/>
                </a:lnTo>
                <a:lnTo>
                  <a:pt x="444" y="76"/>
                </a:lnTo>
                <a:lnTo>
                  <a:pt x="448" y="81"/>
                </a:lnTo>
                <a:lnTo>
                  <a:pt x="452" y="85"/>
                </a:lnTo>
                <a:lnTo>
                  <a:pt x="457" y="90"/>
                </a:lnTo>
                <a:lnTo>
                  <a:pt x="461" y="95"/>
                </a:lnTo>
                <a:lnTo>
                  <a:pt x="465" y="100"/>
                </a:lnTo>
                <a:lnTo>
                  <a:pt x="468" y="104"/>
                </a:lnTo>
                <a:lnTo>
                  <a:pt x="472" y="110"/>
                </a:lnTo>
                <a:lnTo>
                  <a:pt x="476" y="115"/>
                </a:lnTo>
                <a:lnTo>
                  <a:pt x="479" y="120"/>
                </a:lnTo>
                <a:lnTo>
                  <a:pt x="482" y="125"/>
                </a:lnTo>
                <a:lnTo>
                  <a:pt x="486" y="131"/>
                </a:lnTo>
                <a:lnTo>
                  <a:pt x="489" y="136"/>
                </a:lnTo>
                <a:lnTo>
                  <a:pt x="492" y="142"/>
                </a:lnTo>
                <a:lnTo>
                  <a:pt x="494" y="147"/>
                </a:lnTo>
                <a:lnTo>
                  <a:pt x="497" y="153"/>
                </a:lnTo>
                <a:lnTo>
                  <a:pt x="500" y="159"/>
                </a:lnTo>
                <a:lnTo>
                  <a:pt x="502" y="165"/>
                </a:lnTo>
                <a:lnTo>
                  <a:pt x="504" y="171"/>
                </a:lnTo>
                <a:lnTo>
                  <a:pt x="506" y="177"/>
                </a:lnTo>
                <a:lnTo>
                  <a:pt x="508" y="183"/>
                </a:lnTo>
                <a:lnTo>
                  <a:pt x="510" y="189"/>
                </a:lnTo>
                <a:lnTo>
                  <a:pt x="512" y="195"/>
                </a:lnTo>
                <a:lnTo>
                  <a:pt x="513" y="201"/>
                </a:lnTo>
                <a:lnTo>
                  <a:pt x="515" y="208"/>
                </a:lnTo>
                <a:lnTo>
                  <a:pt x="516" y="214"/>
                </a:lnTo>
                <a:lnTo>
                  <a:pt x="517" y="220"/>
                </a:lnTo>
                <a:lnTo>
                  <a:pt x="518" y="227"/>
                </a:lnTo>
                <a:lnTo>
                  <a:pt x="519" y="233"/>
                </a:lnTo>
                <a:lnTo>
                  <a:pt x="519" y="240"/>
                </a:lnTo>
                <a:lnTo>
                  <a:pt x="520" y="247"/>
                </a:lnTo>
                <a:lnTo>
                  <a:pt x="520" y="253"/>
                </a:lnTo>
                <a:lnTo>
                  <a:pt x="520" y="260"/>
                </a:lnTo>
                <a:lnTo>
                  <a:pt x="520" y="267"/>
                </a:lnTo>
                <a:lnTo>
                  <a:pt x="520" y="273"/>
                </a:lnTo>
                <a:lnTo>
                  <a:pt x="519" y="280"/>
                </a:lnTo>
                <a:lnTo>
                  <a:pt x="519" y="287"/>
                </a:lnTo>
                <a:lnTo>
                  <a:pt x="518" y="293"/>
                </a:lnTo>
                <a:lnTo>
                  <a:pt x="517" y="300"/>
                </a:lnTo>
                <a:lnTo>
                  <a:pt x="516" y="306"/>
                </a:lnTo>
                <a:lnTo>
                  <a:pt x="515" y="312"/>
                </a:lnTo>
                <a:lnTo>
                  <a:pt x="513" y="319"/>
                </a:lnTo>
                <a:lnTo>
                  <a:pt x="512" y="325"/>
                </a:lnTo>
                <a:lnTo>
                  <a:pt x="510" y="331"/>
                </a:lnTo>
                <a:lnTo>
                  <a:pt x="508" y="337"/>
                </a:lnTo>
                <a:lnTo>
                  <a:pt x="506" y="343"/>
                </a:lnTo>
                <a:lnTo>
                  <a:pt x="504" y="349"/>
                </a:lnTo>
                <a:lnTo>
                  <a:pt x="502" y="355"/>
                </a:lnTo>
                <a:lnTo>
                  <a:pt x="500" y="361"/>
                </a:lnTo>
                <a:lnTo>
                  <a:pt x="497" y="367"/>
                </a:lnTo>
                <a:lnTo>
                  <a:pt x="494" y="373"/>
                </a:lnTo>
                <a:lnTo>
                  <a:pt x="492" y="378"/>
                </a:lnTo>
                <a:lnTo>
                  <a:pt x="489" y="384"/>
                </a:lnTo>
                <a:lnTo>
                  <a:pt x="486" y="389"/>
                </a:lnTo>
                <a:lnTo>
                  <a:pt x="482" y="395"/>
                </a:lnTo>
                <a:lnTo>
                  <a:pt x="479" y="400"/>
                </a:lnTo>
                <a:lnTo>
                  <a:pt x="100" y="400"/>
                </a:lnTo>
                <a:lnTo>
                  <a:pt x="100" y="55"/>
                </a:lnTo>
                <a:lnTo>
                  <a:pt x="104" y="52"/>
                </a:lnTo>
                <a:lnTo>
                  <a:pt x="110" y="48"/>
                </a:lnTo>
                <a:lnTo>
                  <a:pt x="115" y="44"/>
                </a:lnTo>
                <a:lnTo>
                  <a:pt x="120" y="41"/>
                </a:lnTo>
                <a:lnTo>
                  <a:pt x="125" y="38"/>
                </a:lnTo>
                <a:lnTo>
                  <a:pt x="131" y="34"/>
                </a:lnTo>
                <a:lnTo>
                  <a:pt x="136" y="31"/>
                </a:lnTo>
                <a:lnTo>
                  <a:pt x="142" y="28"/>
                </a:lnTo>
                <a:lnTo>
                  <a:pt x="147" y="26"/>
                </a:lnTo>
                <a:lnTo>
                  <a:pt x="153" y="23"/>
                </a:lnTo>
                <a:lnTo>
                  <a:pt x="159" y="20"/>
                </a:lnTo>
                <a:lnTo>
                  <a:pt x="165" y="18"/>
                </a:lnTo>
                <a:lnTo>
                  <a:pt x="171" y="16"/>
                </a:lnTo>
                <a:lnTo>
                  <a:pt x="177" y="14"/>
                </a:lnTo>
                <a:lnTo>
                  <a:pt x="183" y="12"/>
                </a:lnTo>
                <a:lnTo>
                  <a:pt x="189" y="10"/>
                </a:lnTo>
                <a:lnTo>
                  <a:pt x="195" y="8"/>
                </a:lnTo>
                <a:lnTo>
                  <a:pt x="201" y="7"/>
                </a:lnTo>
                <a:lnTo>
                  <a:pt x="208" y="5"/>
                </a:lnTo>
                <a:lnTo>
                  <a:pt x="214" y="4"/>
                </a:lnTo>
                <a:lnTo>
                  <a:pt x="220" y="3"/>
                </a:lnTo>
                <a:lnTo>
                  <a:pt x="227" y="2"/>
                </a:lnTo>
                <a:lnTo>
                  <a:pt x="233" y="1"/>
                </a:lnTo>
                <a:lnTo>
                  <a:pt x="240" y="1"/>
                </a:lnTo>
                <a:lnTo>
                  <a:pt x="247" y="0"/>
                </a:lnTo>
                <a:lnTo>
                  <a:pt x="253" y="0"/>
                </a:lnTo>
                <a:lnTo>
                  <a:pt x="260" y="0"/>
                </a:lnTo>
                <a:close/>
              </a:path>
            </a:pathLst>
          </a:custGeom>
          <a:gradFill>
            <a:gsLst>
              <a:gs pos="0">
                <a:srgbClr val="16335B">
                  <a:alpha val="22000"/>
                </a:srgbClr>
              </a:gs>
              <a:gs pos="100000">
                <a:srgbClr val="2E6DB4">
                  <a:alpha val="2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09600" y="2743200"/>
            <a:ext cx="14192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E3A5F"/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2667000" y="2533650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5FA8E6"/>
                </a:solidFill>
                <a:latin typeface="PingFang SC"/>
                <a:ea typeface="PingFang SC"/>
              </a:rPr>
              <a:t>CHAPTER THREE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2667000" y="2924175"/>
            <a:ext cx="42672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PingFang SC"/>
                <a:ea typeface="PingFang SC"/>
              </a:rPr>
              <a:t>两项关键能力突破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2667000" y="3800475"/>
            <a:ext cx="1143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6DB4"/>
              </a:gs>
              <a:gs pos="100000">
                <a:srgbClr val="D726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2667000" y="4067175"/>
            <a:ext cx="426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受监管的自进化</a:t>
            </a:r>
            <a:r>
              <a:rPr lang="en-US" sz="1650">
                <a:solidFill>
                  <a:srgbClr val="CBD5E1"/>
                </a:solidFill>
                <a:latin typeface="PingFang SC"/>
                <a:ea typeface="PingFang SC"/>
              </a:rPr>
              <a:t> · Hive </a:t>
            </a: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多智能体架构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09 / 20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3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三章 · 核心能力突破&lt;/Text&gt;&#10;      &lt;Text style={{ fontSize: 34, fontWeight: 'bold', color: '#16335B', marginTop: 6 }}&gt;自进化 · 受监管的自我改进&lt;/Text&gt;&#10;    &lt;/Box&gt;&#10;    &lt;Text style={{ fontSize: 16, color: '#2E6DB4', fontWeight: 'bold', paddingTop: 10 }}&gt;10&lt;/Text&gt;&#10;  &lt;/Box&gt;&#10;&#10;  &lt;Box style={{ padding: '16px 64px 0 64px', flexDirection: 'row', gap: 36 }}&gt;&#10;    &lt;Box style={{ flex: 1.1, background: '#F5F8FC', borderRadius: 14, padding: '20px 24px', border: '1px solid #E2E8F0' }}&gt;&#10;      &lt;Text style={{ fontSize: 17, fontWeight: 'bold', color: '#16335B', marginBottom: 12 }}&gt;系统越用越聪明，且全程受监管&lt;/Text&gt;&#10;      {[&#10;        ['1', '自检缺口', '识别自身不足与可改进点'],&#10;        ['2', '提出改进', '在隔离环境生成候选方案'],&#10;        ['3', '隔离验证', '独立编译、测试，不动生产'],&#10;        ['4', '独立评审', '第三方评审，不得削弱治理'],&#10;        ['5', '人工审批', '由人决定是否采纳，绝不自作主张'],&#10;      ].map(([n, t, d], i) =&gt; (&#10;        &lt;Box key={n} style={{ flexDirection: 'row', gap: 14, alignItems: 'center', padding: '9px 0' }}&gt;&#10;          &lt;Box style={{ flex: '0 0 32px', height: 32, borderRadius: 16, background: 'linear-gradient(135deg,#16335B,#2E6DB4)', alignItems: 'center', justifyContent: 'center' }}&gt;&#10;            &lt;Text style={{ fontSize: 15, fontWeight: 'bold', color: '#FFFFFF' }}&gt;{n}&lt;/Text&gt;&#10;          &lt;/Box&gt;&#10;          &lt;Box style={{ flex: 1 }}&gt;&#10;            &lt;Text style={{ fontSize: 17, fontWeight: 'bold', color: '#1F2A37' }}&gt;{t}&lt;/Text&gt;&#10;            &lt;Text style={{ fontSize: 14, color: '#64748B' }}&gt;{d}&lt;/Text&gt;&#10;          &lt;/Box&gt;&#10;          {i &lt; 4 &amp;&amp; &lt;Text style={{ fontSize: 18, color: '#94A3B8' }}&gt;↓&lt;/Text&gt;}&#10;        &lt;/Box&gt;&#10;      ))}&#10;    &lt;/Box&gt;&#10;    &lt;Box style={{ flex: 0.9, gap: 16 }}&gt;&#10;      &lt;Box style={{ background: '#16335B', borderRadius: 14, padding: '20px 22px' }}&gt;&#10;        &lt;Text style={{ fontSize: 22, fontWeight: 'bold', color: '#F4B400' }}&gt;越用越聪明&lt;/Text&gt;&#10;        &lt;Text style={{ fontSize: 15.5, color: '#CBD5E1', marginTop: 8, lineHeight: 1.7 }}&gt;持续的自我改进机制，让系统能力随运营不断沉淀、持续进化。&lt;/Text&gt;&#10;      &lt;/Box&gt;&#10;      &lt;Box style={{ background: '#FDECEF', borderRadius: 14, padding: '20px 22px', border: '1px solid #F4C2C9' }}&gt;&#10;        &lt;Text style={{ fontSize: 20, fontWeight: 'bold', color: '#D7263D' }}&gt;绝不擅自改生产&lt;/Text&gt;&#10;        &lt;Text style={{ fontSize: 15.5, color: '#7A2530', marginTop: 8, lineHeight: 1.7 }}&gt;候选只停留在隔离副本；必须人工批准，才进入另行授权的实现步骤。&lt;/Text&gt;&#10;      &lt;/Box&gt;&#10;      &lt;Box style={{ background: '#E8F0FA', borderRadius: 14, padding: '20px 22px' }}&gt;&#10;        &lt;Text style={{ fontSize: 20, fontWeight: 'bold', color: '#2E6DB4' }}&gt;治理只增不减&lt;/Text&gt;&#10;        &lt;Text style={{ fontSize: 15.5, color: '#1F2A37', marginTop: 8, lineHeight: 1.7 }}&gt;评审明确禁止削弱权限、审计、安全与测试——升级不降级。&lt;/Text&gt;&#10;      &lt;/Box&gt;&#10;    &lt;/Box&gt;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10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390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第三章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核心能力突破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3905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自进化</a:t>
            </a:r>
            <a:r>
              <a:rPr lang="en-US" sz="2550" b="1">
                <a:solidFill>
                  <a:srgbClr val="16335B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受监管的自我改进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10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09600" y="1295400"/>
            <a:ext cx="5848350" cy="3609975"/>
          </a:xfrm>
          <a:prstGeom prst="roundRect">
            <a:avLst>
              <a:gd name="adj" fmla="val 3694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38200" y="1485900"/>
            <a:ext cx="539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335B"/>
                </a:solidFill>
                <a:latin typeface="PingFang SC"/>
                <a:ea typeface="PingFang SC"/>
              </a:rPr>
              <a:t>系统越用越聪明，且全程受监管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838200" y="1914525"/>
            <a:ext cx="304800" cy="30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42975" y="19812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1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276350" y="1885950"/>
            <a:ext cx="4733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A37"/>
                </a:solidFill>
                <a:latin typeface="PingFang SC"/>
                <a:ea typeface="PingFang SC"/>
              </a:rPr>
              <a:t>自检缺口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276350" y="2085975"/>
            <a:ext cx="4733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识别自身不足与可改进点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143625" y="19621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PingFang SC"/>
                <a:ea typeface="PingFang SC"/>
              </a:rPr>
              <a:t>↓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838200" y="2447925"/>
            <a:ext cx="304800" cy="30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42975" y="25146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2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276350" y="2419350"/>
            <a:ext cx="4733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A37"/>
                </a:solidFill>
                <a:latin typeface="PingFang SC"/>
                <a:ea typeface="PingFang SC"/>
              </a:rPr>
              <a:t>提出改进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276350" y="2619375"/>
            <a:ext cx="4733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在隔离环境生成候选方案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143625" y="24955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PingFang SC"/>
                <a:ea typeface="PingFang SC"/>
              </a:rPr>
              <a:t>↓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838200" y="2981325"/>
            <a:ext cx="304800" cy="30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42975" y="30480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3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276350" y="2952750"/>
            <a:ext cx="4733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A37"/>
                </a:solidFill>
                <a:latin typeface="PingFang SC"/>
                <a:ea typeface="PingFang SC"/>
              </a:rPr>
              <a:t>隔离验证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276350" y="3152775"/>
            <a:ext cx="4733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独立编译、测试，不动生产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143625" y="30289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PingFang SC"/>
                <a:ea typeface="PingFang SC"/>
              </a:rPr>
              <a:t>↓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838200" y="3514725"/>
            <a:ext cx="304800" cy="30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942975" y="35814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4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276350" y="3486150"/>
            <a:ext cx="4733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A37"/>
                </a:solidFill>
                <a:latin typeface="PingFang SC"/>
                <a:ea typeface="PingFang SC"/>
              </a:rPr>
              <a:t>独立评审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276350" y="3686175"/>
            <a:ext cx="4733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第三方评审，不得削弱治理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143625" y="35623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94A3B8"/>
                </a:solidFill>
                <a:latin typeface="PingFang SC"/>
                <a:ea typeface="PingFang SC"/>
              </a:rPr>
              <a:t>↓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838200" y="4048125"/>
            <a:ext cx="304800" cy="3048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42975" y="411480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5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276350" y="401955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2A37"/>
                </a:solidFill>
                <a:latin typeface="PingFang SC"/>
                <a:ea typeface="PingFang SC"/>
              </a:rPr>
              <a:t>人工审批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276350" y="4219575"/>
            <a:ext cx="4953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由人决定是否采纳，绝不自作主张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800850" y="1295400"/>
            <a:ext cx="4781550" cy="1019175"/>
          </a:xfrm>
          <a:prstGeom prst="roundRect">
            <a:avLst>
              <a:gd name="adj" fmla="val 13084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010400" y="1485900"/>
            <a:ext cx="4362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4B400"/>
                </a:solidFill>
                <a:latin typeface="PingFang SC"/>
                <a:ea typeface="PingFang SC"/>
              </a:rPr>
              <a:t>越用越聪明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010400" y="1819275"/>
            <a:ext cx="4362450" cy="3048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CBD5E1"/>
                </a:solidFill>
                <a:latin typeface="PingFang SC"/>
                <a:ea typeface="PingFang SC"/>
              </a:rPr>
              <a:t>持续的自我改进机制，让系统能力随运营不断沉淀、持续进化。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800850" y="2466975"/>
            <a:ext cx="4781550" cy="1295400"/>
          </a:xfrm>
          <a:prstGeom prst="roundRect">
            <a:avLst>
              <a:gd name="adj" fmla="val 10294"/>
            </a:avLst>
          </a:prstGeom>
          <a:solidFill>
            <a:srgbClr val="FDECEF"/>
          </a:solidFill>
          <a:ln w="12700">
            <a:solidFill>
              <a:srgbClr val="F4C2C9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010400" y="2657475"/>
            <a:ext cx="4362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7263D"/>
                </a:solidFill>
                <a:latin typeface="PingFang SC"/>
                <a:ea typeface="PingFang SC"/>
              </a:rPr>
              <a:t>绝不擅自改生产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010400" y="2962275"/>
            <a:ext cx="43624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7A2530"/>
                </a:solidFill>
                <a:latin typeface="PingFang SC"/>
                <a:ea typeface="PingFang SC"/>
              </a:rPr>
              <a:t>候选只停留在隔离副本；必须人工批准，才进入另行授权的实现步骤。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800850" y="3914775"/>
            <a:ext cx="4781550" cy="990600"/>
          </a:xfrm>
          <a:prstGeom prst="roundRect">
            <a:avLst>
              <a:gd name="adj" fmla="val 13462"/>
            </a:avLst>
          </a:prstGeom>
          <a:solidFill>
            <a:srgbClr val="E8F0FA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010400" y="4105275"/>
            <a:ext cx="4362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E6DB4"/>
                </a:solidFill>
                <a:latin typeface="PingFang SC"/>
                <a:ea typeface="PingFang SC"/>
              </a:rPr>
              <a:t>治理只增不减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010400" y="4410075"/>
            <a:ext cx="4362450" cy="3048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1F2A37"/>
                </a:solidFill>
                <a:latin typeface="PingFang SC"/>
                <a:ea typeface="PingFang SC"/>
              </a:rPr>
              <a:t>评审明确禁止削弱权限、审计、安全与测试——升级不降级。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10 / 20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6" name="" descr="&lt;Slide style={{ width: '1280px', height: '720px', background: '#FFFFFF', fontFamily: 'PingFang SC, Microsoft YaHei, Helvetica Neue, sans-serif'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三章 · 核心能力突破&lt;/Text&gt;&#10;      &lt;Text style={{ fontSize: 34, fontWeight: 'bold', color: '#16335B', marginTop: 6 }}&gt;Hive 多智能体架构&lt;/Text&gt;&#10;    &lt;/Box&gt;&#10;    &lt;Text style={{ fontSize: 16, color: '#2E6DB4', fontWeight: 'bold', paddingTop: 10 }}&gt;11&lt;/Text&gt;&#10;  &lt;/Box&gt;&#10;&#10;  &lt;Box style={{ padding: '14px 64px 0 64px', flexDirection: 'row', gap: 36 }}&gt;&#10;    &lt;Box style={{ flex: 1 }}&gt;&#10;      &lt;Text style={{ fontSize: 18, color: '#1F2A37', lineHeight: 1.8 }}&gt;面对复杂任务，Regent 不像「一个人硬扛」，而是&lt;span style={{ color: '#16335B', fontWeight: 'bold' }}&gt;按需组建一支 AI 团队&lt;/span&gt;：由「产品经理」拆解需求，「开发」实现，「独立 QA」把关质量，彼此分工、互相校验。&lt;/Text&gt;&#10;      &lt;Text style={{ fontSize: 18, color: '#1F2A37', lineHeight: 1.8, marginTop: 14 }}&gt;更关键的是：多智能体是&lt;span style={{ color: '#16335B', fontWeight: 'bold' }}&gt;需要经过数据验证的候选增益&lt;/span&gt;，而非默认架构——系统会如实比较「单兵」与「团队」的净收益，用证据说话，&lt;span style={{ color: '#D7263D', fontWeight: 'bold' }}&gt;绝不盲目堆 Agent&lt;/span&gt;。&lt;/Text&gt;&#10;    &lt;/Box&gt;&#10;    &lt;Box style={{ flex: 1, background: '#F5F8FC', borderRadius: 14, padding: '22px 24px', border: '1px solid #E2E8F0' }}&gt;&#10;      &lt;Text style={{ fontSize: 17, fontWeight: 'bold', color: '#16335B', marginBottom: 14, textAlign: 'center' }}&gt;一个任务的 AI 团队&lt;/Text&gt;&#10;      {[&#10;        ['PM', '产品经理', '拆解目标、定标准、把关', '#16335B'],&#10;        ['DEV', '开发', '生成与构建应用', '#2E6DB4'],&#10;        ['QA', '独立质检', '独立验证、不放松', '#D7263D'],&#10;      ].map(([tag, role, d, c], i) =&gt; (&#10;        &lt;Box key={tag}&gt;&#10;          &lt;Box style={{ flexDirection: 'row', alignItems: 'center', gap: 14, background: '#FFFFFF', borderRadius: 12, padding: '14px 18px', border: '1px solid #E2E8F0' }}&gt;&#10;            &lt;Box style={{ width: 54, height: 40, borderRadius: 9, background: c, alignItems: 'center', justifyContent: 'center' }}&gt;&#10;              &lt;Text style={{ fontSize: 15, fontWeight: 'bold', color: '#FFFFFF' }}&gt;{tag}&lt;/Text&gt;&#10;            &lt;/Box&gt;&#10;            &lt;Box&gt;&#10;              &lt;Text style={{ fontSize: 18, fontWeight: 'bold', color: '#1F2A37' }}&gt;{role}&lt;/Text&gt;&#10;              &lt;Text style={{ fontSize: 14, color: '#64748B' }}&gt;{d}&lt;/Text&gt;&#10;            &lt;/Box&gt;&#10;          &lt;/Box&gt;&#10;          {i &lt; 2 &amp;&amp; &lt;Text style={{ fontSize: 18, color: '#94A3B8', textAlign: 'center', margin: '6px 0' }}&gt;↓ 分工协作 · 互相校验&lt;/Text&gt;}&#10;        &lt;/Box&gt;&#10;      ))}&#10;    &lt;/Box&gt;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11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2781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第三章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核心能力突破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2781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335B"/>
                </a:solidFill>
                <a:latin typeface="PingFang SC"/>
                <a:ea typeface="PingFang SC"/>
              </a:rPr>
              <a:t>Hive </a:t>
            </a: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多智能体架构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11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531495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>
                <a:solidFill>
                  <a:srgbClr val="1F2A37"/>
                </a:solidFill>
                <a:latin typeface="PingFang SC"/>
                <a:ea typeface="PingFang SC"/>
              </a:rPr>
              <a:t>面对复杂任务，</a:t>
            </a:r>
            <a:r>
              <a:rPr lang="en-US" sz="1350">
                <a:solidFill>
                  <a:srgbClr val="1F2A37"/>
                </a:solidFill>
                <a:latin typeface="PingFang SC"/>
                <a:ea typeface="PingFang SC"/>
              </a:rPr>
              <a:t>Regent </a:t>
            </a:r>
            <a:r>
              <a:rPr lang="zh-CN" sz="1350">
                <a:solidFill>
                  <a:srgbClr val="1F2A37"/>
                </a:solidFill>
                <a:latin typeface="PingFang SC"/>
                <a:ea typeface="PingFang SC"/>
              </a:rPr>
              <a:t>不像「一个人硬扛」，而是</a:t>
            </a:r>
            <a:r>
              <a:rPr lang="zh-CN" sz="1350" b="1">
                <a:solidFill>
                  <a:srgbClr val="16335B"/>
                </a:solidFill>
                <a:latin typeface="PingFang SC"/>
                <a:ea typeface="PingFang SC"/>
              </a:rPr>
              <a:t>按需组建一支</a:t>
            </a:r>
            <a:r>
              <a:rPr lang="en-US" sz="1350" b="1">
                <a:solidFill>
                  <a:srgbClr val="16335B"/>
                </a:solidFill>
                <a:latin typeface="PingFang SC"/>
                <a:ea typeface="PingFang SC"/>
              </a:rPr>
              <a:t> AI </a:t>
            </a:r>
            <a:r>
              <a:rPr lang="zh-CN" sz="1350" b="1">
                <a:solidFill>
                  <a:srgbClr val="16335B"/>
                </a:solidFill>
                <a:latin typeface="PingFang SC"/>
                <a:ea typeface="PingFang SC"/>
              </a:rPr>
              <a:t>团队</a:t>
            </a:r>
            <a:r>
              <a:rPr lang="zh-CN" sz="1350">
                <a:solidFill>
                  <a:srgbClr val="1F2A37"/>
                </a:solidFill>
                <a:latin typeface="PingFang SC"/>
                <a:ea typeface="PingFang SC"/>
              </a:rPr>
              <a:t>：由「产品经理」拆解需求，「开发」实现，「独立</a:t>
            </a:r>
            <a:r>
              <a:rPr lang="en-US" sz="1350">
                <a:solidFill>
                  <a:srgbClr val="1F2A37"/>
                </a:solidFill>
                <a:latin typeface="PingFang SC"/>
                <a:ea typeface="PingFang SC"/>
              </a:rPr>
              <a:t> QA</a:t>
            </a:r>
            <a:r>
              <a:rPr lang="zh-CN" sz="1350">
                <a:solidFill>
                  <a:srgbClr val="1F2A37"/>
                </a:solidFill>
                <a:latin typeface="PingFang SC"/>
                <a:ea typeface="PingFang SC"/>
              </a:rPr>
              <a:t>」把关质量，彼此分工、互相校验。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531495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>
                <a:solidFill>
                  <a:srgbClr val="1F2A37"/>
                </a:solidFill>
                <a:latin typeface="PingFang SC"/>
                <a:ea typeface="PingFang SC"/>
              </a:rPr>
              <a:t>更关键的是：多智能体是</a:t>
            </a:r>
            <a:r>
              <a:rPr lang="zh-CN" sz="1350" b="1">
                <a:solidFill>
                  <a:srgbClr val="16335B"/>
                </a:solidFill>
                <a:latin typeface="PingFang SC"/>
                <a:ea typeface="PingFang SC"/>
              </a:rPr>
              <a:t>需要经过数据验证的候选增益</a:t>
            </a:r>
            <a:r>
              <a:rPr lang="zh-CN" sz="1350">
                <a:solidFill>
                  <a:srgbClr val="1F2A37"/>
                </a:solidFill>
                <a:latin typeface="PingFang SC"/>
                <a:ea typeface="PingFang SC"/>
              </a:rPr>
              <a:t>，而非默认架构——系统会如实比较「单兵」与「团队」的净收益，用证据说话，</a:t>
            </a:r>
            <a:r>
              <a:rPr lang="zh-CN" sz="1350" b="1">
                <a:solidFill>
                  <a:srgbClr val="D7263D"/>
                </a:solidFill>
                <a:latin typeface="PingFang SC"/>
                <a:ea typeface="PingFang SC"/>
              </a:rPr>
              <a:t>绝不盲目堆</a:t>
            </a:r>
            <a:r>
              <a:rPr lang="en-US" sz="1350" b="1">
                <a:solidFill>
                  <a:srgbClr val="D7263D"/>
                </a:solidFill>
                <a:latin typeface="PingFang SC"/>
                <a:ea typeface="PingFang SC"/>
              </a:rPr>
              <a:t> Agent</a:t>
            </a:r>
            <a:r>
              <a:rPr lang="zh-CN" sz="1350">
                <a:solidFill>
                  <a:srgbClr val="1F2A37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267450" y="1276350"/>
            <a:ext cx="5314950" cy="3343275"/>
          </a:xfrm>
          <a:prstGeom prst="roundRect">
            <a:avLst>
              <a:gd name="adj" fmla="val 3989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496050" y="1485900"/>
            <a:ext cx="4857750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75" b="1">
                <a:solidFill>
                  <a:srgbClr val="16335B"/>
                </a:solidFill>
                <a:latin typeface="PingFang SC"/>
                <a:ea typeface="PingFang SC"/>
              </a:rPr>
              <a:t>一个任务的</a:t>
            </a:r>
            <a:r>
              <a:rPr lang="en-US" sz="1275" b="1">
                <a:solidFill>
                  <a:srgbClr val="16335B"/>
                </a:solidFill>
                <a:latin typeface="PingFang SC"/>
                <a:ea typeface="PingFang SC"/>
              </a:rPr>
              <a:t> AI </a:t>
            </a:r>
            <a:r>
              <a:rPr lang="zh-CN" sz="1275" b="1">
                <a:solidFill>
                  <a:srgbClr val="16335B"/>
                </a:solidFill>
                <a:latin typeface="PingFang SC"/>
                <a:ea typeface="PingFang SC"/>
              </a:rPr>
              <a:t>团队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496050" y="1819275"/>
            <a:ext cx="485775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6667500" y="1952625"/>
            <a:ext cx="514350" cy="381000"/>
          </a:xfrm>
          <a:prstGeom prst="roundRect">
            <a:avLst>
              <a:gd name="adj" fmla="val 22500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00850" y="205740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PM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315200" y="1962150"/>
            <a:ext cx="1466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产品经理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315200" y="2171700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拆解目标、定标准、把关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496050" y="2524125"/>
            <a:ext cx="48577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>
                <a:solidFill>
                  <a:srgbClr val="94A3B8"/>
                </a:solidFill>
                <a:latin typeface="PingFang SC"/>
                <a:ea typeface="PingFang SC"/>
              </a:rPr>
              <a:t>↓ </a:t>
            </a:r>
            <a:r>
              <a:rPr lang="zh-CN" sz="1350">
                <a:solidFill>
                  <a:srgbClr val="94A3B8"/>
                </a:solidFill>
                <a:latin typeface="PingFang SC"/>
                <a:ea typeface="PingFang SC"/>
              </a:rPr>
              <a:t>分工协作</a:t>
            </a:r>
            <a:r>
              <a:rPr lang="en-US" sz="1350">
                <a:solidFill>
                  <a:srgbClr val="94A3B8"/>
                </a:solidFill>
                <a:latin typeface="PingFang SC"/>
                <a:ea typeface="PingFang SC"/>
              </a:rPr>
              <a:t> · </a:t>
            </a:r>
            <a:r>
              <a:rPr lang="zh-CN" sz="1350">
                <a:solidFill>
                  <a:srgbClr val="94A3B8"/>
                </a:solidFill>
                <a:latin typeface="PingFang SC"/>
                <a:ea typeface="PingFang SC"/>
              </a:rPr>
              <a:t>互相校验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496050" y="2790825"/>
            <a:ext cx="485775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6667500" y="2924175"/>
            <a:ext cx="514350" cy="381000"/>
          </a:xfrm>
          <a:prstGeom prst="roundRect">
            <a:avLst>
              <a:gd name="adj" fmla="val 22500"/>
            </a:avLst>
          </a:prstGeom>
          <a:solidFill>
            <a:srgbClr val="2E6DB4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772275" y="3028950"/>
            <a:ext cx="304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DEV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315200" y="2933700"/>
            <a:ext cx="933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开发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315200" y="3143250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生成与构建应用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496050" y="3495675"/>
            <a:ext cx="48577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350">
                <a:solidFill>
                  <a:srgbClr val="94A3B8"/>
                </a:solidFill>
                <a:latin typeface="PingFang SC"/>
                <a:ea typeface="PingFang SC"/>
              </a:rPr>
              <a:t>↓ </a:t>
            </a:r>
            <a:r>
              <a:rPr lang="zh-CN" sz="1350">
                <a:solidFill>
                  <a:srgbClr val="94A3B8"/>
                </a:solidFill>
                <a:latin typeface="PingFang SC"/>
                <a:ea typeface="PingFang SC"/>
              </a:rPr>
              <a:t>分工协作</a:t>
            </a:r>
            <a:r>
              <a:rPr lang="en-US" sz="1350">
                <a:solidFill>
                  <a:srgbClr val="94A3B8"/>
                </a:solidFill>
                <a:latin typeface="PingFang SC"/>
                <a:ea typeface="PingFang SC"/>
              </a:rPr>
              <a:t> · </a:t>
            </a:r>
            <a:r>
              <a:rPr lang="zh-CN" sz="1350">
                <a:solidFill>
                  <a:srgbClr val="94A3B8"/>
                </a:solidFill>
                <a:latin typeface="PingFang SC"/>
                <a:ea typeface="PingFang SC"/>
              </a:rPr>
              <a:t>互相校验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496050" y="3762375"/>
            <a:ext cx="485775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6667500" y="3895725"/>
            <a:ext cx="514350" cy="381000"/>
          </a:xfrm>
          <a:prstGeom prst="roundRect">
            <a:avLst>
              <a:gd name="adj" fmla="val 22500"/>
            </a:avLst>
          </a:prstGeom>
          <a:solidFill>
            <a:srgbClr val="D7263D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810375" y="4000500"/>
            <a:ext cx="22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PingFang SC"/>
                <a:ea typeface="PingFang SC"/>
              </a:rPr>
              <a:t>QA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315200" y="3905250"/>
            <a:ext cx="1066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独立质检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315200" y="41148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独立验证、不放松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11 / 20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5" name="" descr="&lt;Slide style={{ width: '1280px', height: '720px', background: '#0E1B2E', fontFamily: &quot;'PingFang SC','Microsoft YaHei','Helvetica Neue',sans-serif&quot;, overflow: 'hidden' }}&gt;&#10;  &lt;Box style={{ position: 'absolute', top: -120, right: -100, width: 520, height: 520, borderRadius: 260, background: 'linear-gradient(135deg,#16335B 0%,#2E6DB4 100%)', opacity: 0.22 }} /&gt;&#10;  &lt;Box style={{ position: 'absolute', top: 0, bottom: 0, left: 64, justifyContent: 'center' }}&gt;&#10;    &lt;Text style={{ fontSize: 120, fontWeight: 'bold', color: '#1E3A5F' }}&gt;04&lt;/Text&gt;&#10;  &lt;/Box&gt;&#10;  &lt;Box style={{ position: 'absolute', top: 0, bottom: 0, left: 280, justifyContent: 'center' }}&gt;&#10;    &lt;Text style={{ fontSize: 22, color: '#5FA8E6', fontWeight: 'bold', letterSpacing: 4 }}&gt;CHAPTER FOUR&lt;/Text&gt;&#10;    &lt;Text style={{ fontSize: 54, fontWeight: 'bold', color: '#FFFFFF', marginTop: 14 }}&gt;领导最关心的&lt;/Text&gt;&#10;    &lt;Text style={{ fontSize: 54, fontWeight: 'bold', color: '#FFFFFF', marginTop: 4 }}&gt;安全 · 可信 · 合规&lt;/Text&gt;&#10;    &lt;Box style={{ width: 120, height: 6, background: 'linear-gradient(90deg,#2E6DB4,#D7263D)', marginTop: 24, borderRadius: 3 }} /&gt;&#10;    &lt;Text style={{ fontSize: 22, color: '#CBD5E1', marginTop: 22 }}&gt;把“可控、可信”刻进系统骨子里&lt;/Text&gt;&#10;  &lt;/Box&gt;&#10;  &lt;Box style={{ position: 'absolute', bottom: 36, left: 64, right: 64, flexDirection: 'row', justifyContent: 'space-between', alignItems: 'center' }}&gt;&#10;    &lt;Text style={{ fontSize: 14, color: '#64748B' }}&gt;Regent 系统介绍 · 树米科技&lt;/Text&gt;&#10;    &lt;Text style={{ fontSize: 14, color: '#64748B' }}&gt;12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8191500" y="-1143000"/>
            <a:ext cx="4953000" cy="4953000"/>
          </a:xfrm>
          <a:custGeom>
            <a:pathLst>
              <a:path w="520" h="520">
                <a:moveTo>
                  <a:pt x="420" y="465"/>
                </a:moveTo>
                <a:lnTo>
                  <a:pt x="416" y="468"/>
                </a:lnTo>
                <a:lnTo>
                  <a:pt x="410" y="472"/>
                </a:lnTo>
                <a:lnTo>
                  <a:pt x="405" y="476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31" y="136"/>
                </a:lnTo>
                <a:lnTo>
                  <a:pt x="34" y="131"/>
                </a:lnTo>
                <a:lnTo>
                  <a:pt x="38" y="125"/>
                </a:lnTo>
                <a:lnTo>
                  <a:pt x="41" y="120"/>
                </a:lnTo>
                <a:lnTo>
                  <a:pt x="420" y="120"/>
                </a:lnTo>
                <a:close/>
              </a:path>
            </a:pathLst>
          </a:custGeom>
          <a:gradFill>
            <a:gsLst>
              <a:gs pos="0">
                <a:srgbClr val="16335B">
                  <a:alpha val="22000"/>
                </a:srgbClr>
              </a:gs>
              <a:gs pos="100000">
                <a:srgbClr val="2E6DB4">
                  <a:alpha val="2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2743200"/>
            <a:ext cx="14192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E3A5F"/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2667000" y="2219325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5FA8E6"/>
                </a:solidFill>
                <a:latin typeface="PingFang SC"/>
                <a:ea typeface="PingFang SC"/>
              </a:rPr>
              <a:t>CHAPTER FOUR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2667000" y="2609850"/>
            <a:ext cx="41529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领导最关心的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2667000" y="3267075"/>
            <a:ext cx="41529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安全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可信</a:t>
            </a:r>
            <a:r>
              <a:rPr lang="en-US" sz="405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4050" b="1">
                <a:solidFill>
                  <a:srgbClr val="FFFFFF"/>
                </a:solidFill>
                <a:latin typeface="PingFang SC"/>
                <a:ea typeface="PingFang SC"/>
              </a:rPr>
              <a:t>合规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2667000" y="4114800"/>
            <a:ext cx="1143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6DB4"/>
              </a:gs>
              <a:gs pos="100000">
                <a:srgbClr val="D726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2667000" y="4381500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把“可控、可信”刻进系统骨子里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12 / 20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6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四章 · 安全与治理&lt;/Text&gt;&#10;      &lt;Text style={{ fontSize: 34, fontWeight: 'bold', color: '#16335B', marginTop: 6 }}&gt;安全可信合规 · 六道防线&lt;/Text&gt;&#10;    &lt;/Box&gt;&#10;    &lt;Text style={{ fontSize: 16, color: '#2E6DB4', fontWeight: 'bold', paddingTop: 10 }}&gt;13&lt;/Text&gt;&#10;  &lt;/Box&gt;&#10;&#10;  &lt;Box style={{ padding: '16px 64px 0 64px', flexDirection: 'row', flexWrap: 'wrap', gap: 16 }}&gt;&#10;    {[&#10;      ['🔐', '边界可控', '高风险动作（发布、外部影响）必须人工审批，不能“自己说了算”。'],&#10;      ['🗝', '凭据不落地', '系统不接触明文密钥，权限按需、按时下发，杜绝泄漏。'],&#10;      ['🧾', '全程可审计', '每一步可追溯、可回放，谁在何时做了什么，责任清晰。'],&#10;      ['🛡', '数据不泄露', '外部内容默认不可信，敏感信息最小化采集与保留。'],&#10;      ['🛑', '失败即止损', '重复副作用 / 未对账 / 安全违规，系统立即停，不将错就错。'],&#10;      ['✅', '独立验证', '用真实结果验收，不用“内部自测”糊弄过关。'],&#10;    ].map(([ic, t, d], i) =&gt; (&#10;      &lt;Box key={i} style={{ width: 'calc(50% - 8px)', background: '#F5F8FC', border: '1px solid #E2E8F0', borderRadius: 14, padding: '18px 20px', flexDirection: 'row', gap: 14, alignItems: 'flex-start' }}&gt;&#10;        &lt;Text style={{ fontSize: 30 }}&gt;{ic}&lt;/Text&gt;&#10;        &lt;Box&gt;&#10;          &lt;Text style={{ fontSize: 19, fontWeight: 'bold', color: '#16335B' }}&gt;{t}&lt;/Text&gt;&#10;          &lt;Text style={{ fontSize: 14.5, color: '#64748B', marginTop: 6, lineHeight: 1.6 }}&gt;{d}&lt;/Text&gt;&#10;        &lt;/Box&gt;&#10;      &lt;/Box&gt;&#10;    ))}&#10;  &lt;/Box&gt;&#10;&#10;  &lt;Box style={{ margin: '18px 64px 0 64px', background: '#16335B', borderRadius: 14, padding: '16px 26px', flexDirection: 'row', gap: 16, alignItems: 'center' }}&gt;&#10;    &lt;Text style={{ fontSize: 16, color: '#9DB2CC', fontWeight: 'bold' }}&gt;设计哲学&lt;/Text&gt;&#10;    &lt;Text style={{ fontSize: 17, color: '#FFFFFF', lineHeight: 1.5 }}&gt;把&lt;span style={{ color: '#F4B400', fontWeight: 'bold' }}&gt;「可控、可信」&lt;/span&gt;刻进系统骨子里，而不是事后补救——这是政务与关键场景敢用的前提。&lt;/Text&gt;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13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3581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第四章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安全与治理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3581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安全可信合规</a:t>
            </a:r>
            <a:r>
              <a:rPr lang="en-US" sz="2550" b="1">
                <a:solidFill>
                  <a:srgbClr val="16335B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六道防线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13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09600" y="1295400"/>
            <a:ext cx="5410200" cy="885825"/>
          </a:xfrm>
          <a:prstGeom prst="roundRect">
            <a:avLst>
              <a:gd name="adj" fmla="val 15054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800100" y="1466850"/>
            <a:ext cx="4000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chemeClr val="tx1"/>
                </a:solidFill>
                <a:latin typeface="PingFang SC"/>
                <a:ea typeface="PingFang SC"/>
              </a:rPr>
              <a:t>🔐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333500" y="1466850"/>
            <a:ext cx="4286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335B"/>
                </a:solidFill>
                <a:latin typeface="PingFang SC"/>
                <a:ea typeface="PingFang SC"/>
              </a:rPr>
              <a:t>边界可控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333500" y="1743075"/>
            <a:ext cx="428625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高风险动作（发布、外部影响）必须人工审批，不能“自己说了算”。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172200" y="1295400"/>
            <a:ext cx="5410200" cy="885825"/>
          </a:xfrm>
          <a:prstGeom prst="roundRect">
            <a:avLst>
              <a:gd name="adj" fmla="val 15054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362700" y="1466850"/>
            <a:ext cx="390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chemeClr val="tx1"/>
                </a:solidFill>
                <a:latin typeface="PingFang SC"/>
                <a:ea typeface="PingFang SC"/>
              </a:rPr>
              <a:t>🗝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886575" y="1466850"/>
            <a:ext cx="3457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335B"/>
                </a:solidFill>
                <a:latin typeface="PingFang SC"/>
                <a:ea typeface="PingFang SC"/>
              </a:rPr>
              <a:t>凭据不落地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886575" y="1743075"/>
            <a:ext cx="3457575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系统不接触明文密钥，权限按需、按时下发，杜绝泄漏。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09600" y="2333625"/>
            <a:ext cx="5410200" cy="885825"/>
          </a:xfrm>
          <a:prstGeom prst="roundRect">
            <a:avLst>
              <a:gd name="adj" fmla="val 15054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00100" y="2505075"/>
            <a:ext cx="3524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chemeClr val="tx1"/>
                </a:solidFill>
                <a:latin typeface="PingFang SC"/>
                <a:ea typeface="PingFang SC"/>
              </a:rPr>
              <a:t>🧾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285875" y="2505075"/>
            <a:ext cx="3457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335B"/>
                </a:solidFill>
                <a:latin typeface="PingFang SC"/>
                <a:ea typeface="PingFang SC"/>
              </a:rPr>
              <a:t>全程可审计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285875" y="2781300"/>
            <a:ext cx="3457575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每一步可追溯、可回放，谁在何时做了什么，责任清晰。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6172200" y="2333625"/>
            <a:ext cx="5410200" cy="885825"/>
          </a:xfrm>
          <a:prstGeom prst="roundRect">
            <a:avLst>
              <a:gd name="adj" fmla="val 15054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362700" y="2505075"/>
            <a:ext cx="390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chemeClr val="tx1"/>
                </a:solidFill>
                <a:latin typeface="PingFang SC"/>
                <a:ea typeface="PingFang SC"/>
              </a:rPr>
              <a:t>🛡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886575" y="2505075"/>
            <a:ext cx="3181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335B"/>
                </a:solidFill>
                <a:latin typeface="PingFang SC"/>
                <a:ea typeface="PingFang SC"/>
              </a:rPr>
              <a:t>数据不泄露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886575" y="2781300"/>
            <a:ext cx="318135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外部内容默认不可信，敏感信息最小化采集与保留。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09600" y="3371850"/>
            <a:ext cx="5410200" cy="885825"/>
          </a:xfrm>
          <a:prstGeom prst="roundRect">
            <a:avLst>
              <a:gd name="adj" fmla="val 15054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00100" y="3543300"/>
            <a:ext cx="4000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chemeClr val="tx1"/>
                </a:solidFill>
                <a:latin typeface="PingFang SC"/>
                <a:ea typeface="PingFang SC"/>
              </a:rPr>
              <a:t>🛑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1333500" y="3543300"/>
            <a:ext cx="3743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335B"/>
                </a:solidFill>
                <a:latin typeface="PingFang SC"/>
                <a:ea typeface="PingFang SC"/>
              </a:rPr>
              <a:t>失败即止损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333500" y="3819525"/>
            <a:ext cx="3743325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重复副作用</a:t>
            </a:r>
            <a:r>
              <a:rPr lang="en-US" sz="1088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未对账</a:t>
            </a:r>
            <a:r>
              <a:rPr lang="en-US" sz="1088">
                <a:solidFill>
                  <a:srgbClr val="64748B"/>
                </a:solidFill>
                <a:latin typeface="PingFang SC"/>
                <a:ea typeface="PingFang SC"/>
              </a:rPr>
              <a:t> / </a:t>
            </a: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安全违规，系统立即停，不将错就错。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172200" y="3371850"/>
            <a:ext cx="5410200" cy="885825"/>
          </a:xfrm>
          <a:prstGeom prst="roundRect">
            <a:avLst>
              <a:gd name="adj" fmla="val 15054"/>
            </a:avLst>
          </a:prstGeom>
          <a:solidFill>
            <a:srgbClr val="F5F8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362700" y="3543300"/>
            <a:ext cx="4000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chemeClr val="tx1"/>
                </a:solidFill>
                <a:latin typeface="PingFang SC"/>
                <a:ea typeface="PingFang SC"/>
              </a:rPr>
              <a:t>✅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896100" y="3543300"/>
            <a:ext cx="2905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6335B"/>
                </a:solidFill>
                <a:latin typeface="PingFang SC"/>
                <a:ea typeface="PingFang SC"/>
              </a:rPr>
              <a:t>独立验证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896100" y="3819525"/>
            <a:ext cx="2905125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用真实结果验收，不用“内部自测”糊弄过关。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09600" y="4429125"/>
            <a:ext cx="10972800" cy="600075"/>
          </a:xfrm>
          <a:prstGeom prst="roundRect">
            <a:avLst>
              <a:gd name="adj" fmla="val 22222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57250" y="46386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DB2CC"/>
                </a:solidFill>
                <a:latin typeface="PingFang SC"/>
                <a:ea typeface="PingFang SC"/>
              </a:rPr>
              <a:t>设计哲学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619250" y="4581525"/>
            <a:ext cx="65055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把</a:t>
            </a:r>
            <a:r>
              <a:rPr lang="zh-CN" sz="1275" b="1">
                <a:solidFill>
                  <a:srgbClr val="F4B400"/>
                </a:solidFill>
                <a:latin typeface="PingFang SC"/>
                <a:ea typeface="PingFang SC"/>
              </a:rPr>
              <a:t>「可控、可信」</a:t>
            </a:r>
            <a:r>
              <a:rPr lang="zh-CN" sz="1275">
                <a:solidFill>
                  <a:srgbClr val="FFFFFF"/>
                </a:solidFill>
                <a:latin typeface="PingFang SC"/>
                <a:ea typeface="PingFang SC"/>
              </a:rPr>
              <a:t>刻进系统骨子里，而不是事后补救——这是政务与关键场景敢用的前提。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13 / 20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style={{ width: '1280px', height: '720px', background: '#0E1B2E', fontFamily: &quot;'PingFang SC','Microsoft YaHei','Helvetica Neue',sans-serif&quot;, overflow: 'hidden' }}&gt;&#10;  &lt;Box style={{ position: 'absolute', bottom: -120, left: -100, width: 520, height: 520, borderRadius: 260, background: 'linear-gradient(135deg,#16335B 0%,#2E6DB4 100%)', opacity: 0.22 }} /&gt;&#10;  &lt;Box style={{ position: 'absolute', top: 0, bottom: 0, left: 64, justifyContent: 'center' }}&gt;&#10;    &lt;Text style={{ fontSize: 120, fontWeight: 'bold', color: '#1E3A5F' }}&gt;05&lt;/Text&gt;&#10;  &lt;/Box&gt;&#10;  &lt;Box style={{ position: 'absolute', top: 0, bottom: 0, left: 280, justifyContent: 'center' }}&gt;&#10;    &lt;Text style={{ fontSize: 22, color: '#5FA8E6', fontWeight: 'bold', letterSpacing: 4 }}&gt;CHAPTER FIVE&lt;/Text&gt;&#10;    &lt;Text style={{ fontSize: 50, fontWeight: 'bold', color: '#FFFFFF', marginTop: 14 }}&gt;树米可承接的&lt;/Text&gt;&#10;    &lt;Text style={{ fontSize: 50, fontWeight: 'bold', color: '#FFFFFF', marginTop: 4 }}&gt;持久运营项目&lt;/Text&gt;&#10;    &lt;Box style={{ width: 120, height: 6, background: 'linear-gradient(90deg,#2E6DB4,#D7263D)', marginTop: 24, borderRadius: 3 }} /&gt;&#10;    &lt;Text style={{ fontSize: 22, color: '#CBD5E1', marginTop: 22 }}&gt;智慧城市 · 智慧文旅 · 智慧场馆 · 智能工厂&lt;/Text&gt;&#10;  &lt;/Box&gt;&#10;  &lt;Box style={{ position: 'absolute', bottom: 36, left: 64, right: 64, flexDirection: 'row', justifyContent: 'space-between', alignItems: 'center' }}&gt;&#10;    &lt;Text style={{ fontSize: 14, color: '#64748B' }}&gt;Regent 系统介绍 · 树米科技&lt;/Text&gt;&#10;    &lt;Text style={{ fontSize: 14, color: '#64748B' }}&gt;14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-952500" y="3048000"/>
            <a:ext cx="4953000" cy="4953000"/>
          </a:xfrm>
          <a:custGeom>
            <a:pathLst>
              <a:path w="520" h="520">
                <a:moveTo>
                  <a:pt x="267" y="0"/>
                </a:moveTo>
                <a:lnTo>
                  <a:pt x="273" y="0"/>
                </a:lnTo>
                <a:lnTo>
                  <a:pt x="280" y="1"/>
                </a:lnTo>
                <a:lnTo>
                  <a:pt x="287" y="1"/>
                </a:lnTo>
                <a:lnTo>
                  <a:pt x="293" y="2"/>
                </a:lnTo>
                <a:lnTo>
                  <a:pt x="300" y="3"/>
                </a:lnTo>
                <a:lnTo>
                  <a:pt x="306" y="4"/>
                </a:lnTo>
                <a:lnTo>
                  <a:pt x="312" y="5"/>
                </a:lnTo>
                <a:lnTo>
                  <a:pt x="319" y="7"/>
                </a:lnTo>
                <a:lnTo>
                  <a:pt x="325" y="8"/>
                </a:lnTo>
                <a:lnTo>
                  <a:pt x="331" y="10"/>
                </a:lnTo>
                <a:lnTo>
                  <a:pt x="337" y="12"/>
                </a:lnTo>
                <a:lnTo>
                  <a:pt x="343" y="14"/>
                </a:lnTo>
                <a:lnTo>
                  <a:pt x="349" y="16"/>
                </a:lnTo>
                <a:lnTo>
                  <a:pt x="355" y="18"/>
                </a:lnTo>
                <a:lnTo>
                  <a:pt x="361" y="20"/>
                </a:lnTo>
                <a:lnTo>
                  <a:pt x="367" y="23"/>
                </a:lnTo>
                <a:lnTo>
                  <a:pt x="373" y="26"/>
                </a:lnTo>
                <a:lnTo>
                  <a:pt x="378" y="28"/>
                </a:lnTo>
                <a:lnTo>
                  <a:pt x="384" y="31"/>
                </a:lnTo>
                <a:lnTo>
                  <a:pt x="389" y="34"/>
                </a:lnTo>
                <a:lnTo>
                  <a:pt x="395" y="38"/>
                </a:lnTo>
                <a:lnTo>
                  <a:pt x="400" y="41"/>
                </a:lnTo>
                <a:lnTo>
                  <a:pt x="405" y="44"/>
                </a:lnTo>
                <a:lnTo>
                  <a:pt x="410" y="48"/>
                </a:lnTo>
                <a:lnTo>
                  <a:pt x="416" y="52"/>
                </a:lnTo>
                <a:lnTo>
                  <a:pt x="420" y="55"/>
                </a:lnTo>
                <a:lnTo>
                  <a:pt x="425" y="59"/>
                </a:lnTo>
                <a:lnTo>
                  <a:pt x="430" y="63"/>
                </a:lnTo>
                <a:lnTo>
                  <a:pt x="435" y="68"/>
                </a:lnTo>
                <a:lnTo>
                  <a:pt x="439" y="72"/>
                </a:lnTo>
                <a:lnTo>
                  <a:pt x="444" y="76"/>
                </a:lnTo>
                <a:lnTo>
                  <a:pt x="448" y="81"/>
                </a:lnTo>
                <a:lnTo>
                  <a:pt x="452" y="85"/>
                </a:lnTo>
                <a:lnTo>
                  <a:pt x="457" y="90"/>
                </a:lnTo>
                <a:lnTo>
                  <a:pt x="461" y="95"/>
                </a:lnTo>
                <a:lnTo>
                  <a:pt x="465" y="100"/>
                </a:lnTo>
                <a:lnTo>
                  <a:pt x="468" y="104"/>
                </a:lnTo>
                <a:lnTo>
                  <a:pt x="472" y="110"/>
                </a:lnTo>
                <a:lnTo>
                  <a:pt x="476" y="115"/>
                </a:lnTo>
                <a:lnTo>
                  <a:pt x="479" y="120"/>
                </a:lnTo>
                <a:lnTo>
                  <a:pt x="482" y="125"/>
                </a:lnTo>
                <a:lnTo>
                  <a:pt x="486" y="131"/>
                </a:lnTo>
                <a:lnTo>
                  <a:pt x="489" y="136"/>
                </a:lnTo>
                <a:lnTo>
                  <a:pt x="492" y="142"/>
                </a:lnTo>
                <a:lnTo>
                  <a:pt x="494" y="147"/>
                </a:lnTo>
                <a:lnTo>
                  <a:pt x="497" y="153"/>
                </a:lnTo>
                <a:lnTo>
                  <a:pt x="500" y="159"/>
                </a:lnTo>
                <a:lnTo>
                  <a:pt x="502" y="165"/>
                </a:lnTo>
                <a:lnTo>
                  <a:pt x="504" y="171"/>
                </a:lnTo>
                <a:lnTo>
                  <a:pt x="506" y="177"/>
                </a:lnTo>
                <a:lnTo>
                  <a:pt x="508" y="183"/>
                </a:lnTo>
                <a:lnTo>
                  <a:pt x="510" y="189"/>
                </a:lnTo>
                <a:lnTo>
                  <a:pt x="512" y="195"/>
                </a:lnTo>
                <a:lnTo>
                  <a:pt x="513" y="201"/>
                </a:lnTo>
                <a:lnTo>
                  <a:pt x="515" y="208"/>
                </a:lnTo>
                <a:lnTo>
                  <a:pt x="516" y="214"/>
                </a:lnTo>
                <a:lnTo>
                  <a:pt x="517" y="220"/>
                </a:lnTo>
                <a:lnTo>
                  <a:pt x="518" y="227"/>
                </a:lnTo>
                <a:lnTo>
                  <a:pt x="519" y="233"/>
                </a:lnTo>
                <a:lnTo>
                  <a:pt x="519" y="240"/>
                </a:lnTo>
                <a:lnTo>
                  <a:pt x="520" y="247"/>
                </a:lnTo>
                <a:lnTo>
                  <a:pt x="520" y="253"/>
                </a:lnTo>
                <a:lnTo>
                  <a:pt x="520" y="260"/>
                </a:lnTo>
                <a:lnTo>
                  <a:pt x="520" y="267"/>
                </a:lnTo>
                <a:lnTo>
                  <a:pt x="520" y="273"/>
                </a:lnTo>
                <a:lnTo>
                  <a:pt x="519" y="280"/>
                </a:lnTo>
                <a:lnTo>
                  <a:pt x="519" y="287"/>
                </a:lnTo>
                <a:lnTo>
                  <a:pt x="518" y="293"/>
                </a:lnTo>
                <a:lnTo>
                  <a:pt x="517" y="300"/>
                </a:lnTo>
                <a:lnTo>
                  <a:pt x="516" y="306"/>
                </a:lnTo>
                <a:lnTo>
                  <a:pt x="515" y="312"/>
                </a:lnTo>
                <a:lnTo>
                  <a:pt x="513" y="319"/>
                </a:lnTo>
                <a:lnTo>
                  <a:pt x="512" y="325"/>
                </a:lnTo>
                <a:lnTo>
                  <a:pt x="510" y="331"/>
                </a:lnTo>
                <a:lnTo>
                  <a:pt x="508" y="337"/>
                </a:lnTo>
                <a:lnTo>
                  <a:pt x="506" y="343"/>
                </a:lnTo>
                <a:lnTo>
                  <a:pt x="504" y="349"/>
                </a:lnTo>
                <a:lnTo>
                  <a:pt x="502" y="355"/>
                </a:lnTo>
                <a:lnTo>
                  <a:pt x="500" y="361"/>
                </a:lnTo>
                <a:lnTo>
                  <a:pt x="497" y="367"/>
                </a:lnTo>
                <a:lnTo>
                  <a:pt x="494" y="373"/>
                </a:lnTo>
                <a:lnTo>
                  <a:pt x="492" y="378"/>
                </a:lnTo>
                <a:lnTo>
                  <a:pt x="489" y="384"/>
                </a:lnTo>
                <a:lnTo>
                  <a:pt x="486" y="389"/>
                </a:lnTo>
                <a:lnTo>
                  <a:pt x="482" y="395"/>
                </a:lnTo>
                <a:lnTo>
                  <a:pt x="479" y="400"/>
                </a:lnTo>
                <a:lnTo>
                  <a:pt x="100" y="400"/>
                </a:lnTo>
                <a:lnTo>
                  <a:pt x="100" y="55"/>
                </a:lnTo>
                <a:lnTo>
                  <a:pt x="104" y="52"/>
                </a:lnTo>
                <a:lnTo>
                  <a:pt x="110" y="48"/>
                </a:lnTo>
                <a:lnTo>
                  <a:pt x="115" y="44"/>
                </a:lnTo>
                <a:lnTo>
                  <a:pt x="120" y="41"/>
                </a:lnTo>
                <a:lnTo>
                  <a:pt x="125" y="38"/>
                </a:lnTo>
                <a:lnTo>
                  <a:pt x="131" y="34"/>
                </a:lnTo>
                <a:lnTo>
                  <a:pt x="136" y="31"/>
                </a:lnTo>
                <a:lnTo>
                  <a:pt x="142" y="28"/>
                </a:lnTo>
                <a:lnTo>
                  <a:pt x="147" y="26"/>
                </a:lnTo>
                <a:lnTo>
                  <a:pt x="153" y="23"/>
                </a:lnTo>
                <a:lnTo>
                  <a:pt x="159" y="20"/>
                </a:lnTo>
                <a:lnTo>
                  <a:pt x="165" y="18"/>
                </a:lnTo>
                <a:lnTo>
                  <a:pt x="171" y="16"/>
                </a:lnTo>
                <a:lnTo>
                  <a:pt x="177" y="14"/>
                </a:lnTo>
                <a:lnTo>
                  <a:pt x="183" y="12"/>
                </a:lnTo>
                <a:lnTo>
                  <a:pt x="189" y="10"/>
                </a:lnTo>
                <a:lnTo>
                  <a:pt x="195" y="8"/>
                </a:lnTo>
                <a:lnTo>
                  <a:pt x="201" y="7"/>
                </a:lnTo>
                <a:lnTo>
                  <a:pt x="208" y="5"/>
                </a:lnTo>
                <a:lnTo>
                  <a:pt x="214" y="4"/>
                </a:lnTo>
                <a:lnTo>
                  <a:pt x="220" y="3"/>
                </a:lnTo>
                <a:lnTo>
                  <a:pt x="227" y="2"/>
                </a:lnTo>
                <a:lnTo>
                  <a:pt x="233" y="1"/>
                </a:lnTo>
                <a:lnTo>
                  <a:pt x="240" y="1"/>
                </a:lnTo>
                <a:lnTo>
                  <a:pt x="247" y="0"/>
                </a:lnTo>
                <a:lnTo>
                  <a:pt x="253" y="0"/>
                </a:lnTo>
                <a:lnTo>
                  <a:pt x="260" y="0"/>
                </a:lnTo>
                <a:close/>
              </a:path>
            </a:pathLst>
          </a:custGeom>
          <a:gradFill>
            <a:gsLst>
              <a:gs pos="0">
                <a:srgbClr val="16335B">
                  <a:alpha val="22000"/>
                </a:srgbClr>
              </a:gs>
              <a:gs pos="100000">
                <a:srgbClr val="2E6DB4">
                  <a:alpha val="2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2743200"/>
            <a:ext cx="1419225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1E3A5F"/>
                </a:solidFill>
                <a:latin typeface="PingFang SC"/>
                <a:ea typeface="PingFang SC"/>
              </a:rPr>
              <a:t>05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2667000" y="2266950"/>
            <a:ext cx="3876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300">
                <a:solidFill>
                  <a:srgbClr val="5FA8E6"/>
                </a:solidFill>
                <a:latin typeface="PingFang SC"/>
                <a:ea typeface="PingFang SC"/>
              </a:rPr>
              <a:t>CHAPTER FIVE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2667000" y="2657475"/>
            <a:ext cx="387667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>
                <a:solidFill>
                  <a:srgbClr val="FFFFFF"/>
                </a:solidFill>
                <a:latin typeface="PingFang SC"/>
                <a:ea typeface="PingFang SC"/>
              </a:rPr>
              <a:t>树米可承接的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2667000" y="3267075"/>
            <a:ext cx="3876675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>
                <a:solidFill>
                  <a:srgbClr val="FFFFFF"/>
                </a:solidFill>
                <a:latin typeface="PingFang SC"/>
                <a:ea typeface="PingFang SC"/>
              </a:rPr>
              <a:t>持久运营项目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2667000" y="4067175"/>
            <a:ext cx="1143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6DB4"/>
              </a:gs>
              <a:gs pos="100000">
                <a:srgbClr val="D726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2667000" y="4333875"/>
            <a:ext cx="3876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智慧城市</a:t>
            </a:r>
            <a:r>
              <a:rPr lang="en-US" sz="1650">
                <a:solidFill>
                  <a:srgbClr val="CBD5E1"/>
                </a:solidFill>
                <a:latin typeface="PingFang SC"/>
                <a:ea typeface="PingFang SC"/>
              </a:rPr>
              <a:t> · </a:t>
            </a: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智慧文旅</a:t>
            </a:r>
            <a:r>
              <a:rPr lang="en-US" sz="1650">
                <a:solidFill>
                  <a:srgbClr val="CBD5E1"/>
                </a:solidFill>
                <a:latin typeface="PingFang SC"/>
                <a:ea typeface="PingFang SC"/>
              </a:rPr>
              <a:t> · </a:t>
            </a: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智慧场馆</a:t>
            </a:r>
            <a:r>
              <a:rPr lang="en-US" sz="1650">
                <a:solidFill>
                  <a:srgbClr val="CBD5E1"/>
                </a:solidFill>
                <a:latin typeface="PingFang SC"/>
                <a:ea typeface="PingFang SC"/>
              </a:rPr>
              <a:t> · </a:t>
            </a:r>
            <a:r>
              <a:rPr lang="zh-CN" sz="1650">
                <a:solidFill>
                  <a:srgbClr val="CBD5E1"/>
                </a:solidFill>
                <a:latin typeface="PingFang SC"/>
                <a:ea typeface="PingFang SC"/>
              </a:rPr>
              <a:t>智能工厂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14 / 20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2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五章 · 落地场景&lt;/Text&gt;&#10;      &lt;Text style={{ fontSize: 34, fontWeight: 'bold', color: '#16335B', marginTop: 6 }}&gt;四类可持久运营经营的项目&lt;/Text&gt;&#10;    &lt;/Box&gt;&#10;    &lt;Text style={{ fontSize: 16, color: '#2E6DB4', fontWeight: 'bold', paddingTop: 10 }}&gt;15&lt;/Text&gt;&#10;  &lt;/Box&gt;&#10;&#10;  &lt;Box style={{ padding: '20px 64px 0 64px', flexDirection: 'row', flexWrap: 'wrap', gap: 18 }}&gt;&#10;    {[&#10;      ['🏙', '智慧城市', '城市运行监测、民生诉求闭环、政务智能问答、领导数据看板——持续运营，越用越准。', '#16335B'],&#10;      ['🏞', '智慧文旅', '智能导览、客流与舆情监测、内容营销，讲好本地故事，带动消费。', '#2E6DB4'],&#10;      ['🏟', '智慧场馆', '运营中枢、安防与调度、观众服务、能耗与设施管理，一站式运营。', '#D7263D'],&#10;      ['🏭', '智能工厂', '生产数据看板、质检与排产辅助、设备预测性维护、供应链协同。', '#1F6F5C'],&#10;    ].map(([ic, t, d, c], i) =&gt; (&#10;      &lt;Box key={i} style={{ width: 'calc(50% - 9px)', background: '#F5F8FC', border: '1px solid #E2E8F0', borderRadius: 14, padding: '22px 24px', borderTop: '5px solid ' + c }}&gt;&#10;        &lt;Box style={{ flexDirection: 'row', alignItems: 'center', gap: 14 }}&gt;&#10;          &lt;Text style={{ fontSize: 34 }}&gt;{ic}&lt;/Text&gt;&#10;          &lt;Text style={{ fontSize: 24, fontWeight: 'bold', color: c }}&gt;{t}&lt;/Text&gt;&#10;        &lt;/Box&gt;&#10;        &lt;Text style={{ fontSize: 15.5, color: '#64748B', marginTop: 12, lineHeight: 1.7 }}&gt;{d}&lt;/Text&gt;&#10;      &lt;/Box&gt;&#10;    ))}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15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3886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第五章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落地场景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四类可持久运营经营的项目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15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1381125"/>
            <a:ext cx="5400675" cy="1276350"/>
          </a:xfrm>
          <a:prstGeom prst="roundRect">
            <a:avLst>
              <a:gd name="adj" fmla="val 10448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609600" y="1381125"/>
            <a:ext cx="5400675" cy="1276350"/>
          </a:xfrm>
          <a:custGeom>
            <a:pathLst>
              <a:path w="567" h="134">
                <a:moveTo>
                  <a:pt x="554" y="0"/>
                </a:moveTo>
                <a:cubicBezTo>
                  <a:pt x="560" y="0"/>
                  <a:pt x="566" y="5"/>
                  <a:pt x="567" y="11"/>
                </a:cubicBezTo>
                <a:cubicBezTo>
                  <a:pt x="565" y="8"/>
                  <a:pt x="562" y="5"/>
                  <a:pt x="558" y="5"/>
                </a:cubicBezTo>
                <a:lnTo>
                  <a:pt x="9" y="5"/>
                </a:lnTo>
                <a:cubicBezTo>
                  <a:pt x="5" y="5"/>
                  <a:pt x="1" y="8"/>
                  <a:pt x="0" y="12"/>
                </a:cubicBezTo>
                <a:cubicBezTo>
                  <a:pt x="1" y="5"/>
                  <a:pt x="7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16335B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38200" y="1590675"/>
            <a:ext cx="495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chemeClr val="tx1"/>
                </a:solidFill>
                <a:latin typeface="PingFang SC"/>
                <a:ea typeface="PingFang SC"/>
              </a:rPr>
              <a:t>🏙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466850" y="164782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6335B"/>
                </a:solidFill>
                <a:latin typeface="PingFang SC"/>
                <a:ea typeface="PingFang SC"/>
              </a:rPr>
              <a:t>智慧城市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38200" y="2095500"/>
            <a:ext cx="49434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城市运行监测、民生诉求闭环、政务智能问答、领导数据看板——持续运营，越用越准。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181725" y="1381125"/>
            <a:ext cx="5400675" cy="1276350"/>
          </a:xfrm>
          <a:prstGeom prst="roundRect">
            <a:avLst>
              <a:gd name="adj" fmla="val 10448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6181725" y="1381125"/>
            <a:ext cx="5400675" cy="1276350"/>
          </a:xfrm>
          <a:custGeom>
            <a:pathLst>
              <a:path w="567" h="134">
                <a:moveTo>
                  <a:pt x="554" y="0"/>
                </a:moveTo>
                <a:cubicBezTo>
                  <a:pt x="560" y="0"/>
                  <a:pt x="566" y="5"/>
                  <a:pt x="567" y="11"/>
                </a:cubicBezTo>
                <a:cubicBezTo>
                  <a:pt x="565" y="8"/>
                  <a:pt x="562" y="5"/>
                  <a:pt x="558" y="5"/>
                </a:cubicBezTo>
                <a:lnTo>
                  <a:pt x="9" y="5"/>
                </a:lnTo>
                <a:cubicBezTo>
                  <a:pt x="5" y="5"/>
                  <a:pt x="1" y="8"/>
                  <a:pt x="0" y="12"/>
                </a:cubicBezTo>
                <a:cubicBezTo>
                  <a:pt x="1" y="5"/>
                  <a:pt x="7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2E6DB4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410325" y="1590675"/>
            <a:ext cx="495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chemeClr val="tx1"/>
                </a:solidFill>
                <a:latin typeface="PingFang SC"/>
                <a:ea typeface="PingFang SC"/>
              </a:rPr>
              <a:t>🏞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038975" y="164782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2E6DB4"/>
                </a:solidFill>
                <a:latin typeface="PingFang SC"/>
                <a:ea typeface="PingFang SC"/>
              </a:rPr>
              <a:t>智慧文旅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410325" y="2095500"/>
            <a:ext cx="4943475" cy="3048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智能导览、客流与舆情监测、内容营销，讲好本地故事，带动消费。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09600" y="2828925"/>
            <a:ext cx="5400675" cy="1276350"/>
          </a:xfrm>
          <a:prstGeom prst="roundRect">
            <a:avLst>
              <a:gd name="adj" fmla="val 10448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609600" y="2828925"/>
            <a:ext cx="5400675" cy="1276350"/>
          </a:xfrm>
          <a:custGeom>
            <a:pathLst>
              <a:path w="567" h="134">
                <a:moveTo>
                  <a:pt x="554" y="0"/>
                </a:moveTo>
                <a:cubicBezTo>
                  <a:pt x="560" y="0"/>
                  <a:pt x="566" y="5"/>
                  <a:pt x="567" y="11"/>
                </a:cubicBezTo>
                <a:cubicBezTo>
                  <a:pt x="565" y="8"/>
                  <a:pt x="562" y="5"/>
                  <a:pt x="558" y="5"/>
                </a:cubicBezTo>
                <a:lnTo>
                  <a:pt x="9" y="5"/>
                </a:lnTo>
                <a:cubicBezTo>
                  <a:pt x="5" y="5"/>
                  <a:pt x="1" y="8"/>
                  <a:pt x="0" y="12"/>
                </a:cubicBezTo>
                <a:cubicBezTo>
                  <a:pt x="1" y="5"/>
                  <a:pt x="7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D7263D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38200" y="3038475"/>
            <a:ext cx="495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chemeClr val="tx1"/>
                </a:solidFill>
                <a:latin typeface="PingFang SC"/>
                <a:ea typeface="PingFang SC"/>
              </a:rPr>
              <a:t>🏟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466850" y="309562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D7263D"/>
                </a:solidFill>
                <a:latin typeface="PingFang SC"/>
                <a:ea typeface="PingFang SC"/>
              </a:rPr>
              <a:t>智慧场馆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38200" y="3543300"/>
            <a:ext cx="4943475" cy="3048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运营中枢、安防与调度、观众服务、能耗与设施管理，一站式运营。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181725" y="2828925"/>
            <a:ext cx="5400675" cy="1276350"/>
          </a:xfrm>
          <a:prstGeom prst="roundRect">
            <a:avLst>
              <a:gd name="adj" fmla="val 10448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6181725" y="2828925"/>
            <a:ext cx="5400675" cy="1276350"/>
          </a:xfrm>
          <a:custGeom>
            <a:pathLst>
              <a:path w="567" h="134">
                <a:moveTo>
                  <a:pt x="554" y="0"/>
                </a:moveTo>
                <a:cubicBezTo>
                  <a:pt x="560" y="0"/>
                  <a:pt x="566" y="5"/>
                  <a:pt x="567" y="11"/>
                </a:cubicBezTo>
                <a:cubicBezTo>
                  <a:pt x="565" y="8"/>
                  <a:pt x="562" y="5"/>
                  <a:pt x="558" y="5"/>
                </a:cubicBezTo>
                <a:lnTo>
                  <a:pt x="9" y="5"/>
                </a:lnTo>
                <a:cubicBezTo>
                  <a:pt x="5" y="5"/>
                  <a:pt x="1" y="8"/>
                  <a:pt x="0" y="12"/>
                </a:cubicBezTo>
                <a:cubicBezTo>
                  <a:pt x="1" y="5"/>
                  <a:pt x="7" y="0"/>
                  <a:pt x="14" y="0"/>
                </a:cubicBezTo>
                <a:lnTo>
                  <a:pt x="553" y="0"/>
                </a:lnTo>
                <a:close/>
              </a:path>
            </a:pathLst>
          </a:custGeom>
          <a:solidFill>
            <a:srgbClr val="1F6F5C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410325" y="3038475"/>
            <a:ext cx="447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>
                <a:solidFill>
                  <a:schemeClr val="tx1"/>
                </a:solidFill>
                <a:latin typeface="PingFang SC"/>
                <a:ea typeface="PingFang SC"/>
              </a:rPr>
              <a:t>🏭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991350" y="3095625"/>
            <a:ext cx="914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6F5C"/>
                </a:solidFill>
                <a:latin typeface="PingFang SC"/>
                <a:ea typeface="PingFang SC"/>
              </a:rPr>
              <a:t>智能工厂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410325" y="3543300"/>
            <a:ext cx="4943475" cy="3048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64748B"/>
                </a:solidFill>
                <a:latin typeface="PingFang SC"/>
                <a:ea typeface="PingFang SC"/>
              </a:rPr>
              <a:t>生产数据看板、质检与排产辅助、设备预测性维护、供应链协同。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15 / 20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70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五章 · 落地场景&lt;/Text&gt;&#10;      &lt;Text style={{ fontSize: 34, fontWeight: 'bold', color: '#16335B', marginTop: 6 }}&gt;智慧城市 · 长期运营型中枢&lt;/Text&gt;&#10;    &lt;/Box&gt;&#10;    &lt;Text style={{ fontSize: 16, color: '#2E6DB4', fontWeight: 'bold', paddingTop: 10 }}&gt;16&lt;/Text&gt;&#10;  &lt;/Box&gt;&#10;&#10;  &lt;Box style={{ padding: '16px 64px 0 64px', flexDirection: 'row', gap: 36, alignItems: 'center' }}&gt;&#10;    &lt;Box style={{ flex: '0 0 240px', height: 360, borderRadius: 16, background: 'linear-gradient(135deg,#16335B,#2E6DB4)', alignItems: 'center', justifyContent: 'center' }}&gt;&#10;      &lt;Text style={{ fontSize: 96 }}&gt;🏙&lt;/Text&gt;&#10;      &lt;Text style={{ fontSize: 22, color: '#FFFFFF', fontWeight: 'bold', marginTop: 10 }}&gt;智慧城市&lt;/Text&gt;&#10;    &lt;/Box&gt;&#10;    &lt;Box style={{ flex: 1, gap: 14 }}&gt;&#10;      {[&#10;        ['城市运行监测', '汇聚城市运行数据，异常自动预警，治理从“被动响应”变“主动发现”。'],&#10;        ['民生诉求闭环', '自动聚类群众反馈、标红风险信号，件件有回应、事事有闭环。'],&#10;        ['政务智能问答', '政策条文问答、文书模板填表、合规自查，群众“问得清、办得顺”。'],&#10;        ['领导数据看板', '用自然语言生成图表与解读，决策有数据、有依据。'],&#10;      ].map(([t, d], i) =&gt; (&#10;        &lt;Box key={i} style={{ flexDirection: 'row', gap: 14, alignItems: 'flex-start', background: '#F5F8FC', borderRadius: 12, padding: '14px 18px', borderLeft: '5px solid #16335B' }}&gt;&#10;          &lt;Text style={{ fontSize: 20 }}&gt;{'①②③④'[i]}&lt;/Text&gt;&#10;          &lt;Box&gt;&#10;            &lt;Text style={{ fontSize: 19, fontWeight: 'bold', color: '#1F2A37' }}&gt;{t}&lt;/Text&gt;&#10;            &lt;Text style={{ fontSize: 15, color: '#64748B', marginTop: 4, lineHeight: 1.6 }}&gt;{d}&lt;/Text&gt;&#10;          &lt;/Box&gt;&#10;        &lt;/Box&gt;&#10;      ))}&#10;      &lt;Text style={{ fontSize: 15, color: '#D7263D', fontWeight: 'bold', marginTop: 2 }}&gt;关键点：不是“交付一个系统就结束”，而是持续运营、持续迭代。&lt;/Text&gt;&#10;    &lt;/Box&gt;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16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390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第五章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落地场景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3905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智慧城市</a:t>
            </a:r>
            <a:r>
              <a:rPr lang="en-US" sz="2550" b="1">
                <a:solidFill>
                  <a:srgbClr val="16335B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长期运营型中枢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16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09600" y="1543050"/>
            <a:ext cx="2286000" cy="3429000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238250" y="2533650"/>
            <a:ext cx="10287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>
                <a:solidFill>
                  <a:schemeClr val="tx1"/>
                </a:solidFill>
                <a:latin typeface="PingFang SC"/>
                <a:ea typeface="PingFang SC"/>
              </a:rPr>
              <a:t>🏙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333500" y="37338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</a:rPr>
              <a:t>智慧城市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3286125" y="1295400"/>
            <a:ext cx="8343900" cy="800100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3286125" y="1295400"/>
            <a:ext cx="8343900" cy="800100"/>
          </a:xfrm>
          <a:custGeom>
            <a:pathLst>
              <a:path w="876" h="84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7"/>
                </a:lnTo>
                <a:cubicBezTo>
                  <a:pt x="5" y="80"/>
                  <a:pt x="7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6335B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457575" y="1428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chemeClr val="tx1"/>
                </a:solidFill>
                <a:latin typeface="PingFang SC"/>
                <a:ea typeface="PingFang SC"/>
              </a:rPr>
              <a:t>①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3781425" y="1428750"/>
            <a:ext cx="471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37"/>
                </a:solidFill>
                <a:latin typeface="PingFang SC"/>
                <a:ea typeface="PingFang SC"/>
              </a:rPr>
              <a:t>城市运行监测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3781425" y="1685925"/>
            <a:ext cx="47148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汇聚城市运行数据，异常自动预警，治理从“被动响应”变“主动发现”。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3286125" y="2228850"/>
            <a:ext cx="8343900" cy="800100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3286125" y="2228850"/>
            <a:ext cx="8343900" cy="800100"/>
          </a:xfrm>
          <a:custGeom>
            <a:pathLst>
              <a:path w="876" h="84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7"/>
                </a:lnTo>
                <a:cubicBezTo>
                  <a:pt x="5" y="80"/>
                  <a:pt x="7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6335B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3457575" y="23622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chemeClr val="tx1"/>
                </a:solidFill>
                <a:latin typeface="PingFang SC"/>
                <a:ea typeface="PingFang SC"/>
              </a:rPr>
              <a:t>②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3781425" y="2362200"/>
            <a:ext cx="400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37"/>
                </a:solidFill>
                <a:latin typeface="PingFang SC"/>
                <a:ea typeface="PingFang SC"/>
              </a:rPr>
              <a:t>民生诉求闭环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781425" y="2619375"/>
            <a:ext cx="4000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自动聚类群众反馈、标红风险信号，件件有回应、事事有闭环。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3286125" y="3162300"/>
            <a:ext cx="8343900" cy="800100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3286125" y="3162300"/>
            <a:ext cx="8343900" cy="800100"/>
          </a:xfrm>
          <a:custGeom>
            <a:pathLst>
              <a:path w="876" h="84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7"/>
                </a:lnTo>
                <a:cubicBezTo>
                  <a:pt x="5" y="80"/>
                  <a:pt x="7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6335B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457575" y="32956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chemeClr val="tx1"/>
                </a:solidFill>
                <a:latin typeface="PingFang SC"/>
                <a:ea typeface="PingFang SC"/>
              </a:rPr>
              <a:t>③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781425" y="3295650"/>
            <a:ext cx="4429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37"/>
                </a:solidFill>
                <a:latin typeface="PingFang SC"/>
                <a:ea typeface="PingFang SC"/>
              </a:rPr>
              <a:t>政务智能问答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3781425" y="3552825"/>
            <a:ext cx="44291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政策条文问答、文书模板填表、合规自查，群众“问得清、办得顺”。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3286125" y="4095750"/>
            <a:ext cx="8343900" cy="800100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3286125" y="4095750"/>
            <a:ext cx="8343900" cy="800100"/>
          </a:xfrm>
          <a:custGeom>
            <a:pathLst>
              <a:path w="876" h="84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7"/>
                </a:lnTo>
                <a:cubicBezTo>
                  <a:pt x="5" y="80"/>
                  <a:pt x="7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6335B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3457575" y="4229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chemeClr val="tx1"/>
                </a:solidFill>
                <a:latin typeface="PingFang SC"/>
                <a:ea typeface="PingFang SC"/>
              </a:rPr>
              <a:t>④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781425" y="4229100"/>
            <a:ext cx="3286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37"/>
                </a:solidFill>
                <a:latin typeface="PingFang SC"/>
                <a:ea typeface="PingFang SC"/>
              </a:rPr>
              <a:t>领导数据看板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781425" y="4486275"/>
            <a:ext cx="32861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用自然语言生成图表与解读，决策有数据、有依据。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238500" y="5048250"/>
            <a:ext cx="834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7263D"/>
                </a:solidFill>
                <a:latin typeface="PingFang SC"/>
                <a:ea typeface="PingFang SC"/>
              </a:rPr>
              <a:t>关键点：不是“交付一个系统就结束”，而是持续运营、持续迭代。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16 / 20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02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五章 · 落地场景&lt;/Text&gt;&#10;      &lt;Text style={{ fontSize: 34, fontWeight: 'bold', color: '#16335B', marginTop: 6 }}&gt;智慧文旅 · 讲好本地故事&lt;/Text&gt;&#10;    &lt;/Box&gt;&#10;    &lt;Text style={{ fontSize: 16, color: '#2E6DB4', fontWeight: 'bold', paddingTop: 10 }}&gt;17&lt;/Text&gt;&#10;  &lt;/Box&gt;&#10;&#10;  &lt;Box style={{ padding: '16px 64px 0 64px', flexDirection: 'row', gap: 36, alignItems: 'center' }}&gt;&#10;    &lt;Box style={{ flex: '0 0 240px', height: 360, borderRadius: 16, background: 'linear-gradient(135deg,#2E6DB4,#1F6F5C)', alignItems: 'center', justifyContent: 'center' }}&gt;&#10;      &lt;Text style={{ fontSize: 96 }}&gt;🏞&lt;/Text&gt;&#10;      &lt;Text style={{ fontSize: 22, color: '#FFFFFF', fontWeight: 'bold', marginTop: 10 }}&gt;智慧文旅&lt;/Text&gt;&#10;    &lt;/Box&gt;&#10;    &lt;Box style={{ flex: 1, gap: 14 }}&gt;&#10;      {[&#10;        ['智能导览', '个性化行程与讲解，用 AI 讲好本地文化与景点故事。'],&#10;        ['客流与舆情监测', '实时掌握景区客流、舆情与投诉，及时疏导与回应。'],&#10;        ['内容营销', '批量生成小红书/短视频脚本与卖点文案，助农助旅、拓宽销路。'],&#10;        ['持续运营', '沉淀游客画像与偏好，迭代产品与活动，提升复游与消费。'],&#10;      ].map(([t, d], i) =&gt; (&#10;        &lt;Box key={i} style={{ flexDirection: 'row', gap: 14, alignItems: 'flex-start', background: '#F5F8FC', borderRadius: 12, padding: '14px 18px', borderLeft: '5px solid #2E6DB4' }}&gt;&#10;          &lt;Text style={{ fontSize: 20 }}&gt;{'①②③④'[i]}&lt;/Text&gt;&#10;          &lt;Box&gt;&#10;            &lt;Text style={{ fontSize: 19, fontWeight: 'bold', color: '#1F2A37' }}&gt;{t}&lt;/Text&gt;&#10;            &lt;Text style={{ fontSize: 15, color: '#64748B', marginTop: 4, lineHeight: 1.6 }}&gt;{d}&lt;/Text&gt;&#10;          &lt;/Box&gt;&#10;        &lt;/Box&gt;&#10;      ))}&#10;      &lt;Text style={{ fontSize: 15, color: '#D7263D', fontWeight: 'bold', marginTop: 2 }}&gt;关键点：运营带动流量与消费，是文旅长期增值的抓手。&lt;/Text&gt;&#10;    &lt;/Box&gt;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17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3581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第五章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落地场景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3581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智慧文旅</a:t>
            </a:r>
            <a:r>
              <a:rPr lang="en-US" sz="2550" b="1">
                <a:solidFill>
                  <a:srgbClr val="16335B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讲好本地故事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17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1543050"/>
            <a:ext cx="2286000" cy="3429000"/>
          </a:xfrm>
          <a:prstGeom prst="roundRect">
            <a:avLst>
              <a:gd name="adj" fmla="val 6667"/>
            </a:avLst>
          </a:prstGeom>
          <a:gradFill>
            <a:gsLst>
              <a:gs pos="0">
                <a:srgbClr val="2E6DB4"/>
              </a:gs>
              <a:gs pos="100000">
                <a:srgbClr val="1F6F5C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238250" y="2533650"/>
            <a:ext cx="10287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200">
                <a:solidFill>
                  <a:schemeClr val="tx1"/>
                </a:solidFill>
                <a:latin typeface="PingFang SC"/>
                <a:ea typeface="PingFang SC"/>
              </a:rPr>
              <a:t>🏞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333500" y="37338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</a:rPr>
              <a:t>智慧文旅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3286125" y="1295400"/>
            <a:ext cx="8343900" cy="800100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11" name=""/>
          <p:cNvSpPr/>
          <p:nvPr/>
        </p:nvSpPr>
        <p:spPr>
          <a:xfrm rot="0" flipH="0" flipV="0">
            <a:off x="3286125" y="1295400"/>
            <a:ext cx="8343900" cy="800100"/>
          </a:xfrm>
          <a:custGeom>
            <a:pathLst>
              <a:path w="876" h="84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7"/>
                </a:lnTo>
                <a:cubicBezTo>
                  <a:pt x="5" y="80"/>
                  <a:pt x="7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E6DB4"/>
          </a:solidFill>
          <a:ln/>
        </p:spPr>
        <p:txBody>
          <a:bodyPr/>
          <a:p/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457575" y="14287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chemeClr val="tx1"/>
                </a:solidFill>
                <a:latin typeface="PingFang SC"/>
                <a:ea typeface="PingFang SC"/>
              </a:rPr>
              <a:t>①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781425" y="1428750"/>
            <a:ext cx="3371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37"/>
                </a:solidFill>
                <a:latin typeface="PingFang SC"/>
                <a:ea typeface="PingFang SC"/>
              </a:rPr>
              <a:t>智能导览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3781425" y="1685925"/>
            <a:ext cx="33718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个性化行程与讲解，用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 AI 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讲好本地文化与景点故事。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3286125" y="2228850"/>
            <a:ext cx="8343900" cy="800100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3286125" y="2228850"/>
            <a:ext cx="8343900" cy="800100"/>
          </a:xfrm>
          <a:custGeom>
            <a:pathLst>
              <a:path w="876" h="84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7"/>
                </a:lnTo>
                <a:cubicBezTo>
                  <a:pt x="5" y="80"/>
                  <a:pt x="7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E6DB4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457575" y="23622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chemeClr val="tx1"/>
                </a:solidFill>
                <a:latin typeface="PingFang SC"/>
                <a:ea typeface="PingFang SC"/>
              </a:rPr>
              <a:t>②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3781425" y="2362200"/>
            <a:ext cx="32861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37"/>
                </a:solidFill>
                <a:latin typeface="PingFang SC"/>
                <a:ea typeface="PingFang SC"/>
              </a:rPr>
              <a:t>客流与舆情监测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3781425" y="2619375"/>
            <a:ext cx="32861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实时掌握景区客流、舆情与投诉，及时疏导与回应。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286125" y="3162300"/>
            <a:ext cx="8343900" cy="800100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3286125" y="3162300"/>
            <a:ext cx="8343900" cy="800100"/>
          </a:xfrm>
          <a:custGeom>
            <a:pathLst>
              <a:path w="876" h="84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7"/>
                </a:lnTo>
                <a:cubicBezTo>
                  <a:pt x="5" y="80"/>
                  <a:pt x="7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E6DB4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3457575" y="32956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chemeClr val="tx1"/>
                </a:solidFill>
                <a:latin typeface="PingFang SC"/>
                <a:ea typeface="PingFang SC"/>
              </a:rPr>
              <a:t>③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781425" y="3295650"/>
            <a:ext cx="4067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37"/>
                </a:solidFill>
                <a:latin typeface="PingFang SC"/>
                <a:ea typeface="PingFang SC"/>
              </a:rPr>
              <a:t>内容营销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3781425" y="3552825"/>
            <a:ext cx="40671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批量生成小红书</a:t>
            </a:r>
            <a:r>
              <a:rPr lang="en-US" sz="1125">
                <a:solidFill>
                  <a:srgbClr val="64748B"/>
                </a:solidFill>
                <a:latin typeface="PingFang SC"/>
                <a:ea typeface="PingFang SC"/>
              </a:rPr>
              <a:t>/</a:t>
            </a: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短视频脚本与卖点文案，助农助旅、拓宽销路。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3286125" y="4095750"/>
            <a:ext cx="8343900" cy="800100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3286125" y="4095750"/>
            <a:ext cx="8343900" cy="800100"/>
          </a:xfrm>
          <a:custGeom>
            <a:pathLst>
              <a:path w="876" h="84">
                <a:moveTo>
                  <a:pt x="11" y="0"/>
                </a:moveTo>
                <a:cubicBezTo>
                  <a:pt x="8" y="0"/>
                  <a:pt x="5" y="3"/>
                  <a:pt x="5" y="7"/>
                </a:cubicBezTo>
                <a:lnTo>
                  <a:pt x="5" y="77"/>
                </a:lnTo>
                <a:cubicBezTo>
                  <a:pt x="5" y="80"/>
                  <a:pt x="7" y="83"/>
                  <a:pt x="10" y="84"/>
                </a:cubicBezTo>
                <a:cubicBezTo>
                  <a:pt x="4" y="83"/>
                  <a:pt x="0" y="78"/>
                  <a:pt x="0" y="7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E6DB4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457575" y="42291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chemeClr val="tx1"/>
                </a:solidFill>
                <a:latin typeface="PingFang SC"/>
                <a:ea typeface="PingFang SC"/>
              </a:rPr>
              <a:t>④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3781425" y="4229100"/>
            <a:ext cx="3714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2A37"/>
                </a:solidFill>
                <a:latin typeface="PingFang SC"/>
                <a:ea typeface="PingFang SC"/>
              </a:rPr>
              <a:t>持续运营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781425" y="4486275"/>
            <a:ext cx="3714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沉淀游客画像与偏好，迭代产品与活动，提升复游与消费。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238500" y="5048250"/>
            <a:ext cx="834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7263D"/>
                </a:solidFill>
                <a:latin typeface="PingFang SC"/>
                <a:ea typeface="PingFang SC"/>
              </a:rPr>
              <a:t>关键点：运营带动流量与消费，是文旅长期增值的抓手。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17 / 20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34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五章 · 落地场景&lt;/Text&gt;&#10;      &lt;Text style={{ fontSize: 34, fontWeight: 'bold', color: '#16335B', marginTop: 6 }}&gt;智慧场馆 &amp; 智能工厂&lt;/Text&gt;&#10;    &lt;/Box&gt;&#10;    &lt;Text style={{ fontSize: 16, color: '#2E6DB4', fontWeight: 'bold', paddingTop: 10 }}&gt;18&lt;/Text&gt;&#10;  &lt;/Box&gt;&#10;&#10;  &lt;Box style={{ padding: '18px 64px 0 64px', flexDirection: 'row', gap: 28 }}&gt;&#10;    &lt;Box style={{ flex: 1, background: '#F5F8FC', borderRadius: 14, padding: '20px 24px', borderTop: '5px solid #D7263D' }}&gt;&#10;      &lt;Text style={{ fontSize: 24, fontWeight: 'bold', color: '#D7263D', marginBottom: 14 }}&gt;🏟 智慧场馆 · 运营中枢&lt;/Text&gt;&#10;      {[&#10;        ['运营中枢', '活动、票务、人流一体化调度，一屏掌控。'],&#10;        ['安防与调度', '异常自动预警，安保力量智能调配。'],&#10;        ['观众服务', '智能导引、无障碍服务，体验更顺畅。'],&#10;        ['能耗与设施', '设备与能耗监测，降本增效、绿色运营。'],&#10;      ].map(([t, d], i) =&gt; (&#10;        &lt;Box key={i} style={{ flexDirection: 'row', gap: 12, alignItems: 'flex-start', padding: '8px 0', borderBottom: i &lt; 3 ? '1px dashed #DCE5F0' : 'none' }}&gt;&#10;          &lt;Text style={{ fontSize: 18, fontWeight: 'bold', color: '#1F2A37', width: 96, flex: '0 0 96px' }}&gt;{t}&lt;/Text&gt;&#10;          &lt;Text style={{ fontSize: 15, color: '#64748B', lineHeight: 1.55 }}&gt;{d}&lt;/Text&gt;&#10;        &lt;/Box&gt;&#10;      ))}&#10;    &lt;/Box&gt;&#10;    &lt;Box style={{ flex: 1, background: '#F5F8FC', borderRadius: 14, padding: '20px 24px', borderTop: '5px solid #1F6F5C' }}&gt;&#10;      &lt;Text style={{ fontSize: 24, fontWeight: 'bold', color: '#1F6F5C', marginBottom: 14 }}&gt;🏭 智能工厂 · 生产大脑&lt;/Text&gt;&#10;      {[&#10;        ['生产数据看板', '关键指标实时可视，异常自动告警。'],&#10;        ['质检与排产', '辅助质检与排产，提升良率与交付准时率。'],&#10;        ['预测性维护', '设备健康预测，减少非计划停机。'],&#10;        ['供应链协同', '需求与库存联动，降本提质、韧性更强。'],&#10;      ].map(([t, d], i) =&gt; (&#10;        &lt;Box key={i} style={{ flexDirection: 'row', gap: 12, alignItems: 'flex-start', padding: '8px 0', borderBottom: i &lt; 3 ? '1px dashed #DCE5F0' : 'none' }}&gt;&#10;          &lt;Text style={{ fontSize: 18, fontWeight: 'bold', color: '#1F2A37', width: 96, flex: '0 0 96px' }}&gt;{t}&lt;/Text&gt;&#10;          &lt;Text style={{ fontSize: 15, color: '#64748B', lineHeight: 1.55 }}&gt;{d}&lt;/Text&gt;&#10;        &lt;/Box&gt;&#10;      ))}&#10;    &lt;/Box&gt;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18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3086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第五章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落地场景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3086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智慧场馆</a:t>
            </a:r>
            <a:r>
              <a:rPr lang="en-US" sz="2550" b="1">
                <a:solidFill>
                  <a:srgbClr val="16335B"/>
                </a:solidFill>
                <a:latin typeface="PingFang SC"/>
                <a:ea typeface="PingFang SC"/>
              </a:rPr>
              <a:t> &amp; </a:t>
            </a: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智能工厂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18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1362075"/>
            <a:ext cx="5353050" cy="2695575"/>
          </a:xfrm>
          <a:prstGeom prst="roundRect">
            <a:avLst>
              <a:gd name="adj" fmla="val 4947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09600" y="1362075"/>
            <a:ext cx="5353050" cy="2695575"/>
          </a:xfrm>
          <a:custGeom>
            <a:pathLst>
              <a:path w="562" h="283">
                <a:moveTo>
                  <a:pt x="549" y="0"/>
                </a:moveTo>
                <a:cubicBezTo>
                  <a:pt x="555" y="0"/>
                  <a:pt x="561" y="5"/>
                  <a:pt x="562" y="11"/>
                </a:cubicBezTo>
                <a:cubicBezTo>
                  <a:pt x="560" y="8"/>
                  <a:pt x="557" y="5"/>
                  <a:pt x="553" y="5"/>
                </a:cubicBezTo>
                <a:lnTo>
                  <a:pt x="9" y="5"/>
                </a:lnTo>
                <a:cubicBezTo>
                  <a:pt x="5" y="5"/>
                  <a:pt x="1" y="8"/>
                  <a:pt x="0" y="12"/>
                </a:cubicBezTo>
                <a:cubicBezTo>
                  <a:pt x="1" y="5"/>
                  <a:pt x="7" y="0"/>
                  <a:pt x="14" y="0"/>
                </a:cubicBezTo>
                <a:lnTo>
                  <a:pt x="548" y="0"/>
                </a:lnTo>
                <a:close/>
              </a:path>
            </a:pathLst>
          </a:custGeom>
          <a:solidFill>
            <a:srgbClr val="D7263D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38200" y="1552575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7263D"/>
                </a:solidFill>
                <a:latin typeface="PingFang SC"/>
                <a:ea typeface="PingFang SC"/>
              </a:rPr>
              <a:t>🏟 </a:t>
            </a:r>
            <a:r>
              <a:rPr lang="zh-CN" sz="1800" b="1">
                <a:solidFill>
                  <a:srgbClr val="D7263D"/>
                </a:solidFill>
                <a:latin typeface="PingFang SC"/>
                <a:ea typeface="PingFang SC"/>
              </a:rPr>
              <a:t>智慧场馆</a:t>
            </a:r>
            <a:r>
              <a:rPr lang="en-US" sz="1800" b="1">
                <a:solidFill>
                  <a:srgbClr val="D7263D"/>
                </a:solidFill>
                <a:latin typeface="PingFang SC"/>
                <a:ea typeface="PingFang SC"/>
              </a:rPr>
              <a:t> · </a:t>
            </a:r>
            <a:r>
              <a:rPr lang="zh-CN" sz="1800" b="1">
                <a:solidFill>
                  <a:srgbClr val="D7263D"/>
                </a:solidFill>
                <a:latin typeface="PingFang SC"/>
                <a:ea typeface="PingFang SC"/>
              </a:rPr>
              <a:t>运营中枢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838200" y="1962150"/>
            <a:ext cx="4895850" cy="438150"/>
          </a:xfrm>
          <a:custGeom>
            <a:pathLst>
              <a:path w="514" h="46">
                <a:moveTo>
                  <a:pt x="0" y="45"/>
                </a:moveTo>
                <a:lnTo>
                  <a:pt x="514" y="45"/>
                </a:lnTo>
                <a:lnTo>
                  <a:pt x="514" y="46"/>
                </a:lnTo>
                <a:lnTo>
                  <a:pt x="0" y="46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38200" y="203835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运营中枢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866900" y="2038350"/>
            <a:ext cx="27146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活动、票务、人流一体化调度，一屏掌控。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838200" y="2390775"/>
            <a:ext cx="4895850" cy="438150"/>
          </a:xfrm>
          <a:custGeom>
            <a:pathLst>
              <a:path w="514" h="46">
                <a:moveTo>
                  <a:pt x="0" y="45"/>
                </a:moveTo>
                <a:lnTo>
                  <a:pt x="514" y="45"/>
                </a:lnTo>
                <a:lnTo>
                  <a:pt x="514" y="46"/>
                </a:lnTo>
                <a:lnTo>
                  <a:pt x="0" y="46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38200" y="246697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安防与调度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866900" y="2466975"/>
            <a:ext cx="2286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异常自动预警，安保力量智能调配。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838200" y="2819400"/>
            <a:ext cx="4895850" cy="438150"/>
          </a:xfrm>
          <a:custGeom>
            <a:pathLst>
              <a:path w="514" h="46">
                <a:moveTo>
                  <a:pt x="0" y="45"/>
                </a:moveTo>
                <a:lnTo>
                  <a:pt x="514" y="45"/>
                </a:lnTo>
                <a:lnTo>
                  <a:pt x="514" y="46"/>
                </a:lnTo>
                <a:lnTo>
                  <a:pt x="0" y="46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838200" y="289560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观众服务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866900" y="2895600"/>
            <a:ext cx="2428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智能导引、无障碍服务，体验更顺畅。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38200" y="332422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能耗与设施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866900" y="3324225"/>
            <a:ext cx="2571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设备与能耗监测，降本增效、绿色运营。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229350" y="1362075"/>
            <a:ext cx="5353050" cy="2695575"/>
          </a:xfrm>
          <a:prstGeom prst="roundRect">
            <a:avLst>
              <a:gd name="adj" fmla="val 4947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229350" y="1362075"/>
            <a:ext cx="5353050" cy="2695575"/>
          </a:xfrm>
          <a:custGeom>
            <a:pathLst>
              <a:path w="562" h="283">
                <a:moveTo>
                  <a:pt x="549" y="0"/>
                </a:moveTo>
                <a:cubicBezTo>
                  <a:pt x="555" y="0"/>
                  <a:pt x="561" y="5"/>
                  <a:pt x="562" y="11"/>
                </a:cubicBezTo>
                <a:cubicBezTo>
                  <a:pt x="560" y="8"/>
                  <a:pt x="557" y="5"/>
                  <a:pt x="553" y="5"/>
                </a:cubicBezTo>
                <a:lnTo>
                  <a:pt x="9" y="5"/>
                </a:lnTo>
                <a:cubicBezTo>
                  <a:pt x="5" y="5"/>
                  <a:pt x="1" y="8"/>
                  <a:pt x="0" y="12"/>
                </a:cubicBezTo>
                <a:cubicBezTo>
                  <a:pt x="1" y="5"/>
                  <a:pt x="7" y="0"/>
                  <a:pt x="14" y="0"/>
                </a:cubicBezTo>
                <a:lnTo>
                  <a:pt x="548" y="0"/>
                </a:lnTo>
                <a:close/>
              </a:path>
            </a:pathLst>
          </a:custGeom>
          <a:solidFill>
            <a:srgbClr val="1F6F5C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457950" y="1552575"/>
            <a:ext cx="4895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F6F5C"/>
                </a:solidFill>
                <a:latin typeface="PingFang SC"/>
                <a:ea typeface="PingFang SC"/>
              </a:rPr>
              <a:t>🏭 </a:t>
            </a:r>
            <a:r>
              <a:rPr lang="zh-CN" sz="1800" b="1">
                <a:solidFill>
                  <a:srgbClr val="1F6F5C"/>
                </a:solidFill>
                <a:latin typeface="PingFang SC"/>
                <a:ea typeface="PingFang SC"/>
              </a:rPr>
              <a:t>智能工厂</a:t>
            </a:r>
            <a:r>
              <a:rPr lang="en-US" sz="1800" b="1">
                <a:solidFill>
                  <a:srgbClr val="1F6F5C"/>
                </a:solidFill>
                <a:latin typeface="PingFang SC"/>
                <a:ea typeface="PingFang SC"/>
              </a:rPr>
              <a:t> · </a:t>
            </a:r>
            <a:r>
              <a:rPr lang="zh-CN" sz="1800" b="1">
                <a:solidFill>
                  <a:srgbClr val="1F6F5C"/>
                </a:solidFill>
                <a:latin typeface="PingFang SC"/>
                <a:ea typeface="PingFang SC"/>
              </a:rPr>
              <a:t>生产大脑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457950" y="1962150"/>
            <a:ext cx="4895850" cy="590550"/>
          </a:xfrm>
          <a:custGeom>
            <a:pathLst>
              <a:path w="514" h="62">
                <a:moveTo>
                  <a:pt x="0" y="61"/>
                </a:moveTo>
                <a:lnTo>
                  <a:pt x="514" y="61"/>
                </a:lnTo>
                <a:lnTo>
                  <a:pt x="514" y="62"/>
                </a:lnTo>
                <a:lnTo>
                  <a:pt x="0" y="62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457950" y="2038350"/>
            <a:ext cx="9144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生产数据看板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486650" y="2038350"/>
            <a:ext cx="228600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关键指标实时可视，异常自动告警。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457950" y="2543175"/>
            <a:ext cx="4895850" cy="438150"/>
          </a:xfrm>
          <a:custGeom>
            <a:pathLst>
              <a:path w="514" h="46">
                <a:moveTo>
                  <a:pt x="0" y="45"/>
                </a:moveTo>
                <a:lnTo>
                  <a:pt x="514" y="45"/>
                </a:lnTo>
                <a:lnTo>
                  <a:pt x="514" y="46"/>
                </a:lnTo>
                <a:lnTo>
                  <a:pt x="0" y="46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457950" y="261937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质检与排产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486650" y="2619375"/>
            <a:ext cx="27146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辅助质检与排产，提升良率与交付准时率。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6457950" y="2971800"/>
            <a:ext cx="4895850" cy="438150"/>
          </a:xfrm>
          <a:custGeom>
            <a:pathLst>
              <a:path w="514" h="46">
                <a:moveTo>
                  <a:pt x="0" y="45"/>
                </a:moveTo>
                <a:lnTo>
                  <a:pt x="514" y="45"/>
                </a:lnTo>
                <a:lnTo>
                  <a:pt x="514" y="46"/>
                </a:lnTo>
                <a:lnTo>
                  <a:pt x="0" y="46"/>
                </a:lnTo>
                <a:close/>
              </a:path>
            </a:pathLst>
          </a:custGeom>
          <a:solidFill>
            <a:srgbClr val="DCE5F0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457950" y="3048000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预测性维护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486650" y="3048000"/>
            <a:ext cx="214312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设备健康预测，减少非计划停机。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457950" y="3476625"/>
            <a:ext cx="914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供应链协同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486650" y="3476625"/>
            <a:ext cx="2571750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64748B"/>
                </a:solidFill>
                <a:latin typeface="PingFang SC"/>
                <a:ea typeface="PingFang SC"/>
              </a:rPr>
              <a:t>需求与库存联动，降本提质、韧性更强。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18 / 20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70" name="" descr="&lt;Slide style={{ width: '1280px', height: '720px', background: '#FFFFFF', fontFamily: &quot;'PingFang SC','Microsoft YaHei','Helvetica Neue',sans-serif&quot;, overflow: 'hidden' }}&gt;&#10;  &lt;Box style={{ height: 120, padding: '28px 64px 0 64px', flexDirection: 'row', justifyContent: 'space-between', alignItems: 'flex-start' }}&gt;&#10;    &lt;Box&gt;&#10;      &lt;Text style={{ fontSize: 16, color: '#64748B', letterSpacing: 1 }}&gt;第六章 · 合作邀约&lt;/Text&gt;&#10;      &lt;Text style={{ fontSize: 34, fontWeight: 'bold', color: '#16335B', marginTop: 6 }}&gt;为什么交给树米&lt;/Text&gt;&#10;    &lt;/Box&gt;&#10;    &lt;Text style={{ fontSize: 16, color: '#2E6DB4', fontWeight: 'bold', paddingTop: 10 }}&gt;19&lt;/Text&gt;&#10;  &lt;/Box&gt;&#10;&#10;  &lt;Box style={{ padding: '14px 64px 0 64px', flexDirection: 'row', gap: 28 }}&gt;&#10;    &lt;Box style={{ flex: 1.1, gap: 12 }}&gt;&#10;      &lt;Text style={{ fontSize: 17, fontWeight: 'bold', color: '#16335B', marginBottom: 4 }}&gt;树米的承接优势&lt;/Text&gt;&#10;      {[&#10;        ['自主可控底座', '自研 Regent 目标操作系统，不绑定外部黑箱，源码与数据自主可控。'],&#10;        ['强治理能力', '边界内自治、全程审计、失败即止损，政务与关键场景敢用。'],&#10;        ['已落地验证', '内核已通过严格自动化验收，自进化与 Hive 能力已工程化。'],&#10;        ['可持续运营交付', '不“交完即止”，而是长期运营、持续迭代、越用越好。'],&#10;      ].map(([t, d], i) =&gt; (&#10;        &lt;Box key={i} style={{ flexDirection: 'row', gap: 12, alignItems: 'flex-start', background: '#F5F8FC', borderRadius: 12, padding: '13px 18px' }}&gt;&#10;          &lt;Box style={{ flex: '0 0 28px', height: 28, borderRadius: 8, background: '#16335B', alignItems: 'center', justifyContent: 'center' }}&gt;&#10;            &lt;Text style={{ fontSize: 15, fontWeight: 'bold', color: '#FFFFFF' }}&gt;{'✓'}&lt;/Text&gt;&#10;          &lt;/Box&gt;&#10;          &lt;Box&gt;&#10;            &lt;Text style={{ fontSize: 18, fontWeight: 'bold', color: '#1F2A37' }}&gt;{t}&lt;/Text&gt;&#10;            &lt;Text style={{ fontSize: 14.5, color: '#64748B', marginTop: 3, lineHeight: 1.55 }}&gt;{d}&lt;/Text&gt;&#10;          &lt;/Box&gt;&#10;        &lt;/Box&gt;&#10;      ))}&#10;    &lt;/Box&gt;&#10;    &lt;Box style={{ flex: 0.9, background: 'linear-gradient(135deg,#16335B,#2E6DB4)', borderRadius: 16, padding: '26px 24px', justifyContent: 'center' }}&gt;&#10;      &lt;Text style={{ fontSize: 15, color: '#9DB2CC', fontWeight: 'bold', letterSpacing: 1 }}&gt;诚 挚 请 求&lt;/Text&gt;&#10;      &lt;Text style={{ fontSize: 23, color: '#FFFFFF', fontWeight: 'bold', marginTop: 14, lineHeight: 1.6 }}&gt;恳请领导将&lt;/Text&gt;&#10;      &lt;Text style={{ fontSize: 23, color: '#F4B400', fontWeight: 'bold', marginTop: 6, lineHeight: 1.6 }}&gt;智慧城市 · 智慧文旅 · 智慧场馆 · 智能工厂&lt;/Text&gt;&#10;      &lt;Text style={{ fontSize: 23, color: '#FFFFFF', fontWeight: 'bold', marginTop: 6, lineHeight: 1.6 }}&gt;等持久运营项目交给树米&lt;/Text&gt;&#10;      &lt;Text style={{ fontSize: 17, color: '#CBD5E1', marginTop: 18, lineHeight: 1.7 }}&gt;以 Regent 为底座，与省市共建可复制、可推广的标杆应用，让 AI 真正服务于高质量发展大局。&lt;/Text&gt;&#10;    &lt;/Box&gt;&#10;  &lt;/Box&gt;&#10;&#10;  &lt;Box style={{ height: 60, padding: '0 64px', flexDirection: 'row', justifyContent: 'space-between', alignItems: 'center', borderTop: '1px solid #E2E8F0', position: 'absolute', bottom: 0, left: 0, right: 0 }}&gt;&#10;    &lt;Text style={{ fontSize: 14, color: '#64748B' }}&gt;Regent 系统介绍 · 树米科技&lt;/Text&gt;&#10;    &lt;Text style={{ fontSize: 14, color: '#64748B' }}&gt;19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09600" y="266700"/>
            <a:ext cx="2266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第六章</a:t>
            </a:r>
            <a:r>
              <a:rPr lang="en-US" sz="1200" spc="75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200" spc="75">
                <a:solidFill>
                  <a:srgbClr val="64748B"/>
                </a:solidFill>
                <a:latin typeface="PingFang SC"/>
                <a:ea typeface="PingFang SC"/>
              </a:rPr>
              <a:t>合作邀约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09600" y="51435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335B"/>
                </a:solidFill>
                <a:latin typeface="PingFang SC"/>
                <a:ea typeface="PingFang SC"/>
              </a:rPr>
              <a:t>为什么交给树米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1391900" y="266700"/>
            <a:ext cx="190500" cy="2857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E6DB4"/>
                </a:solidFill>
                <a:latin typeface="PingFang SC"/>
                <a:ea typeface="PingFang SC"/>
              </a:rPr>
              <a:t>19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5886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6335B"/>
                </a:solidFill>
                <a:latin typeface="PingFang SC"/>
                <a:ea typeface="PingFang SC"/>
              </a:rPr>
              <a:t>树米的承接优势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09600" y="1628775"/>
            <a:ext cx="5886450" cy="742950"/>
          </a:xfrm>
          <a:prstGeom prst="roundRect">
            <a:avLst>
              <a:gd name="adj" fmla="val 1538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781050" y="17526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47725" y="18002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</a:rPr>
              <a:t>✓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62050" y="1752600"/>
            <a:ext cx="4286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自主可控底座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162050" y="1990725"/>
            <a:ext cx="42862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自研</a:t>
            </a:r>
            <a:r>
              <a:rPr lang="en-US" sz="1088">
                <a:solidFill>
                  <a:srgbClr val="64748B"/>
                </a:solidFill>
                <a:latin typeface="PingFang SC"/>
                <a:ea typeface="PingFang SC"/>
              </a:rPr>
              <a:t> Regent </a:t>
            </a: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目标操作系统，不绑定外部黑箱，源码与数据自主可控。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09600" y="2486025"/>
            <a:ext cx="5886450" cy="742950"/>
          </a:xfrm>
          <a:prstGeom prst="roundRect">
            <a:avLst>
              <a:gd name="adj" fmla="val 1538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781050" y="26098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47725" y="26574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</a:rPr>
              <a:t>✓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62050" y="2609850"/>
            <a:ext cx="373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强治理能力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62050" y="2847975"/>
            <a:ext cx="37338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边界内自治、全程审计、失败即止损，政务与关键场景敢用。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09600" y="3343275"/>
            <a:ext cx="5886450" cy="742950"/>
          </a:xfrm>
          <a:prstGeom prst="roundRect">
            <a:avLst>
              <a:gd name="adj" fmla="val 1538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781050" y="346710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47725" y="35147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</a:rPr>
              <a:t>✓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62050" y="3467100"/>
            <a:ext cx="3695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已落地验证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162050" y="3705225"/>
            <a:ext cx="3695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内核已通过严格自动化验收，自进化与</a:t>
            </a:r>
            <a:r>
              <a:rPr lang="en-US" sz="1088">
                <a:solidFill>
                  <a:srgbClr val="64748B"/>
                </a:solidFill>
                <a:latin typeface="PingFang SC"/>
                <a:ea typeface="PingFang SC"/>
              </a:rPr>
              <a:t> Hive </a:t>
            </a: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能力已工程化。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609600" y="4200525"/>
            <a:ext cx="5886450" cy="742950"/>
          </a:xfrm>
          <a:prstGeom prst="roundRect">
            <a:avLst>
              <a:gd name="adj" fmla="val 15385"/>
            </a:avLst>
          </a:prstGeom>
          <a:solidFill>
            <a:srgbClr val="F5F8FC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781050" y="4324350"/>
            <a:ext cx="266700" cy="266700"/>
          </a:xfrm>
          <a:prstGeom prst="roundRect">
            <a:avLst>
              <a:gd name="adj" fmla="val 28571"/>
            </a:avLst>
          </a:prstGeom>
          <a:solidFill>
            <a:srgbClr val="16335B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47725" y="437197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</a:rPr>
              <a:t>✓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62050" y="4324350"/>
            <a:ext cx="3457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2A37"/>
                </a:solidFill>
                <a:latin typeface="PingFang SC"/>
                <a:ea typeface="PingFang SC"/>
              </a:rPr>
              <a:t>可持续运营交付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62050" y="4562475"/>
            <a:ext cx="34575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88">
                <a:solidFill>
                  <a:srgbClr val="64748B"/>
                </a:solidFill>
                <a:latin typeface="PingFang SC"/>
                <a:ea typeface="PingFang SC"/>
              </a:rPr>
              <a:t>不“交完即止”，而是长期运营、持续迭代、越用越好。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6762750" y="1276350"/>
            <a:ext cx="4819650" cy="3667125"/>
          </a:xfrm>
          <a:prstGeom prst="roundRect">
            <a:avLst>
              <a:gd name="adj" fmla="val 4156"/>
            </a:avLst>
          </a:prstGeom>
          <a:gradFill>
            <a:gsLst>
              <a:gs pos="0">
                <a:srgbClr val="16335B"/>
              </a:gs>
              <a:gs pos="100000">
                <a:srgbClr val="2E6DB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991350" y="1838325"/>
            <a:ext cx="4362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9DB2CC"/>
                </a:solidFill>
                <a:latin typeface="PingFang SC"/>
                <a:ea typeface="PingFang SC"/>
              </a:rPr>
              <a:t>诚</a:t>
            </a:r>
            <a:r>
              <a:rPr lang="en-US" sz="1125" b="1" spc="75">
                <a:solidFill>
                  <a:srgbClr val="9DB2CC"/>
                </a:solidFill>
                <a:latin typeface="PingFang SC"/>
                <a:ea typeface="PingFang SC"/>
              </a:rPr>
              <a:t> </a:t>
            </a:r>
            <a:r>
              <a:rPr lang="zh-CN" sz="1125" b="1" spc="75">
                <a:solidFill>
                  <a:srgbClr val="9DB2CC"/>
                </a:solidFill>
                <a:latin typeface="PingFang SC"/>
                <a:ea typeface="PingFang SC"/>
              </a:rPr>
              <a:t>挚</a:t>
            </a:r>
            <a:r>
              <a:rPr lang="en-US" sz="1125" b="1" spc="75">
                <a:solidFill>
                  <a:srgbClr val="9DB2CC"/>
                </a:solidFill>
                <a:latin typeface="PingFang SC"/>
                <a:ea typeface="PingFang SC"/>
              </a:rPr>
              <a:t> </a:t>
            </a:r>
            <a:r>
              <a:rPr lang="zh-CN" sz="1125" b="1" spc="75">
                <a:solidFill>
                  <a:srgbClr val="9DB2CC"/>
                </a:solidFill>
                <a:latin typeface="PingFang SC"/>
                <a:ea typeface="PingFang SC"/>
              </a:rPr>
              <a:t>请</a:t>
            </a:r>
            <a:r>
              <a:rPr lang="en-US" sz="1125" b="1" spc="75">
                <a:solidFill>
                  <a:srgbClr val="9DB2CC"/>
                </a:solidFill>
                <a:latin typeface="PingFang SC"/>
                <a:ea typeface="PingFang SC"/>
              </a:rPr>
              <a:t> </a:t>
            </a:r>
            <a:r>
              <a:rPr lang="zh-CN" sz="1125" b="1" spc="75">
                <a:solidFill>
                  <a:srgbClr val="9DB2CC"/>
                </a:solidFill>
                <a:latin typeface="PingFang SC"/>
                <a:ea typeface="PingFang SC"/>
              </a:rPr>
              <a:t>求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991350" y="2143125"/>
            <a:ext cx="4362450" cy="428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 b="1">
                <a:solidFill>
                  <a:srgbClr val="FFFFFF"/>
                </a:solidFill>
                <a:latin typeface="PingFang SC"/>
                <a:ea typeface="PingFang SC"/>
              </a:rPr>
              <a:t>恳请领导将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991350" y="2628900"/>
            <a:ext cx="4362450" cy="428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 b="1">
                <a:solidFill>
                  <a:srgbClr val="F4B400"/>
                </a:solidFill>
                <a:latin typeface="PingFang SC"/>
                <a:ea typeface="PingFang SC"/>
              </a:rPr>
              <a:t>智慧城市</a:t>
            </a:r>
            <a:r>
              <a:rPr lang="en-US" sz="1725" b="1">
                <a:solidFill>
                  <a:srgbClr val="F4B400"/>
                </a:solidFill>
                <a:latin typeface="PingFang SC"/>
                <a:ea typeface="PingFang SC"/>
              </a:rPr>
              <a:t> · </a:t>
            </a:r>
            <a:r>
              <a:rPr lang="zh-CN" sz="1725" b="1">
                <a:solidFill>
                  <a:srgbClr val="F4B400"/>
                </a:solidFill>
                <a:latin typeface="PingFang SC"/>
                <a:ea typeface="PingFang SC"/>
              </a:rPr>
              <a:t>智慧文旅</a:t>
            </a:r>
            <a:r>
              <a:rPr lang="en-US" sz="1725" b="1">
                <a:solidFill>
                  <a:srgbClr val="F4B400"/>
                </a:solidFill>
                <a:latin typeface="PingFang SC"/>
                <a:ea typeface="PingFang SC"/>
              </a:rPr>
              <a:t> · </a:t>
            </a:r>
            <a:r>
              <a:rPr lang="zh-CN" sz="1725" b="1">
                <a:solidFill>
                  <a:srgbClr val="F4B400"/>
                </a:solidFill>
                <a:latin typeface="PingFang SC"/>
                <a:ea typeface="PingFang SC"/>
              </a:rPr>
              <a:t>智慧场馆</a:t>
            </a:r>
            <a:r>
              <a:rPr lang="en-US" sz="1725" b="1">
                <a:solidFill>
                  <a:srgbClr val="F4B400"/>
                </a:solidFill>
                <a:latin typeface="PingFang SC"/>
                <a:ea typeface="PingFang SC"/>
              </a:rPr>
              <a:t> · </a:t>
            </a:r>
            <a:r>
              <a:rPr lang="zh-CN" sz="1725" b="1">
                <a:solidFill>
                  <a:srgbClr val="F4B400"/>
                </a:solidFill>
                <a:latin typeface="PingFang SC"/>
                <a:ea typeface="PingFang SC"/>
              </a:rPr>
              <a:t>智能工厂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991350" y="3114675"/>
            <a:ext cx="4362450" cy="428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 b="1">
                <a:solidFill>
                  <a:srgbClr val="FFFFFF"/>
                </a:solidFill>
                <a:latin typeface="PingFang SC"/>
                <a:ea typeface="PingFang SC"/>
              </a:rPr>
              <a:t>等持久运营项目交给树米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991350" y="3714750"/>
            <a:ext cx="43624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CBD5E1"/>
                </a:solidFill>
                <a:latin typeface="PingFang SC"/>
                <a:ea typeface="PingFang SC"/>
              </a:rPr>
              <a:t>以</a:t>
            </a:r>
            <a:r>
              <a:rPr lang="en-US" sz="1275">
                <a:solidFill>
                  <a:srgbClr val="CBD5E1"/>
                </a:solidFill>
                <a:latin typeface="PingFang SC"/>
                <a:ea typeface="PingFang SC"/>
              </a:rPr>
              <a:t> Regent </a:t>
            </a:r>
            <a:r>
              <a:rPr lang="zh-CN" sz="1275">
                <a:solidFill>
                  <a:srgbClr val="CBD5E1"/>
                </a:solidFill>
                <a:latin typeface="PingFang SC"/>
                <a:ea typeface="PingFang SC"/>
              </a:rPr>
              <a:t>为底座，与省市共建可复制、可推广的标杆应用，让</a:t>
            </a:r>
            <a:r>
              <a:rPr lang="en-US" sz="1275">
                <a:solidFill>
                  <a:srgbClr val="CBD5E1"/>
                </a:solidFill>
                <a:latin typeface="PingFang SC"/>
                <a:ea typeface="PingFang SC"/>
              </a:rPr>
              <a:t> AI </a:t>
            </a:r>
            <a:r>
              <a:rPr lang="zh-CN" sz="1275">
                <a:solidFill>
                  <a:srgbClr val="CBD5E1"/>
                </a:solidFill>
                <a:latin typeface="PingFang SC"/>
                <a:ea typeface="PingFang SC"/>
              </a:rPr>
              <a:t>真正服务于高质量发展大局。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0" y="6286500"/>
            <a:ext cx="12192000" cy="571500"/>
          </a:xfrm>
          <a:custGeom>
            <a:pathLst>
              <a:path w="1280" h="6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2E8F0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125200" y="64960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19 / 20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43" name="" descr="&lt;Slide style={{ width: '1280px', height: '720px', background: '#0E1B2E', fontFamily: &quot;'PingFang SC','Microsoft YaHei','Helvetica Neue',sans-serif&quot;, overflow: 'hidden' }}&gt;&#10;  &lt;Box style={{ position: 'absolute', top: -150, right: -120, width: 560, height: 560, borderRadius: 280, background: 'linear-gradient(135deg,#16335B 0%,#2E6DB4 100%)', opacity: 0.26 }} /&gt;&#10;  &lt;Box style={{ position: 'absolute', bottom: -180, left: -110, width: 460, height: 460, borderRadius: 230, background: 'linear-gradient(135deg,#16335B 0%,#2E6DB4 100%)', opacity: 0.16 }} /&gt;&#10;&#10;  &lt;Box style={{ position: 'absolute', top: 0, bottom: 0, left: 64, right: 64, justifyContent: 'center', alignItems: 'center' }}&gt;&#10;    &lt;Text style={{ fontSize: 20, color: '#5FA8E6', fontWeight: 'bold', letterSpacing: 4 }}&gt;REGENT · 树米科技&lt;/Text&gt;&#10;    &lt;Text style={{ fontSize: 60, fontWeight: 'bold', color: '#FFFFFF', marginTop: 20, textAlign: 'center' }}&gt;让 AI 真正干事&lt;/Text&gt;&#10;    &lt;Text style={{ fontSize: 60, fontWeight: 'bold', color: '#FFFFFF', marginTop: 6, textAlign: 'center' }}&gt;且始终在&lt;span style={{ color: '#F4B400' }}&gt;掌控之中&lt;/span&gt;&lt;/Text&gt;&#10;    &lt;Box style={{ width: 130, height: 6, background: 'linear-gradient(90deg,#2E6DB4,#D7263D)', marginTop: 30, marginBottom: 30, borderRadius: 3 }} /&gt;&#10;    &lt;Text style={{ fontSize: 24, color: '#CBD5E1', textAlign: 'center' }}&gt;期待与省市共建持久运营标杆，让 AI 服务于高质量发展大局&lt;/Text&gt;&#10;    &lt;Text style={{ fontSize: 28, color: '#FFFFFF', fontWeight: 'bold', marginTop: 36 }}&gt;谢谢聆听 · 欢迎指导&lt;/Text&gt;&#10;  &lt;/Box&gt;&#10;&#10;  &lt;Box style={{ position: 'absolute', bottom: 36, left: 64, right: 64, flexDirection: 'row', justifyContent: 'space-between', alignItems: 'center' }}&gt;&#10;    &lt;Text style={{ fontSize: 14, color: '#64748B' }}&gt;Regent 系统介绍 · 树米科技&lt;/Text&gt;&#10;    &lt;Text style={{ fontSize: 14, color: '#64748B' }}&gt;20 / 20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1B2E"/>
          </a:solidFill>
          <a:ln/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8001000" y="-1428750"/>
            <a:ext cx="5334000" cy="5334000"/>
          </a:xfrm>
          <a:custGeom>
            <a:pathLst>
              <a:path w="560" h="560">
                <a:moveTo>
                  <a:pt x="440" y="510"/>
                </a:moveTo>
                <a:lnTo>
                  <a:pt x="437" y="512"/>
                </a:lnTo>
                <a:lnTo>
                  <a:pt x="431" y="516"/>
                </a:lnTo>
                <a:lnTo>
                  <a:pt x="425" y="519"/>
                </a:lnTo>
                <a:lnTo>
                  <a:pt x="419" y="523"/>
                </a:lnTo>
                <a:lnTo>
                  <a:pt x="413" y="526"/>
                </a:lnTo>
                <a:lnTo>
                  <a:pt x="407" y="529"/>
                </a:lnTo>
                <a:lnTo>
                  <a:pt x="401" y="532"/>
                </a:lnTo>
                <a:lnTo>
                  <a:pt x="395" y="535"/>
                </a:lnTo>
                <a:lnTo>
                  <a:pt x="389" y="538"/>
                </a:lnTo>
                <a:lnTo>
                  <a:pt x="383" y="541"/>
                </a:lnTo>
                <a:lnTo>
                  <a:pt x="376" y="543"/>
                </a:lnTo>
                <a:lnTo>
                  <a:pt x="370" y="545"/>
                </a:lnTo>
                <a:lnTo>
                  <a:pt x="363" y="547"/>
                </a:lnTo>
                <a:lnTo>
                  <a:pt x="357" y="549"/>
                </a:lnTo>
                <a:lnTo>
                  <a:pt x="350" y="551"/>
                </a:lnTo>
                <a:lnTo>
                  <a:pt x="343" y="553"/>
                </a:lnTo>
                <a:lnTo>
                  <a:pt x="336" y="554"/>
                </a:lnTo>
                <a:lnTo>
                  <a:pt x="330" y="556"/>
                </a:lnTo>
                <a:lnTo>
                  <a:pt x="323" y="557"/>
                </a:lnTo>
                <a:lnTo>
                  <a:pt x="316" y="558"/>
                </a:lnTo>
                <a:lnTo>
                  <a:pt x="309" y="559"/>
                </a:lnTo>
                <a:lnTo>
                  <a:pt x="302" y="559"/>
                </a:lnTo>
                <a:lnTo>
                  <a:pt x="294" y="560"/>
                </a:lnTo>
                <a:lnTo>
                  <a:pt x="287" y="560"/>
                </a:lnTo>
                <a:lnTo>
                  <a:pt x="280" y="560"/>
                </a:lnTo>
                <a:lnTo>
                  <a:pt x="273" y="560"/>
                </a:lnTo>
                <a:lnTo>
                  <a:pt x="266" y="560"/>
                </a:lnTo>
                <a:lnTo>
                  <a:pt x="258" y="559"/>
                </a:lnTo>
                <a:lnTo>
                  <a:pt x="251" y="559"/>
                </a:lnTo>
                <a:lnTo>
                  <a:pt x="244" y="558"/>
                </a:lnTo>
                <a:lnTo>
                  <a:pt x="237" y="557"/>
                </a:lnTo>
                <a:lnTo>
                  <a:pt x="230" y="556"/>
                </a:lnTo>
                <a:lnTo>
                  <a:pt x="224" y="554"/>
                </a:lnTo>
                <a:lnTo>
                  <a:pt x="217" y="553"/>
                </a:lnTo>
                <a:lnTo>
                  <a:pt x="210" y="551"/>
                </a:lnTo>
                <a:lnTo>
                  <a:pt x="203" y="549"/>
                </a:lnTo>
                <a:lnTo>
                  <a:pt x="197" y="547"/>
                </a:lnTo>
                <a:lnTo>
                  <a:pt x="190" y="545"/>
                </a:lnTo>
                <a:lnTo>
                  <a:pt x="184" y="543"/>
                </a:lnTo>
                <a:lnTo>
                  <a:pt x="177" y="541"/>
                </a:lnTo>
                <a:lnTo>
                  <a:pt x="171" y="538"/>
                </a:lnTo>
                <a:lnTo>
                  <a:pt x="165" y="535"/>
                </a:lnTo>
                <a:lnTo>
                  <a:pt x="159" y="532"/>
                </a:lnTo>
                <a:lnTo>
                  <a:pt x="153" y="529"/>
                </a:lnTo>
                <a:lnTo>
                  <a:pt x="147" y="526"/>
                </a:lnTo>
                <a:lnTo>
                  <a:pt x="141" y="523"/>
                </a:lnTo>
                <a:lnTo>
                  <a:pt x="135" y="519"/>
                </a:lnTo>
                <a:lnTo>
                  <a:pt x="129" y="516"/>
                </a:lnTo>
                <a:lnTo>
                  <a:pt x="123" y="512"/>
                </a:lnTo>
                <a:lnTo>
                  <a:pt x="118" y="508"/>
                </a:lnTo>
                <a:lnTo>
                  <a:pt x="113" y="504"/>
                </a:lnTo>
                <a:lnTo>
                  <a:pt x="107" y="500"/>
                </a:lnTo>
                <a:lnTo>
                  <a:pt x="102" y="496"/>
                </a:lnTo>
                <a:lnTo>
                  <a:pt x="97" y="492"/>
                </a:lnTo>
                <a:lnTo>
                  <a:pt x="92" y="487"/>
                </a:lnTo>
                <a:lnTo>
                  <a:pt x="87" y="483"/>
                </a:lnTo>
                <a:lnTo>
                  <a:pt x="82" y="478"/>
                </a:lnTo>
                <a:lnTo>
                  <a:pt x="77" y="473"/>
                </a:lnTo>
                <a:lnTo>
                  <a:pt x="73" y="468"/>
                </a:lnTo>
                <a:lnTo>
                  <a:pt x="68" y="463"/>
                </a:lnTo>
                <a:lnTo>
                  <a:pt x="64" y="458"/>
                </a:lnTo>
                <a:lnTo>
                  <a:pt x="60" y="453"/>
                </a:lnTo>
                <a:lnTo>
                  <a:pt x="56" y="447"/>
                </a:lnTo>
                <a:lnTo>
                  <a:pt x="52" y="442"/>
                </a:lnTo>
                <a:lnTo>
                  <a:pt x="48" y="437"/>
                </a:lnTo>
                <a:lnTo>
                  <a:pt x="44" y="431"/>
                </a:lnTo>
                <a:lnTo>
                  <a:pt x="41" y="425"/>
                </a:lnTo>
                <a:lnTo>
                  <a:pt x="37" y="419"/>
                </a:lnTo>
                <a:lnTo>
                  <a:pt x="34" y="413"/>
                </a:lnTo>
                <a:lnTo>
                  <a:pt x="31" y="407"/>
                </a:lnTo>
                <a:lnTo>
                  <a:pt x="28" y="401"/>
                </a:lnTo>
                <a:lnTo>
                  <a:pt x="25" y="395"/>
                </a:lnTo>
                <a:lnTo>
                  <a:pt x="22" y="389"/>
                </a:lnTo>
                <a:lnTo>
                  <a:pt x="19" y="383"/>
                </a:lnTo>
                <a:lnTo>
                  <a:pt x="17" y="376"/>
                </a:lnTo>
                <a:lnTo>
                  <a:pt x="15" y="370"/>
                </a:lnTo>
                <a:lnTo>
                  <a:pt x="13" y="363"/>
                </a:lnTo>
                <a:lnTo>
                  <a:pt x="11" y="357"/>
                </a:lnTo>
                <a:lnTo>
                  <a:pt x="9" y="350"/>
                </a:lnTo>
                <a:lnTo>
                  <a:pt x="7" y="343"/>
                </a:lnTo>
                <a:lnTo>
                  <a:pt x="6" y="336"/>
                </a:lnTo>
                <a:lnTo>
                  <a:pt x="4" y="330"/>
                </a:lnTo>
                <a:lnTo>
                  <a:pt x="3" y="323"/>
                </a:lnTo>
                <a:lnTo>
                  <a:pt x="2" y="316"/>
                </a:lnTo>
                <a:lnTo>
                  <a:pt x="1" y="309"/>
                </a:lnTo>
                <a:lnTo>
                  <a:pt x="1" y="302"/>
                </a:lnTo>
                <a:lnTo>
                  <a:pt x="0" y="294"/>
                </a:lnTo>
                <a:lnTo>
                  <a:pt x="0" y="287"/>
                </a:lnTo>
                <a:lnTo>
                  <a:pt x="0" y="280"/>
                </a:lnTo>
                <a:lnTo>
                  <a:pt x="0" y="273"/>
                </a:lnTo>
                <a:lnTo>
                  <a:pt x="0" y="266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7" y="184"/>
                </a:lnTo>
                <a:lnTo>
                  <a:pt x="19" y="177"/>
                </a:lnTo>
                <a:lnTo>
                  <a:pt x="22" y="171"/>
                </a:lnTo>
                <a:lnTo>
                  <a:pt x="25" y="165"/>
                </a:lnTo>
                <a:lnTo>
                  <a:pt x="28" y="159"/>
                </a:lnTo>
                <a:lnTo>
                  <a:pt x="31" y="153"/>
                </a:lnTo>
                <a:lnTo>
                  <a:pt x="32" y="150"/>
                </a:lnTo>
                <a:lnTo>
                  <a:pt x="440" y="150"/>
                </a:lnTo>
                <a:close/>
              </a:path>
            </a:pathLst>
          </a:custGeom>
          <a:gradFill>
            <a:gsLst>
              <a:gs pos="0">
                <a:srgbClr val="16335B">
                  <a:alpha val="26000"/>
                </a:srgbClr>
              </a:gs>
              <a:gs pos="100000">
                <a:srgbClr val="2E6DB4">
                  <a:alpha val="2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-1047750" y="4191000"/>
            <a:ext cx="4381500" cy="4381500"/>
          </a:xfrm>
          <a:custGeom>
            <a:pathLst>
              <a:path w="460" h="460">
                <a:moveTo>
                  <a:pt x="236" y="0"/>
                </a:moveTo>
                <a:lnTo>
                  <a:pt x="242" y="0"/>
                </a:lnTo>
                <a:lnTo>
                  <a:pt x="248" y="1"/>
                </a:lnTo>
                <a:lnTo>
                  <a:pt x="254" y="1"/>
                </a:lnTo>
                <a:lnTo>
                  <a:pt x="259" y="2"/>
                </a:lnTo>
                <a:lnTo>
                  <a:pt x="265" y="3"/>
                </a:lnTo>
                <a:lnTo>
                  <a:pt x="271" y="4"/>
                </a:lnTo>
                <a:lnTo>
                  <a:pt x="276" y="5"/>
                </a:lnTo>
                <a:lnTo>
                  <a:pt x="282" y="6"/>
                </a:lnTo>
                <a:lnTo>
                  <a:pt x="287" y="7"/>
                </a:lnTo>
                <a:lnTo>
                  <a:pt x="293" y="9"/>
                </a:lnTo>
                <a:lnTo>
                  <a:pt x="298" y="10"/>
                </a:lnTo>
                <a:lnTo>
                  <a:pt x="304" y="12"/>
                </a:lnTo>
                <a:lnTo>
                  <a:pt x="309" y="14"/>
                </a:lnTo>
                <a:lnTo>
                  <a:pt x="314" y="16"/>
                </a:lnTo>
                <a:lnTo>
                  <a:pt x="319" y="18"/>
                </a:lnTo>
                <a:lnTo>
                  <a:pt x="325" y="20"/>
                </a:lnTo>
                <a:lnTo>
                  <a:pt x="330" y="23"/>
                </a:lnTo>
                <a:lnTo>
                  <a:pt x="335" y="25"/>
                </a:lnTo>
                <a:lnTo>
                  <a:pt x="340" y="28"/>
                </a:lnTo>
                <a:lnTo>
                  <a:pt x="344" y="30"/>
                </a:lnTo>
                <a:lnTo>
                  <a:pt x="349" y="33"/>
                </a:lnTo>
                <a:lnTo>
                  <a:pt x="354" y="36"/>
                </a:lnTo>
                <a:lnTo>
                  <a:pt x="359" y="39"/>
                </a:lnTo>
                <a:lnTo>
                  <a:pt x="363" y="42"/>
                </a:lnTo>
                <a:lnTo>
                  <a:pt x="368" y="46"/>
                </a:lnTo>
                <a:lnTo>
                  <a:pt x="372" y="49"/>
                </a:lnTo>
                <a:lnTo>
                  <a:pt x="376" y="53"/>
                </a:lnTo>
                <a:lnTo>
                  <a:pt x="380" y="56"/>
                </a:lnTo>
                <a:lnTo>
                  <a:pt x="385" y="60"/>
                </a:lnTo>
                <a:lnTo>
                  <a:pt x="389" y="64"/>
                </a:lnTo>
                <a:lnTo>
                  <a:pt x="393" y="67"/>
                </a:lnTo>
                <a:lnTo>
                  <a:pt x="396" y="71"/>
                </a:lnTo>
                <a:lnTo>
                  <a:pt x="400" y="75"/>
                </a:lnTo>
                <a:lnTo>
                  <a:pt x="404" y="80"/>
                </a:lnTo>
                <a:lnTo>
                  <a:pt x="407" y="84"/>
                </a:lnTo>
                <a:lnTo>
                  <a:pt x="411" y="88"/>
                </a:lnTo>
                <a:lnTo>
                  <a:pt x="414" y="92"/>
                </a:lnTo>
                <a:lnTo>
                  <a:pt x="418" y="97"/>
                </a:lnTo>
                <a:lnTo>
                  <a:pt x="421" y="101"/>
                </a:lnTo>
                <a:lnTo>
                  <a:pt x="424" y="106"/>
                </a:lnTo>
                <a:lnTo>
                  <a:pt x="427" y="111"/>
                </a:lnTo>
                <a:lnTo>
                  <a:pt x="430" y="116"/>
                </a:lnTo>
                <a:lnTo>
                  <a:pt x="432" y="120"/>
                </a:lnTo>
                <a:lnTo>
                  <a:pt x="435" y="125"/>
                </a:lnTo>
                <a:lnTo>
                  <a:pt x="437" y="130"/>
                </a:lnTo>
                <a:lnTo>
                  <a:pt x="440" y="135"/>
                </a:lnTo>
                <a:lnTo>
                  <a:pt x="442" y="141"/>
                </a:lnTo>
                <a:lnTo>
                  <a:pt x="444" y="146"/>
                </a:lnTo>
                <a:lnTo>
                  <a:pt x="446" y="151"/>
                </a:lnTo>
                <a:lnTo>
                  <a:pt x="448" y="156"/>
                </a:lnTo>
                <a:lnTo>
                  <a:pt x="450" y="162"/>
                </a:lnTo>
                <a:lnTo>
                  <a:pt x="451" y="167"/>
                </a:lnTo>
                <a:lnTo>
                  <a:pt x="453" y="173"/>
                </a:lnTo>
                <a:lnTo>
                  <a:pt x="454" y="178"/>
                </a:lnTo>
                <a:lnTo>
                  <a:pt x="455" y="184"/>
                </a:lnTo>
                <a:lnTo>
                  <a:pt x="456" y="189"/>
                </a:lnTo>
                <a:lnTo>
                  <a:pt x="457" y="195"/>
                </a:lnTo>
                <a:lnTo>
                  <a:pt x="458" y="201"/>
                </a:lnTo>
                <a:lnTo>
                  <a:pt x="459" y="206"/>
                </a:lnTo>
                <a:lnTo>
                  <a:pt x="459" y="212"/>
                </a:lnTo>
                <a:lnTo>
                  <a:pt x="460" y="218"/>
                </a:lnTo>
                <a:lnTo>
                  <a:pt x="460" y="224"/>
                </a:lnTo>
                <a:lnTo>
                  <a:pt x="460" y="230"/>
                </a:lnTo>
                <a:lnTo>
                  <a:pt x="460" y="236"/>
                </a:lnTo>
                <a:lnTo>
                  <a:pt x="460" y="242"/>
                </a:lnTo>
                <a:lnTo>
                  <a:pt x="459" y="248"/>
                </a:lnTo>
                <a:lnTo>
                  <a:pt x="459" y="254"/>
                </a:lnTo>
                <a:lnTo>
                  <a:pt x="458" y="259"/>
                </a:lnTo>
                <a:lnTo>
                  <a:pt x="457" y="265"/>
                </a:lnTo>
                <a:lnTo>
                  <a:pt x="456" y="271"/>
                </a:lnTo>
                <a:lnTo>
                  <a:pt x="455" y="276"/>
                </a:lnTo>
                <a:lnTo>
                  <a:pt x="455" y="280"/>
                </a:lnTo>
                <a:lnTo>
                  <a:pt x="110" y="280"/>
                </a:lnTo>
                <a:lnTo>
                  <a:pt x="110" y="34"/>
                </a:lnTo>
                <a:lnTo>
                  <a:pt x="111" y="33"/>
                </a:lnTo>
                <a:lnTo>
                  <a:pt x="116" y="30"/>
                </a:lnTo>
                <a:lnTo>
                  <a:pt x="120" y="28"/>
                </a:lnTo>
                <a:lnTo>
                  <a:pt x="125" y="25"/>
                </a:lnTo>
                <a:lnTo>
                  <a:pt x="130" y="23"/>
                </a:lnTo>
                <a:lnTo>
                  <a:pt x="135" y="20"/>
                </a:lnTo>
                <a:lnTo>
                  <a:pt x="141" y="18"/>
                </a:lnTo>
                <a:lnTo>
                  <a:pt x="146" y="16"/>
                </a:lnTo>
                <a:lnTo>
                  <a:pt x="151" y="14"/>
                </a:lnTo>
                <a:lnTo>
                  <a:pt x="156" y="12"/>
                </a:lnTo>
                <a:lnTo>
                  <a:pt x="162" y="10"/>
                </a:lnTo>
                <a:lnTo>
                  <a:pt x="167" y="9"/>
                </a:lnTo>
                <a:lnTo>
                  <a:pt x="173" y="7"/>
                </a:lnTo>
                <a:lnTo>
                  <a:pt x="178" y="6"/>
                </a:lnTo>
                <a:lnTo>
                  <a:pt x="184" y="5"/>
                </a:lnTo>
                <a:lnTo>
                  <a:pt x="189" y="4"/>
                </a:lnTo>
                <a:lnTo>
                  <a:pt x="195" y="3"/>
                </a:lnTo>
                <a:lnTo>
                  <a:pt x="201" y="2"/>
                </a:lnTo>
                <a:lnTo>
                  <a:pt x="206" y="1"/>
                </a:lnTo>
                <a:lnTo>
                  <a:pt x="212" y="1"/>
                </a:lnTo>
                <a:lnTo>
                  <a:pt x="218" y="0"/>
                </a:lnTo>
                <a:lnTo>
                  <a:pt x="224" y="0"/>
                </a:lnTo>
                <a:lnTo>
                  <a:pt x="230" y="0"/>
                </a:lnTo>
                <a:close/>
              </a:path>
            </a:pathLst>
          </a:custGeom>
          <a:gradFill>
            <a:gsLst>
              <a:gs pos="0">
                <a:srgbClr val="16335B">
                  <a:alpha val="16000"/>
                </a:srgbClr>
              </a:gs>
              <a:gs pos="100000">
                <a:srgbClr val="2E6DB4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981575" y="1724025"/>
            <a:ext cx="2238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300">
                <a:solidFill>
                  <a:srgbClr val="5FA8E6"/>
                </a:solidFill>
                <a:latin typeface="PingFang SC"/>
                <a:ea typeface="PingFang SC"/>
              </a:rPr>
              <a:t>REGENT · </a:t>
            </a:r>
            <a:r>
              <a:rPr lang="zh-CN" sz="1500" b="1" spc="300">
                <a:solidFill>
                  <a:srgbClr val="5FA8E6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191000" y="2143125"/>
            <a:ext cx="3819525" cy="685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500" b="1">
                <a:solidFill>
                  <a:srgbClr val="FFFFFF"/>
                </a:solidFill>
                <a:latin typeface="PingFang SC"/>
                <a:ea typeface="PingFang SC"/>
              </a:rPr>
              <a:t>让</a:t>
            </a:r>
            <a:r>
              <a:rPr lang="en-US" sz="4500" b="1">
                <a:solidFill>
                  <a:srgbClr val="FFFFFF"/>
                </a:solidFill>
                <a:latin typeface="PingFang SC"/>
                <a:ea typeface="PingFang SC"/>
              </a:rPr>
              <a:t> AI </a:t>
            </a:r>
            <a:r>
              <a:rPr lang="zh-CN" sz="4500" b="1">
                <a:solidFill>
                  <a:srgbClr val="FFFFFF"/>
                </a:solidFill>
                <a:latin typeface="PingFang SC"/>
                <a:ea typeface="PingFang SC"/>
              </a:rPr>
              <a:t>真正干事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3810000" y="2886075"/>
            <a:ext cx="4572000" cy="685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500" b="1">
                <a:solidFill>
                  <a:srgbClr val="FFFFFF"/>
                </a:solidFill>
                <a:latin typeface="PingFang SC"/>
                <a:ea typeface="PingFang SC"/>
              </a:rPr>
              <a:t>且始终在</a:t>
            </a:r>
            <a:r>
              <a:rPr lang="zh-CN" sz="4500" b="1">
                <a:solidFill>
                  <a:srgbClr val="F4B400"/>
                </a:solidFill>
                <a:latin typeface="PingFang SC"/>
                <a:ea typeface="PingFang SC"/>
              </a:rPr>
              <a:t>掌控之中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5476875" y="3857625"/>
            <a:ext cx="123825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2E6DB4"/>
              </a:gs>
              <a:gs pos="100000">
                <a:srgbClr val="D7263D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057525" y="4200525"/>
            <a:ext cx="6086475" cy="276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800">
                <a:solidFill>
                  <a:srgbClr val="CBD5E1"/>
                </a:solidFill>
                <a:latin typeface="PingFang SC"/>
                <a:ea typeface="PingFang SC"/>
              </a:rPr>
              <a:t>期待与省市共建持久运营标杆，让</a:t>
            </a:r>
            <a:r>
              <a:rPr lang="en-US" sz="1800">
                <a:solidFill>
                  <a:srgbClr val="CBD5E1"/>
                </a:solidFill>
                <a:latin typeface="PingFang SC"/>
                <a:ea typeface="PingFang SC"/>
              </a:rPr>
              <a:t> AI </a:t>
            </a:r>
            <a:r>
              <a:rPr lang="zh-CN" sz="1800">
                <a:solidFill>
                  <a:srgbClr val="CBD5E1"/>
                </a:solidFill>
                <a:latin typeface="PingFang SC"/>
                <a:ea typeface="PingFang SC"/>
              </a:rPr>
              <a:t>服务于高质量发展大局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895850" y="4819650"/>
            <a:ext cx="2409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</a:rPr>
              <a:t>谢谢聆听</a:t>
            </a:r>
            <a:r>
              <a:rPr lang="en-US" sz="2100" b="1">
                <a:solidFill>
                  <a:srgbClr val="FFFFFF"/>
                </a:solidFill>
                <a:latin typeface="PingFang SC"/>
                <a:ea typeface="PingFang SC"/>
              </a:rPr>
              <a:t> · </a:t>
            </a:r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</a:rPr>
              <a:t>欢迎指导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609600" y="6353175"/>
            <a:ext cx="1676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Regent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系统介绍</a:t>
            </a: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 · </a:t>
            </a:r>
            <a:r>
              <a:rPr lang="zh-CN" sz="1050">
                <a:solidFill>
                  <a:srgbClr val="64748B"/>
                </a:solidFill>
                <a:latin typeface="PingFang SC"/>
                <a:ea typeface="PingFang SC"/>
              </a:rPr>
              <a:t>树米科技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125200" y="63531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PingFang SC"/>
                <a:ea typeface="PingFang SC"/>
              </a:rPr>
              <a:t>20 / 20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2026-08-05T22:43:30Z</dcterms:created>
  <dcterms:modified xsi:type="dcterms:W3CDTF">2026-08-05T22:43:30Z</dcterms:modified>
</cp:coreProperties>
</file>