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1.xml" ContentType="application/vnd.openxmlformats-officedocument.presentationml.slide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2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5" Type="http://schemas.openxmlformats.org/officeDocument/2006/relationships/slide" Target="slides/slide15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4" Type="http://schemas.openxmlformats.org/officeDocument/2006/relationships/slide" Target="slides/slide4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7" Type="http://schemas.openxmlformats.org/officeDocument/2006/relationships/slide" Target="slides/slide7.xml" /><Relationship Id="rId20" Type="http://schemas.openxmlformats.org/officeDocument/2006/relationships/slide" Target="slides/slide20.xml" /><Relationship Id="rId21" Type="http://schemas.openxmlformats.org/officeDocument/2006/relationships/notesMaster" Target="notesMasters/notesMaster1.xml" 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6" Type="http://schemas.openxmlformats.org/officeDocument/2006/relationships/slide" Target="slides/slide6.xml" /><Relationship Id="rId24" Type="http://schemas.openxmlformats.org/officeDocument/2006/relationships/viewProps" Target="viewProps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3" Type="http://schemas.openxmlformats.org/officeDocument/2006/relationships/image" Target="media/image3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Relationship Id="rId2" Type="http://schemas.openxmlformats.org/officeDocument/2006/relationships/image" Target="media/image8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Relationship Id="rId2" Type="http://schemas.openxmlformats.org/officeDocument/2006/relationships/image" Target="media/image10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Relationship Id="rId3" Type="http://schemas.openxmlformats.org/officeDocument/2006/relationships/image" Target="media/image13.svg" /><Relationship Id="rId2" Type="http://schemas.openxmlformats.org/officeDocument/2006/relationships/image" Target="media/image10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chart" Target="charts/chart1.xml" /><Relationship Id="rId1" Type="http://schemas.openxmlformats.org/officeDocument/2006/relationships/slideLayout" Target="../slideLayouts/slideLayout1.xml" /><Relationship Id="rId2" Type="http://schemas.openxmlformats.org/officeDocument/2006/relationships/image" Target="media/image2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2" Type="http://schemas.openxmlformats.org/officeDocument/2006/relationships/image" Target="media/image5.svg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charts/chart1.xml><?xml version="1.0" encoding="utf-8"?>
<c:chartSpace xmlns:a="http://schemas.openxmlformats.org/drawingml/2006/main" xmlns:c="http://schemas.openxmlformats.org/drawingml/2006/chart">
  <c:chart>
    <c:title>
      <c:tx>
        <c:rich>
          <a:bodyPr/>
          <a:p>
            <a:pPr>
              <a:defRPr sz="1350">
                <a:solidFill>
                  <a:srgbClr val="1E293B"/>
                </a:solidFill>
              </a:defRPr>
            </a:pPr>
            <a:r>
              <a:rPr sz="1350">
                <a:solidFill>
                  <a:srgbClr val="1E293B"/>
                </a:solidFill>
              </a:rPr>
              <a:t>各阶段：架构复杂度 vs 可交付能力</a:t>
            </a:r>
          </a:p>
        </c:rich>
      </c:tx>
      <c:overlay val="0"/>
      <c:spPr>
        <a:noFill/>
        <a:ln>
          <a:noFill/>
        </a:ln>
        <a:effectLst/>
      </c:spPr>
      <c:txPr>
        <a:bodyPr/>
        <a:p>
          <a:pPr>
            <a:defRPr sz="1350">
              <a:solidFill>
                <a:srgbClr val="1E293B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架构复杂度</c:v>
                </c:pt>
              </c:strCache>
            </c:strRef>
          </c:tx>
          <c:spPr>
            <a:solidFill>
              <a:srgbClr val="3B82F6"/>
            </a:solidFill>
          </c:spPr>
          <c:dLbls>
            <c:txPr>
              <a:bodyPr/>
              <a:p>
                <a:pPr>
                  <a:defRPr sz="750">
                    <a:solidFill>
                      <a:srgbClr val="1E293B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5"/>
                <c:pt idx="0">
                  <c:v>P0 内核</c:v>
                </c:pt>
                <c:pt idx="1">
                  <c:v>P1 闭环</c:v>
                </c:pt>
                <c:pt idx="2">
                  <c:v>P2 治理</c:v>
                </c:pt>
                <c:pt idx="3">
                  <c:v>P3 测量</c:v>
                </c:pt>
                <c:pt idx="4">
                  <c:v>P4 末期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20</c:v>
                </c:pt>
                <c:pt idx="1">
                  <c:v>45</c:v>
                </c:pt>
                <c:pt idx="2">
                  <c:v>70</c:v>
                </c:pt>
                <c:pt idx="3">
                  <c:v>85</c:v>
                </c:pt>
                <c:pt idx="4">
                  <c:v>96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可交付能力</c:v>
                </c:pt>
              </c:strCache>
            </c:strRef>
          </c:tx>
          <c:spPr>
            <a:solidFill>
              <a:srgbClr val="EF4444"/>
            </a:solidFill>
          </c:spPr>
          <c:dLbls>
            <c:txPr>
              <a:bodyPr/>
              <a:p>
                <a:pPr>
                  <a:defRPr sz="750">
                    <a:solidFill>
                      <a:srgbClr val="1E293B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5"/>
                <c:pt idx="0">
                  <c:v>P0 内核</c:v>
                </c:pt>
                <c:pt idx="1">
                  <c:v>P1 闭环</c:v>
                </c:pt>
                <c:pt idx="2">
                  <c:v>P2 治理</c:v>
                </c:pt>
                <c:pt idx="3">
                  <c:v>P3 测量</c:v>
                </c:pt>
                <c:pt idx="4">
                  <c:v>P4 末期</c:v>
                </c:pt>
              </c:strCache>
            </c:strRef>
          </c:cat>
          <c:val>
            <c:numRef>
              <c:numCache>
                <c:formatCode>General</c:formatCode>
                <c:ptCount val="5"/>
                <c:pt idx="0">
                  <c:v>80</c:v>
                </c:pt>
                <c:pt idx="1">
                  <c:v>70</c:v>
                </c:pt>
                <c:pt idx="2">
                  <c:v>55</c:v>
                </c:pt>
                <c:pt idx="3">
                  <c:v>45</c:v>
                </c:pt>
                <c:pt idx="4">
                  <c:v>28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94A3B8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94A3B8"/>
                </a:solidFill>
              </a:defRPr>
            </a:pPr>
          </a:p>
        </c:txPr>
        <c:crossAx val="89736801"/>
        <c:crossBetween val="between"/>
      </c:valAx>
      <c:spPr>
        <a:solidFill>
          <a:srgbClr val="F1F5F9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p>
          <a:pPr>
            <a:defRPr sz="900">
              <a:solidFill>
                <a:srgbClr val="64748B"/>
              </a:solidFill>
            </a:defRPr>
          </a:pPr>
        </a:p>
      </c:txPr>
    </c:legend>
    <c:dispBlanksAs val="gap"/>
  </c:chart>
</c:chartSpace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'1280px', height: '720px', background: '#0F172A', fontFamily: &quot;'PingFang SC','Microsoft YaHei','Helvetica Neue',sans-serif&quot;, overflow: 'hidden' }}&gt;&#10;  &lt;Box style={{ position: 'absolute', top: -140, right: -120, width: 540, height: 540, borderRadius: 270, background: 'linear-gradient(135deg,#3B82F6 0%,#06B6D4 100%)', opacity: 0.18 }} /&gt;&#10;  &lt;Box style={{ position: 'absolute', bottom: -180, left: -110, width: 460, height: 460, borderRadius: 230, background: 'linear-gradient(135deg,#3B82F6 0%,#06B6D4 100%)', opacity: 0.12 }} /&gt;&#10;&#10;  &lt;Box style={{ position: 'absolute', top: 48, left: 64, right: 64, flexDirection: 'row', justifyContent: 'space-between', alignItems: 'center' }}&gt;&#10;    &lt;Text style={{ fontSize: 18, color: '#94A3B8', letterSpacing: 2 }}&gt;内部技术复盘 · 2026&lt;/Text&gt;&#10;    &lt;Text style={{ fontSize: 18, color: '#94A3B8' }}&gt;Agent 架构学习课堂&lt;/Text&gt;&#10;  &lt;/Box&gt;&#10;&#10;  &lt;Box style={{ position: 'absolute', top: 210, left: 64, right: 64 }}&gt;&#10;    &lt;Text style={{ fontSize: 22, color: '#06B6D4', fontWeight: 'bold', letterSpacing: 4, marginBottom: 18 }}&gt;REGENT FAILURE POSTMORTEM&lt;/Text&gt;&#10;    &lt;Text style={{ fontSize: 76, fontWeight: 'bold', color: '#FFFFFF', lineHeight: 1.15 }}&gt;&#10;      Regent &lt;span style={{ color: '#3B82F6' }}&gt;失败案例&lt;/span&gt;复盘&#10;    &lt;/Text&gt;&#10;    &lt;Box style={{ width: 130, height: 6, background: 'linear-gradient(90deg,#3B82F6,#06B6D4)', marginTop: 30, marginBottom: 30, borderRadius: 3 }} /&gt;&#10;    &lt;Text style={{ fontSize: 26, color: '#CBD5E1', lineHeight: 1.7 }}&gt;&#10;      定义没问题，需求没问题 —— 但我们一直在周边敲边鼓，&lt;br /&gt;&#10;      &lt;span style={{ color: '#FFFFFF', fontWeight: 'bold' }}&gt;核心的单 Agent 闭环，始终没打通。&lt;/span&gt;&#10;    &lt;/Text&gt;&#10;  &lt;/Box&gt;&#10;&#10;  &lt;Box style={{ position: 'absolute', bottom: 36, left: 64, right: 64, flexDirection: 'row', justifyContent: 'space-between', alignItems: 'center' }}&gt;&#10;    &lt;Text style={{ fontSize: 14, color: '#64748B' }}&gt;Regent 失败案例复盘&lt;/Text&gt;&#10;    &lt;Text style={{ fontSize: 14, color: '#64748B' }}&gt;01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8191500" y="-1333500"/>
            <a:ext cx="5143500" cy="5143500"/>
          </a:xfrm>
          <a:custGeom>
            <a:pathLst>
              <a:path w="540" h="540">
                <a:moveTo>
                  <a:pt x="420" y="494"/>
                </a:moveTo>
                <a:lnTo>
                  <a:pt x="415" y="497"/>
                </a:lnTo>
                <a:lnTo>
                  <a:pt x="410" y="501"/>
                </a:lnTo>
                <a:lnTo>
                  <a:pt x="404" y="504"/>
                </a:lnTo>
                <a:lnTo>
                  <a:pt x="399" y="507"/>
                </a:lnTo>
                <a:lnTo>
                  <a:pt x="393" y="510"/>
                </a:lnTo>
                <a:lnTo>
                  <a:pt x="387" y="513"/>
                </a:lnTo>
                <a:lnTo>
                  <a:pt x="381" y="516"/>
                </a:lnTo>
                <a:lnTo>
                  <a:pt x="375" y="519"/>
                </a:lnTo>
                <a:lnTo>
                  <a:pt x="369" y="521"/>
                </a:lnTo>
                <a:lnTo>
                  <a:pt x="363" y="524"/>
                </a:lnTo>
                <a:lnTo>
                  <a:pt x="357" y="526"/>
                </a:lnTo>
                <a:lnTo>
                  <a:pt x="350" y="528"/>
                </a:lnTo>
                <a:lnTo>
                  <a:pt x="344" y="530"/>
                </a:lnTo>
                <a:lnTo>
                  <a:pt x="337" y="531"/>
                </a:lnTo>
                <a:lnTo>
                  <a:pt x="331" y="533"/>
                </a:lnTo>
                <a:lnTo>
                  <a:pt x="324" y="535"/>
                </a:lnTo>
                <a:lnTo>
                  <a:pt x="318" y="536"/>
                </a:lnTo>
                <a:lnTo>
                  <a:pt x="311" y="537"/>
                </a:lnTo>
                <a:lnTo>
                  <a:pt x="304" y="538"/>
                </a:lnTo>
                <a:lnTo>
                  <a:pt x="298" y="539"/>
                </a:lnTo>
                <a:lnTo>
                  <a:pt x="291" y="539"/>
                </a:lnTo>
                <a:lnTo>
                  <a:pt x="284" y="540"/>
                </a:lnTo>
                <a:lnTo>
                  <a:pt x="277" y="540"/>
                </a:lnTo>
                <a:lnTo>
                  <a:pt x="270" y="540"/>
                </a:lnTo>
                <a:lnTo>
                  <a:pt x="263" y="540"/>
                </a:lnTo>
                <a:lnTo>
                  <a:pt x="256" y="540"/>
                </a:lnTo>
                <a:lnTo>
                  <a:pt x="249" y="539"/>
                </a:lnTo>
                <a:lnTo>
                  <a:pt x="242" y="539"/>
                </a:lnTo>
                <a:lnTo>
                  <a:pt x="236" y="538"/>
                </a:lnTo>
                <a:lnTo>
                  <a:pt x="229" y="537"/>
                </a:lnTo>
                <a:lnTo>
                  <a:pt x="222" y="536"/>
                </a:lnTo>
                <a:lnTo>
                  <a:pt x="216" y="535"/>
                </a:lnTo>
                <a:lnTo>
                  <a:pt x="209" y="533"/>
                </a:lnTo>
                <a:lnTo>
                  <a:pt x="203" y="531"/>
                </a:lnTo>
                <a:lnTo>
                  <a:pt x="196" y="530"/>
                </a:lnTo>
                <a:lnTo>
                  <a:pt x="190" y="528"/>
                </a:lnTo>
                <a:lnTo>
                  <a:pt x="183" y="526"/>
                </a:lnTo>
                <a:lnTo>
                  <a:pt x="177" y="524"/>
                </a:lnTo>
                <a:lnTo>
                  <a:pt x="171" y="521"/>
                </a:lnTo>
                <a:lnTo>
                  <a:pt x="165" y="519"/>
                </a:lnTo>
                <a:lnTo>
                  <a:pt x="159" y="516"/>
                </a:lnTo>
                <a:lnTo>
                  <a:pt x="153" y="513"/>
                </a:lnTo>
                <a:lnTo>
                  <a:pt x="147" y="510"/>
                </a:lnTo>
                <a:lnTo>
                  <a:pt x="141" y="507"/>
                </a:lnTo>
                <a:lnTo>
                  <a:pt x="136" y="504"/>
                </a:lnTo>
                <a:lnTo>
                  <a:pt x="130" y="501"/>
                </a:lnTo>
                <a:lnTo>
                  <a:pt x="125" y="497"/>
                </a:lnTo>
                <a:lnTo>
                  <a:pt x="119" y="494"/>
                </a:lnTo>
                <a:lnTo>
                  <a:pt x="114" y="490"/>
                </a:lnTo>
                <a:lnTo>
                  <a:pt x="108" y="486"/>
                </a:lnTo>
                <a:lnTo>
                  <a:pt x="103" y="482"/>
                </a:lnTo>
                <a:lnTo>
                  <a:pt x="98" y="478"/>
                </a:lnTo>
                <a:lnTo>
                  <a:pt x="93" y="474"/>
                </a:lnTo>
                <a:lnTo>
                  <a:pt x="88" y="470"/>
                </a:lnTo>
                <a:lnTo>
                  <a:pt x="84" y="465"/>
                </a:lnTo>
                <a:lnTo>
                  <a:pt x="79" y="461"/>
                </a:lnTo>
                <a:lnTo>
                  <a:pt x="75" y="456"/>
                </a:lnTo>
                <a:lnTo>
                  <a:pt x="70" y="452"/>
                </a:lnTo>
                <a:lnTo>
                  <a:pt x="66" y="447"/>
                </a:lnTo>
                <a:lnTo>
                  <a:pt x="62" y="442"/>
                </a:lnTo>
                <a:lnTo>
                  <a:pt x="58" y="437"/>
                </a:lnTo>
                <a:lnTo>
                  <a:pt x="54" y="432"/>
                </a:lnTo>
                <a:lnTo>
                  <a:pt x="50" y="426"/>
                </a:lnTo>
                <a:lnTo>
                  <a:pt x="46" y="421"/>
                </a:lnTo>
                <a:lnTo>
                  <a:pt x="43" y="415"/>
                </a:lnTo>
                <a:lnTo>
                  <a:pt x="39" y="410"/>
                </a:lnTo>
                <a:lnTo>
                  <a:pt x="36" y="404"/>
                </a:lnTo>
                <a:lnTo>
                  <a:pt x="33" y="399"/>
                </a:lnTo>
                <a:lnTo>
                  <a:pt x="30" y="393"/>
                </a:lnTo>
                <a:lnTo>
                  <a:pt x="27" y="387"/>
                </a:lnTo>
                <a:lnTo>
                  <a:pt x="24" y="381"/>
                </a:lnTo>
                <a:lnTo>
                  <a:pt x="21" y="375"/>
                </a:lnTo>
                <a:lnTo>
                  <a:pt x="19" y="369"/>
                </a:lnTo>
                <a:lnTo>
                  <a:pt x="16" y="363"/>
                </a:lnTo>
                <a:lnTo>
                  <a:pt x="14" y="357"/>
                </a:lnTo>
                <a:lnTo>
                  <a:pt x="12" y="350"/>
                </a:lnTo>
                <a:lnTo>
                  <a:pt x="10" y="344"/>
                </a:lnTo>
                <a:lnTo>
                  <a:pt x="9" y="337"/>
                </a:lnTo>
                <a:lnTo>
                  <a:pt x="7" y="331"/>
                </a:lnTo>
                <a:lnTo>
                  <a:pt x="5" y="324"/>
                </a:lnTo>
                <a:lnTo>
                  <a:pt x="4" y="318"/>
                </a:lnTo>
                <a:lnTo>
                  <a:pt x="3" y="311"/>
                </a:lnTo>
                <a:lnTo>
                  <a:pt x="2" y="304"/>
                </a:lnTo>
                <a:lnTo>
                  <a:pt x="1" y="298"/>
                </a:lnTo>
                <a:lnTo>
                  <a:pt x="1" y="291"/>
                </a:lnTo>
                <a:lnTo>
                  <a:pt x="0" y="284"/>
                </a:lnTo>
                <a:lnTo>
                  <a:pt x="0" y="277"/>
                </a:lnTo>
                <a:lnTo>
                  <a:pt x="0" y="270"/>
                </a:lnTo>
                <a:lnTo>
                  <a:pt x="0" y="263"/>
                </a:lnTo>
                <a:lnTo>
                  <a:pt x="0" y="256"/>
                </a:lnTo>
                <a:lnTo>
                  <a:pt x="1" y="249"/>
                </a:lnTo>
                <a:lnTo>
                  <a:pt x="1" y="242"/>
                </a:lnTo>
                <a:lnTo>
                  <a:pt x="2" y="236"/>
                </a:lnTo>
                <a:lnTo>
                  <a:pt x="3" y="229"/>
                </a:lnTo>
                <a:lnTo>
                  <a:pt x="4" y="222"/>
                </a:lnTo>
                <a:lnTo>
                  <a:pt x="5" y="216"/>
                </a:lnTo>
                <a:lnTo>
                  <a:pt x="7" y="209"/>
                </a:lnTo>
                <a:lnTo>
                  <a:pt x="9" y="203"/>
                </a:lnTo>
                <a:lnTo>
                  <a:pt x="10" y="196"/>
                </a:lnTo>
                <a:lnTo>
                  <a:pt x="12" y="190"/>
                </a:lnTo>
                <a:lnTo>
                  <a:pt x="14" y="183"/>
                </a:lnTo>
                <a:lnTo>
                  <a:pt x="16" y="177"/>
                </a:lnTo>
                <a:lnTo>
                  <a:pt x="19" y="171"/>
                </a:lnTo>
                <a:lnTo>
                  <a:pt x="21" y="165"/>
                </a:lnTo>
                <a:lnTo>
                  <a:pt x="24" y="159"/>
                </a:lnTo>
                <a:lnTo>
                  <a:pt x="27" y="153"/>
                </a:lnTo>
                <a:lnTo>
                  <a:pt x="30" y="147"/>
                </a:lnTo>
                <a:lnTo>
                  <a:pt x="33" y="141"/>
                </a:lnTo>
                <a:lnTo>
                  <a:pt x="33" y="140"/>
                </a:lnTo>
                <a:lnTo>
                  <a:pt x="420" y="140"/>
                </a:lnTo>
                <a:close/>
              </a:path>
            </a:pathLst>
          </a:custGeom>
          <a:gradFill>
            <a:gsLst>
              <a:gs pos="0">
                <a:srgbClr val="3B82F6">
                  <a:alpha val="18000"/>
                </a:srgbClr>
              </a:gs>
              <a:gs pos="100000">
                <a:srgbClr val="06B6D4">
                  <a:alpha val="18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-1047750" y="4191000"/>
            <a:ext cx="4381500" cy="4381500"/>
          </a:xfrm>
          <a:custGeom>
            <a:pathLst>
              <a:path w="460" h="460">
                <a:moveTo>
                  <a:pt x="236" y="0"/>
                </a:moveTo>
                <a:lnTo>
                  <a:pt x="242" y="0"/>
                </a:lnTo>
                <a:lnTo>
                  <a:pt x="248" y="1"/>
                </a:lnTo>
                <a:lnTo>
                  <a:pt x="254" y="1"/>
                </a:lnTo>
                <a:lnTo>
                  <a:pt x="259" y="2"/>
                </a:lnTo>
                <a:lnTo>
                  <a:pt x="265" y="3"/>
                </a:lnTo>
                <a:lnTo>
                  <a:pt x="271" y="4"/>
                </a:lnTo>
                <a:lnTo>
                  <a:pt x="276" y="5"/>
                </a:lnTo>
                <a:lnTo>
                  <a:pt x="282" y="6"/>
                </a:lnTo>
                <a:lnTo>
                  <a:pt x="287" y="7"/>
                </a:lnTo>
                <a:lnTo>
                  <a:pt x="293" y="9"/>
                </a:lnTo>
                <a:lnTo>
                  <a:pt x="298" y="10"/>
                </a:lnTo>
                <a:lnTo>
                  <a:pt x="304" y="12"/>
                </a:lnTo>
                <a:lnTo>
                  <a:pt x="309" y="14"/>
                </a:lnTo>
                <a:lnTo>
                  <a:pt x="314" y="16"/>
                </a:lnTo>
                <a:lnTo>
                  <a:pt x="319" y="18"/>
                </a:lnTo>
                <a:lnTo>
                  <a:pt x="325" y="20"/>
                </a:lnTo>
                <a:lnTo>
                  <a:pt x="330" y="23"/>
                </a:lnTo>
                <a:lnTo>
                  <a:pt x="335" y="25"/>
                </a:lnTo>
                <a:lnTo>
                  <a:pt x="340" y="28"/>
                </a:lnTo>
                <a:lnTo>
                  <a:pt x="344" y="30"/>
                </a:lnTo>
                <a:lnTo>
                  <a:pt x="349" y="33"/>
                </a:lnTo>
                <a:lnTo>
                  <a:pt x="354" y="36"/>
                </a:lnTo>
                <a:lnTo>
                  <a:pt x="359" y="39"/>
                </a:lnTo>
                <a:lnTo>
                  <a:pt x="363" y="42"/>
                </a:lnTo>
                <a:lnTo>
                  <a:pt x="368" y="46"/>
                </a:lnTo>
                <a:lnTo>
                  <a:pt x="372" y="49"/>
                </a:lnTo>
                <a:lnTo>
                  <a:pt x="376" y="53"/>
                </a:lnTo>
                <a:lnTo>
                  <a:pt x="380" y="56"/>
                </a:lnTo>
                <a:lnTo>
                  <a:pt x="385" y="60"/>
                </a:lnTo>
                <a:lnTo>
                  <a:pt x="389" y="64"/>
                </a:lnTo>
                <a:lnTo>
                  <a:pt x="393" y="67"/>
                </a:lnTo>
                <a:lnTo>
                  <a:pt x="396" y="71"/>
                </a:lnTo>
                <a:lnTo>
                  <a:pt x="400" y="75"/>
                </a:lnTo>
                <a:lnTo>
                  <a:pt x="404" y="80"/>
                </a:lnTo>
                <a:lnTo>
                  <a:pt x="407" y="84"/>
                </a:lnTo>
                <a:lnTo>
                  <a:pt x="411" y="88"/>
                </a:lnTo>
                <a:lnTo>
                  <a:pt x="414" y="92"/>
                </a:lnTo>
                <a:lnTo>
                  <a:pt x="418" y="97"/>
                </a:lnTo>
                <a:lnTo>
                  <a:pt x="421" y="101"/>
                </a:lnTo>
                <a:lnTo>
                  <a:pt x="424" y="106"/>
                </a:lnTo>
                <a:lnTo>
                  <a:pt x="427" y="111"/>
                </a:lnTo>
                <a:lnTo>
                  <a:pt x="430" y="116"/>
                </a:lnTo>
                <a:lnTo>
                  <a:pt x="432" y="120"/>
                </a:lnTo>
                <a:lnTo>
                  <a:pt x="435" y="125"/>
                </a:lnTo>
                <a:lnTo>
                  <a:pt x="437" y="130"/>
                </a:lnTo>
                <a:lnTo>
                  <a:pt x="440" y="135"/>
                </a:lnTo>
                <a:lnTo>
                  <a:pt x="442" y="141"/>
                </a:lnTo>
                <a:lnTo>
                  <a:pt x="444" y="146"/>
                </a:lnTo>
                <a:lnTo>
                  <a:pt x="446" y="151"/>
                </a:lnTo>
                <a:lnTo>
                  <a:pt x="448" y="156"/>
                </a:lnTo>
                <a:lnTo>
                  <a:pt x="450" y="162"/>
                </a:lnTo>
                <a:lnTo>
                  <a:pt x="451" y="167"/>
                </a:lnTo>
                <a:lnTo>
                  <a:pt x="453" y="173"/>
                </a:lnTo>
                <a:lnTo>
                  <a:pt x="454" y="178"/>
                </a:lnTo>
                <a:lnTo>
                  <a:pt x="455" y="184"/>
                </a:lnTo>
                <a:lnTo>
                  <a:pt x="456" y="189"/>
                </a:lnTo>
                <a:lnTo>
                  <a:pt x="457" y="195"/>
                </a:lnTo>
                <a:lnTo>
                  <a:pt x="458" y="201"/>
                </a:lnTo>
                <a:lnTo>
                  <a:pt x="459" y="206"/>
                </a:lnTo>
                <a:lnTo>
                  <a:pt x="459" y="212"/>
                </a:lnTo>
                <a:lnTo>
                  <a:pt x="460" y="218"/>
                </a:lnTo>
                <a:lnTo>
                  <a:pt x="460" y="224"/>
                </a:lnTo>
                <a:lnTo>
                  <a:pt x="460" y="230"/>
                </a:lnTo>
                <a:lnTo>
                  <a:pt x="460" y="236"/>
                </a:lnTo>
                <a:lnTo>
                  <a:pt x="460" y="242"/>
                </a:lnTo>
                <a:lnTo>
                  <a:pt x="459" y="248"/>
                </a:lnTo>
                <a:lnTo>
                  <a:pt x="459" y="254"/>
                </a:lnTo>
                <a:lnTo>
                  <a:pt x="458" y="259"/>
                </a:lnTo>
                <a:lnTo>
                  <a:pt x="457" y="265"/>
                </a:lnTo>
                <a:lnTo>
                  <a:pt x="456" y="271"/>
                </a:lnTo>
                <a:lnTo>
                  <a:pt x="455" y="276"/>
                </a:lnTo>
                <a:lnTo>
                  <a:pt x="455" y="280"/>
                </a:lnTo>
                <a:lnTo>
                  <a:pt x="110" y="280"/>
                </a:lnTo>
                <a:lnTo>
                  <a:pt x="110" y="34"/>
                </a:lnTo>
                <a:lnTo>
                  <a:pt x="111" y="33"/>
                </a:lnTo>
                <a:lnTo>
                  <a:pt x="116" y="30"/>
                </a:lnTo>
                <a:lnTo>
                  <a:pt x="120" y="28"/>
                </a:lnTo>
                <a:lnTo>
                  <a:pt x="125" y="25"/>
                </a:lnTo>
                <a:lnTo>
                  <a:pt x="130" y="23"/>
                </a:lnTo>
                <a:lnTo>
                  <a:pt x="135" y="20"/>
                </a:lnTo>
                <a:lnTo>
                  <a:pt x="141" y="18"/>
                </a:lnTo>
                <a:lnTo>
                  <a:pt x="146" y="16"/>
                </a:lnTo>
                <a:lnTo>
                  <a:pt x="151" y="14"/>
                </a:lnTo>
                <a:lnTo>
                  <a:pt x="156" y="12"/>
                </a:lnTo>
                <a:lnTo>
                  <a:pt x="162" y="10"/>
                </a:lnTo>
                <a:lnTo>
                  <a:pt x="167" y="9"/>
                </a:lnTo>
                <a:lnTo>
                  <a:pt x="173" y="7"/>
                </a:lnTo>
                <a:lnTo>
                  <a:pt x="178" y="6"/>
                </a:lnTo>
                <a:lnTo>
                  <a:pt x="184" y="5"/>
                </a:lnTo>
                <a:lnTo>
                  <a:pt x="189" y="4"/>
                </a:lnTo>
                <a:lnTo>
                  <a:pt x="195" y="3"/>
                </a:lnTo>
                <a:lnTo>
                  <a:pt x="201" y="2"/>
                </a:lnTo>
                <a:lnTo>
                  <a:pt x="206" y="1"/>
                </a:lnTo>
                <a:lnTo>
                  <a:pt x="212" y="1"/>
                </a:lnTo>
                <a:lnTo>
                  <a:pt x="218" y="0"/>
                </a:lnTo>
                <a:lnTo>
                  <a:pt x="224" y="0"/>
                </a:lnTo>
                <a:lnTo>
                  <a:pt x="230" y="0"/>
                </a:lnTo>
                <a:close/>
              </a:path>
            </a:pathLst>
          </a:custGeom>
          <a:gradFill>
            <a:gsLst>
              <a:gs pos="0">
                <a:srgbClr val="3B82F6">
                  <a:alpha val="12000"/>
                </a:srgbClr>
              </a:gs>
              <a:gs pos="100000">
                <a:srgbClr val="06B6D4">
                  <a:alpha val="12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1828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150">
                <a:solidFill>
                  <a:srgbClr val="94A3B8"/>
                </a:solidFill>
                <a:latin typeface="PingFang SC"/>
                <a:ea typeface="PingFang SC"/>
              </a:rPr>
              <a:t>内部技术复盘</a:t>
            </a:r>
            <a:r>
              <a:rPr lang="en-US" sz="1350" spc="150">
                <a:solidFill>
                  <a:srgbClr val="94A3B8"/>
                </a:solidFill>
                <a:latin typeface="PingFang SC"/>
                <a:ea typeface="PingFang SC"/>
              </a:rPr>
              <a:t> · 2026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0001250" y="457200"/>
            <a:ext cx="1581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94A3B8"/>
                </a:solidFill>
                <a:latin typeface="PingFang SC"/>
                <a:ea typeface="PingFang SC"/>
              </a:rPr>
              <a:t>Agent </a:t>
            </a:r>
            <a:r>
              <a:rPr lang="zh-CN" sz="1350">
                <a:solidFill>
                  <a:srgbClr val="94A3B8"/>
                </a:solidFill>
                <a:latin typeface="PingFang SC"/>
                <a:ea typeface="PingFang SC"/>
              </a:rPr>
              <a:t>架构学习课堂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2000250"/>
            <a:ext cx="10972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300">
                <a:solidFill>
                  <a:srgbClr val="06B6D4"/>
                </a:solidFill>
                <a:latin typeface="PingFang SC"/>
                <a:ea typeface="PingFang SC"/>
              </a:rPr>
              <a:t>REGENT FAILURE POSTMORTEM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2428875"/>
            <a:ext cx="10972800" cy="10001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5700" b="1">
                <a:solidFill>
                  <a:srgbClr val="FFFFFF"/>
                </a:solidFill>
                <a:latin typeface="PingFang SC"/>
                <a:ea typeface="PingFang SC"/>
              </a:rPr>
              <a:t>Regent </a:t>
            </a:r>
            <a:r>
              <a:rPr lang="zh-CN" sz="5700" b="1">
                <a:solidFill>
                  <a:srgbClr val="3B82F6"/>
                </a:solidFill>
                <a:latin typeface="PingFang SC"/>
                <a:ea typeface="PingFang SC"/>
              </a:rPr>
              <a:t>失败案例</a:t>
            </a:r>
            <a:r>
              <a:rPr lang="zh-CN" sz="5700" b="1">
                <a:solidFill>
                  <a:srgbClr val="FFFFFF"/>
                </a:solidFill>
                <a:latin typeface="PingFang SC"/>
                <a:ea typeface="PingFang SC"/>
              </a:rPr>
              <a:t>复盘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09600" y="3714750"/>
            <a:ext cx="123825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4057650"/>
            <a:ext cx="10972800" cy="1019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950">
                <a:solidFill>
                  <a:srgbClr val="CBD5E1"/>
                </a:solidFill>
                <a:latin typeface="PingFang SC"/>
                <a:ea typeface="PingFang SC"/>
              </a:rPr>
              <a:t>定义没问题，需求没问题</a:t>
            </a:r>
            <a:r>
              <a:rPr lang="en-US" sz="1950">
                <a:solidFill>
                  <a:srgbClr val="CBD5E1"/>
                </a:solidFill>
                <a:latin typeface="PingFang SC"/>
                <a:ea typeface="PingFang SC"/>
              </a:rPr>
              <a:t> —— </a:t>
            </a:r>
            <a:r>
              <a:rPr lang="zh-CN" sz="1950">
                <a:solidFill>
                  <a:srgbClr val="CBD5E1"/>
                </a:solidFill>
                <a:latin typeface="PingFang SC"/>
                <a:ea typeface="PingFang SC"/>
              </a:rPr>
              <a:t>但我们一直在周边敲边鼓，</a:t>
            </a:r>
            <a:endParaRPr/>
          </a:p>
          <a:p>
            <a:pPr>
              <a:lnSpc>
                <a:spcPct val="170000"/>
              </a:lnSpc>
            </a:pPr>
            <a:r>
              <a:rPr lang="zh-CN" sz="1950" b="1">
                <a:solidFill>
                  <a:srgbClr val="FFFFFF"/>
                </a:solidFill>
                <a:latin typeface="PingFang SC"/>
                <a:ea typeface="PingFang SC"/>
              </a:rPr>
              <a:t>核心的单</a:t>
            </a:r>
            <a:r>
              <a:rPr lang="en-US" sz="1950" b="1">
                <a:solidFill>
                  <a:srgbClr val="FFFFFF"/>
                </a:solidFill>
                <a:latin typeface="PingFang SC"/>
                <a:ea typeface="PingFang SC"/>
              </a:rPr>
              <a:t> Agent </a:t>
            </a:r>
            <a:r>
              <a:rPr lang="zh-CN" sz="1950" b="1">
                <a:solidFill>
                  <a:srgbClr val="FFFFFF"/>
                </a:solidFill>
                <a:latin typeface="PingFang SC"/>
                <a:ea typeface="PingFang SC"/>
              </a:rPr>
              <a:t>闭环，始终没打通。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09600" y="6353175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失败案例复盘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1125200" y="6353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01 / 20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95" name="" descr="&lt;Slide style={{ width: '1280px', height: '720px', background: '#FFFFFF', fontFamily: &quot;'PingFang SC','Microsoft YaHei','Helvetica Neue',sans-serif&quot;, overflow: 'hidden' }}&gt;&#10;  &lt;Box style={{ height: 120, padding: '26px 64px 0 64px', flexDirection: 'row', justifyContent: 'space-between', alignItems: 'flex-start' }}&gt;&#10;    &lt;Box style={{ flexDirection: 'row', alignItems: 'center', gap: 24 }}&gt;&#10;      &lt;Text style={{ fontSize: 64, fontWeight: 'bold', color: '#3B82F6', lineHeight: 1 }}&gt;02&lt;/Text&gt;&#10;      &lt;Box&gt;&#10;        &lt;Text style={{ fontSize: 16, color: '#64748B', letterSpacing: 1 }}&gt;今天这两小时，我们聊什么&lt;/Text&gt;&#10;        &lt;Text style={{ fontSize: 34, fontWeight: 'bold', color: '#1E293B', marginTop: 6 }}&gt;课堂议程&lt;/Text&gt;&#10;      &lt;/Box&gt;&#10;    &lt;/Box&gt;&#10;    &lt;Text style={{ fontSize: 16, color: '#3B82F6', fontWeight: 'bold', paddingTop: 10 }}&gt;AGENDA&lt;/Text&gt;&#10;  &lt;/Box&gt;&#10;&#10;  &lt;Box style={{ height: 540, padding: '16px 64px 0 64px', justifyContent: 'space-between' }}&gt;&#10;    &lt;Box style={{ flexDirection: 'row', alignItems: 'center', gap: 24, padding: '18px 24px', background: '#F1F5F9', borderRadius: 14 }}&gt;&#10;      &lt;Text style={{ fontSize: 44, fontWeight: 'bold', color: '#3B82F6', width: 64 }}&gt;01&lt;/Text&gt;&#10;      &lt;Box&gt;&#10;        &lt;Text style={{ fontSize: 22, fontWeight: 'bold', color: '#1E293B' }}&gt;项目目标&lt;/Text&gt;&#10;        &lt;Text style={{ fontSize: 16, color: '#64748B' }}&gt;Regent 本想成为什么：自主目标执行内核&lt;/Text&gt;&#10;      &lt;/Box&gt;&#10;    &lt;/Box&gt;&#10;    &lt;Box style={{ flexDirection: 'row', alignItems: 'center', gap: 24, padding: '18px 24px', background: '#F1F5F9', borderRadius: 14 }}&gt;&#10;      &lt;Text style={{ fontSize: 44, fontWeight: 'bold', color: '#3B82F6', width: 64 }}&gt;02&lt;/Text&gt;&#10;      &lt;Box&gt;&#10;        &lt;Text style={{ fontSize: 22, fontWeight: 'bold', color: '#1E293B' }}&gt;各阶段框架&lt;/Text&gt;&#10;        &lt;Text style={{ fontSize: 16, color: '#64748B' }}&gt;从 P0 可靠内核到多 Agent 的设计演进&lt;/Text&gt;&#10;      &lt;/Box&gt;&#10;    &lt;/Box&gt;&#10;    &lt;Box style={{ flexDirection: 'row', alignItems: 'center', gap: 24, padding: '18px 24px', background: '#F1F5F9', borderRadius: 14 }}&gt;&#10;      &lt;Text style={{ fontSize: 44, fontWeight: 'bold', color: '#3B82F6', width: 64 }}&gt;03&lt;/Text&gt;&#10;      &lt;Box&gt;&#10;        &lt;Text style={{ fontSize: 22, fontWeight: 'bold', color: '#1E293B' }}&gt;框架演变&lt;/Text&gt;&#10;        &lt;Text style={{ fontSize: 16, color: '#64748B' }}&gt;复杂度涨了，可交付能力为何反而跌了&lt;/Text&gt;&#10;      &lt;/Box&gt;&#10;    &lt;/Box&gt;&#10;    &lt;Box style={{ flexDirection: 'row', alignItems: 'center', gap: 24, padding: '18px 24px', background: '#FEF2F2', borderRadius: 14 }}&gt;&#10;      &lt;Text style={{ fontSize: 44, fontWeight: 'bold', color: '#EF4444', width: 64 }}&gt;04&lt;/Text&gt;&#10;      &lt;Box&gt;&#10;        &lt;Text style={{ fontSize: 22, fontWeight: 'bold', color: '#1E293B' }}&gt;失败原因&lt;/Text&gt;&#10;        &lt;Text style={{ fontSize: 16, color: '#64748B' }}&gt;五大根因，与那些被漏掉的基本功&lt;/Text&gt;&#10;      &lt;/Box&gt;&#10;    &lt;/Box&gt;&#10;    &lt;Box style={{ flexDirection: 'row', alignItems: 'center', gap: 24, padding: '18px 24px', background: '#EFF6FF', borderRadius: 14 }}&gt;&#10;      &lt;Text style={{ fontSize: 44, fontWeight: 'bold', color: '#3B82F6', width: 64 }}&gt;05&lt;/Text&gt;&#10;      &lt;Box&gt;&#10;        &lt;Text style={{ fontSize: 22, fontWeight: 'bold', color: '#1E293B' }}&gt;结论&lt;/Text&gt;&#10;        &lt;Text style={{ fontSize: 16, color: '#64748B' }}&gt;Agent / 多 Agent，到底该怎么搭&lt;/Text&gt;&#10;      &lt;/Box&gt;&#10;    &lt;/Box&gt;&#10;  &lt;/Box&gt;&#10;&#10;  &lt;Box style={{ height: 60, padding: '0 64px', flexDirection: 'row', justifyContent: 'space-between', alignItems: 'center', borderTop: '1px solid #E2E8F0' }}&gt;&#10;    &lt;Text style={{ fontSize: 14, color: '#64748B' }}&gt;Regent 失败案例复盘&lt;/Text&gt;&#10;    &lt;Text style={{ fontSize: 14, color: '#64748B' }}&gt;02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09600" y="247650"/>
            <a:ext cx="7524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3B82F6"/>
                </a:solidFill>
                <a:latin typeface="PingFang SC"/>
                <a:ea typeface="PingFang SC"/>
              </a:rPr>
              <a:t>02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590675" y="295275"/>
            <a:ext cx="1943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今天这两小时，我们聊什么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590675" y="542925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PingFang SC"/>
                <a:ea typeface="PingFang SC"/>
              </a:rPr>
              <a:t>课堂议程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0896600" y="247650"/>
            <a:ext cx="685800" cy="2857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B82F6"/>
                </a:solidFill>
                <a:latin typeface="PingFang SC"/>
                <a:ea typeface="PingFang SC"/>
              </a:rPr>
              <a:t>AGENDA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609600" y="1295400"/>
            <a:ext cx="10972800" cy="847725"/>
          </a:xfrm>
          <a:prstGeom prst="roundRect">
            <a:avLst>
              <a:gd name="adj" fmla="val 1573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38200" y="1466850"/>
            <a:ext cx="6096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3B82F6"/>
                </a:solidFill>
                <a:latin typeface="PingFang SC"/>
                <a:ea typeface="PingFang SC"/>
              </a:rPr>
              <a:t>01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676400" y="1495425"/>
            <a:ext cx="2847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PingFang SC"/>
                <a:ea typeface="PingFang SC"/>
              </a:rPr>
              <a:t>项目目标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1676400" y="1752600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本想成为什么：自主目标执行内核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609600" y="2333625"/>
            <a:ext cx="10972800" cy="847725"/>
          </a:xfrm>
          <a:prstGeom prst="roundRect">
            <a:avLst>
              <a:gd name="adj" fmla="val 1573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38200" y="2505075"/>
            <a:ext cx="6096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3B82F6"/>
                </a:solidFill>
                <a:latin typeface="PingFang SC"/>
                <a:ea typeface="PingFang SC"/>
              </a:rPr>
              <a:t>02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676400" y="2533650"/>
            <a:ext cx="2638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PingFang SC"/>
                <a:ea typeface="PingFang SC"/>
              </a:rPr>
              <a:t>各阶段框架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676400" y="2790825"/>
            <a:ext cx="2638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从</a:t>
            </a: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 P0 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可靠内核到多</a:t>
            </a: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 Agent 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的设计演进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09600" y="3371850"/>
            <a:ext cx="10972800" cy="847725"/>
          </a:xfrm>
          <a:prstGeom prst="roundRect">
            <a:avLst>
              <a:gd name="adj" fmla="val 1573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38200" y="3543300"/>
            <a:ext cx="6096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3B82F6"/>
                </a:solidFill>
                <a:latin typeface="PingFang SC"/>
                <a:ea typeface="PingFang SC"/>
              </a:rPr>
              <a:t>03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676400" y="3571875"/>
            <a:ext cx="2590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PingFang SC"/>
                <a:ea typeface="PingFang SC"/>
              </a:rPr>
              <a:t>框架演变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1676400" y="3829050"/>
            <a:ext cx="2590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复杂度涨了，可交付能力为何反而跌了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609600" y="4400550"/>
            <a:ext cx="10972800" cy="847725"/>
          </a:xfrm>
          <a:prstGeom prst="roundRect">
            <a:avLst>
              <a:gd name="adj" fmla="val 15730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38200" y="4572000"/>
            <a:ext cx="6096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EF4444"/>
                </a:solidFill>
                <a:latin typeface="PingFang SC"/>
                <a:ea typeface="PingFang SC"/>
              </a:rPr>
              <a:t>04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676400" y="4600575"/>
            <a:ext cx="2286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PingFang SC"/>
                <a:ea typeface="PingFang SC"/>
              </a:rPr>
              <a:t>失败原因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676400" y="4857750"/>
            <a:ext cx="2286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五大根因，与那些被漏掉的基本功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09600" y="5438775"/>
            <a:ext cx="10972800" cy="847725"/>
          </a:xfrm>
          <a:prstGeom prst="roundRect">
            <a:avLst>
              <a:gd name="adj" fmla="val 15730"/>
            </a:avLst>
          </a:prstGeom>
          <a:solidFill>
            <a:srgbClr val="EFF6FF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38200" y="5610225"/>
            <a:ext cx="6096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3B82F6"/>
                </a:solidFill>
                <a:latin typeface="PingFang SC"/>
                <a:ea typeface="PingFang SC"/>
              </a:rPr>
              <a:t>05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676400" y="5638800"/>
            <a:ext cx="2305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293B"/>
                </a:solidFill>
                <a:latin typeface="PingFang SC"/>
                <a:ea typeface="PingFang SC"/>
              </a:rPr>
              <a:t>结论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676400" y="5895975"/>
            <a:ext cx="2305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Agent / 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多</a:t>
            </a: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 Agent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，到底该怎么搭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失败案例复盘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02 / 20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36" name="" descr="&lt;Slide style={{ width: '1280px', height: '720px', background: '#0F172A', fontFamily: &quot;'PingFang SC','Microsoft YaHei','Helvetica Neue',sans-serif&quot;, overflow: 'hidden' }}&gt;&#10;  &lt;Box style={{ position: 'absolute', top: -120, right: -120, width: 480, height: 480, borderRadius: 240, background: 'linear-gradient(135deg,#3B82F6 0%,#06B6D4 100%)', opacity: 0.16 }} /&gt;&#10;  &lt;Box style={{ position: 'absolute', bottom: 0, left: 0, width: 360, height: 360, background: 'linear-gradient(135deg,#06B6D4 0%,transparent 100%)', opacity: 0.10 }} /&gt;&#10;&#10;  &lt;Box style={{ position: 'absolute', top: 90, left: 96, right: 96, flexDirection: 'row', alignItems: 'flex-end', gap: 32 }}&gt;&#10;    &lt;Text style={{ fontSize: 200, fontWeight: 'bold', color: '#3B82F6', lineHeight: 1, opacity: 0.5 }}&gt;01&lt;/Text&gt;&#10;    &lt;Box style={{ paddingBottom: 24 }}&gt;&#10;      &lt;Text style={{ fontSize: 20, color: '#06B6D4', fontWeight: 'bold', letterSpacing: 3 }}&gt;CHAPTER ONE&lt;/Text&gt;&#10;      &lt;Text style={{ fontSize: 56, fontWeight: 'bold', color: '#FFFFFF', marginTop: 8 }}&gt;项目目标&lt;/Text&gt;&#10;    &lt;/Box&gt;&#10;  &lt;/Box&gt;&#10;&#10;  &lt;Box style={{ position: 'absolute', bottom: 150, left: 96, right: 96 }}&gt;&#10;    &lt;Text style={{ fontSize: 26, color: '#CBD5E1', lineHeight: 1.7 }}&gt;&#10;      先看清：它&lt;span style={{ color: '#FFFFFF', fontWeight: 'bold' }}&gt;定义&lt;/span&gt;得有多好，&lt;br /&gt;才衬得这一次的失败，有多可惜。&#10;    &lt;/Text&gt;&#10;  &lt;/Box&gt;&#10;&#10;  &lt;Box style={{ position: 'absolute', bottom: 36, left: 64, right: 64, flexDirection: 'row', justifyContent: 'space-between', alignItems: 'center' }}&gt;&#10;    &lt;Text style={{ fontSize: 14, color: '#64748B' }}&gt;Regent 失败案例复盘&lt;/Text&gt;&#10;    &lt;Text style={{ fontSize: 14, color: '#64748B' }}&gt;03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8763000" y="-1143000"/>
            <a:ext cx="4572000" cy="4572000"/>
          </a:xfrm>
          <a:custGeom>
            <a:pathLst>
              <a:path w="480" h="480">
                <a:moveTo>
                  <a:pt x="360" y="448"/>
                </a:moveTo>
                <a:lnTo>
                  <a:pt x="359" y="448"/>
                </a:lnTo>
                <a:lnTo>
                  <a:pt x="354" y="451"/>
                </a:lnTo>
                <a:lnTo>
                  <a:pt x="349" y="454"/>
                </a:lnTo>
                <a:lnTo>
                  <a:pt x="344" y="456"/>
                </a:lnTo>
                <a:lnTo>
                  <a:pt x="339" y="459"/>
                </a:lnTo>
                <a:lnTo>
                  <a:pt x="333" y="461"/>
                </a:lnTo>
                <a:lnTo>
                  <a:pt x="328" y="463"/>
                </a:lnTo>
                <a:lnTo>
                  <a:pt x="322" y="465"/>
                </a:lnTo>
                <a:lnTo>
                  <a:pt x="317" y="467"/>
                </a:lnTo>
                <a:lnTo>
                  <a:pt x="311" y="469"/>
                </a:lnTo>
                <a:lnTo>
                  <a:pt x="306" y="471"/>
                </a:lnTo>
                <a:lnTo>
                  <a:pt x="300" y="472"/>
                </a:lnTo>
                <a:lnTo>
                  <a:pt x="294" y="474"/>
                </a:lnTo>
                <a:lnTo>
                  <a:pt x="288" y="475"/>
                </a:lnTo>
                <a:lnTo>
                  <a:pt x="282" y="476"/>
                </a:lnTo>
                <a:lnTo>
                  <a:pt x="277" y="477"/>
                </a:lnTo>
                <a:lnTo>
                  <a:pt x="271" y="478"/>
                </a:lnTo>
                <a:lnTo>
                  <a:pt x="265" y="479"/>
                </a:lnTo>
                <a:lnTo>
                  <a:pt x="258" y="479"/>
                </a:lnTo>
                <a:lnTo>
                  <a:pt x="252" y="480"/>
                </a:lnTo>
                <a:lnTo>
                  <a:pt x="246" y="480"/>
                </a:lnTo>
                <a:lnTo>
                  <a:pt x="240" y="480"/>
                </a:lnTo>
                <a:lnTo>
                  <a:pt x="234" y="480"/>
                </a:lnTo>
                <a:lnTo>
                  <a:pt x="228" y="480"/>
                </a:lnTo>
                <a:lnTo>
                  <a:pt x="222" y="479"/>
                </a:lnTo>
                <a:lnTo>
                  <a:pt x="215" y="479"/>
                </a:lnTo>
                <a:lnTo>
                  <a:pt x="209" y="478"/>
                </a:lnTo>
                <a:lnTo>
                  <a:pt x="203" y="477"/>
                </a:lnTo>
                <a:lnTo>
                  <a:pt x="198" y="476"/>
                </a:lnTo>
                <a:lnTo>
                  <a:pt x="192" y="475"/>
                </a:lnTo>
                <a:lnTo>
                  <a:pt x="186" y="474"/>
                </a:lnTo>
                <a:lnTo>
                  <a:pt x="180" y="472"/>
                </a:lnTo>
                <a:lnTo>
                  <a:pt x="174" y="471"/>
                </a:lnTo>
                <a:lnTo>
                  <a:pt x="169" y="469"/>
                </a:lnTo>
                <a:lnTo>
                  <a:pt x="163" y="467"/>
                </a:lnTo>
                <a:lnTo>
                  <a:pt x="158" y="465"/>
                </a:lnTo>
                <a:lnTo>
                  <a:pt x="152" y="463"/>
                </a:lnTo>
                <a:lnTo>
                  <a:pt x="147" y="461"/>
                </a:lnTo>
                <a:lnTo>
                  <a:pt x="141" y="459"/>
                </a:lnTo>
                <a:lnTo>
                  <a:pt x="136" y="456"/>
                </a:lnTo>
                <a:lnTo>
                  <a:pt x="131" y="454"/>
                </a:lnTo>
                <a:lnTo>
                  <a:pt x="126" y="451"/>
                </a:lnTo>
                <a:lnTo>
                  <a:pt x="121" y="448"/>
                </a:lnTo>
                <a:lnTo>
                  <a:pt x="116" y="445"/>
                </a:lnTo>
                <a:lnTo>
                  <a:pt x="111" y="442"/>
                </a:lnTo>
                <a:lnTo>
                  <a:pt x="106" y="439"/>
                </a:lnTo>
                <a:lnTo>
                  <a:pt x="101" y="436"/>
                </a:lnTo>
                <a:lnTo>
                  <a:pt x="96" y="432"/>
                </a:lnTo>
                <a:lnTo>
                  <a:pt x="92" y="429"/>
                </a:lnTo>
                <a:lnTo>
                  <a:pt x="87" y="425"/>
                </a:lnTo>
                <a:lnTo>
                  <a:pt x="83" y="421"/>
                </a:lnTo>
                <a:lnTo>
                  <a:pt x="79" y="418"/>
                </a:lnTo>
                <a:lnTo>
                  <a:pt x="74" y="414"/>
                </a:lnTo>
                <a:lnTo>
                  <a:pt x="70" y="410"/>
                </a:lnTo>
                <a:lnTo>
                  <a:pt x="66" y="406"/>
                </a:lnTo>
                <a:lnTo>
                  <a:pt x="62" y="401"/>
                </a:lnTo>
                <a:lnTo>
                  <a:pt x="59" y="397"/>
                </a:lnTo>
                <a:lnTo>
                  <a:pt x="55" y="393"/>
                </a:lnTo>
                <a:lnTo>
                  <a:pt x="51" y="388"/>
                </a:lnTo>
                <a:lnTo>
                  <a:pt x="48" y="384"/>
                </a:lnTo>
                <a:lnTo>
                  <a:pt x="44" y="379"/>
                </a:lnTo>
                <a:lnTo>
                  <a:pt x="41" y="374"/>
                </a:lnTo>
                <a:lnTo>
                  <a:pt x="38" y="369"/>
                </a:lnTo>
                <a:lnTo>
                  <a:pt x="35" y="364"/>
                </a:lnTo>
                <a:lnTo>
                  <a:pt x="32" y="359"/>
                </a:lnTo>
                <a:lnTo>
                  <a:pt x="29" y="354"/>
                </a:lnTo>
                <a:lnTo>
                  <a:pt x="26" y="349"/>
                </a:lnTo>
                <a:lnTo>
                  <a:pt x="24" y="344"/>
                </a:lnTo>
                <a:lnTo>
                  <a:pt x="21" y="339"/>
                </a:lnTo>
                <a:lnTo>
                  <a:pt x="19" y="333"/>
                </a:lnTo>
                <a:lnTo>
                  <a:pt x="17" y="328"/>
                </a:lnTo>
                <a:lnTo>
                  <a:pt x="15" y="322"/>
                </a:lnTo>
                <a:lnTo>
                  <a:pt x="13" y="317"/>
                </a:lnTo>
                <a:lnTo>
                  <a:pt x="11" y="311"/>
                </a:lnTo>
                <a:lnTo>
                  <a:pt x="9" y="306"/>
                </a:lnTo>
                <a:lnTo>
                  <a:pt x="8" y="300"/>
                </a:lnTo>
                <a:lnTo>
                  <a:pt x="6" y="294"/>
                </a:lnTo>
                <a:lnTo>
                  <a:pt x="5" y="288"/>
                </a:lnTo>
                <a:lnTo>
                  <a:pt x="4" y="282"/>
                </a:lnTo>
                <a:lnTo>
                  <a:pt x="3" y="277"/>
                </a:lnTo>
                <a:lnTo>
                  <a:pt x="2" y="271"/>
                </a:lnTo>
                <a:lnTo>
                  <a:pt x="1" y="265"/>
                </a:lnTo>
                <a:lnTo>
                  <a:pt x="1" y="258"/>
                </a:lnTo>
                <a:lnTo>
                  <a:pt x="0" y="252"/>
                </a:lnTo>
                <a:lnTo>
                  <a:pt x="0" y="246"/>
                </a:lnTo>
                <a:lnTo>
                  <a:pt x="0" y="240"/>
                </a:lnTo>
                <a:lnTo>
                  <a:pt x="0" y="234"/>
                </a:lnTo>
                <a:lnTo>
                  <a:pt x="0" y="228"/>
                </a:lnTo>
                <a:lnTo>
                  <a:pt x="1" y="222"/>
                </a:lnTo>
                <a:lnTo>
                  <a:pt x="1" y="215"/>
                </a:lnTo>
                <a:lnTo>
                  <a:pt x="2" y="209"/>
                </a:lnTo>
                <a:lnTo>
                  <a:pt x="3" y="203"/>
                </a:lnTo>
                <a:lnTo>
                  <a:pt x="4" y="198"/>
                </a:lnTo>
                <a:lnTo>
                  <a:pt x="5" y="192"/>
                </a:lnTo>
                <a:lnTo>
                  <a:pt x="6" y="186"/>
                </a:lnTo>
                <a:lnTo>
                  <a:pt x="8" y="180"/>
                </a:lnTo>
                <a:lnTo>
                  <a:pt x="9" y="174"/>
                </a:lnTo>
                <a:lnTo>
                  <a:pt x="11" y="169"/>
                </a:lnTo>
                <a:lnTo>
                  <a:pt x="13" y="163"/>
                </a:lnTo>
                <a:lnTo>
                  <a:pt x="15" y="158"/>
                </a:lnTo>
                <a:lnTo>
                  <a:pt x="17" y="152"/>
                </a:lnTo>
                <a:lnTo>
                  <a:pt x="19" y="147"/>
                </a:lnTo>
                <a:lnTo>
                  <a:pt x="21" y="141"/>
                </a:lnTo>
                <a:lnTo>
                  <a:pt x="24" y="136"/>
                </a:lnTo>
                <a:lnTo>
                  <a:pt x="26" y="131"/>
                </a:lnTo>
                <a:lnTo>
                  <a:pt x="29" y="126"/>
                </a:lnTo>
                <a:lnTo>
                  <a:pt x="32" y="121"/>
                </a:lnTo>
                <a:lnTo>
                  <a:pt x="32" y="120"/>
                </a:lnTo>
                <a:lnTo>
                  <a:pt x="360" y="120"/>
                </a:lnTo>
                <a:close/>
              </a:path>
            </a:pathLst>
          </a:custGeom>
          <a:gradFill>
            <a:gsLst>
              <a:gs pos="0">
                <a:srgbClr val="3B82F6">
                  <a:alpha val="16000"/>
                </a:srgbClr>
              </a:gs>
              <a:gs pos="100000">
                <a:srgbClr val="06B6D4">
                  <a:alpha val="16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0" y="3429000"/>
            <a:ext cx="3429000" cy="3429000"/>
          </a:xfrm>
          <a:prstGeom prst="rect">
            <a:avLst/>
          </a:prstGeom>
          <a:gradFill>
            <a:gsLst>
              <a:gs pos="0">
                <a:srgbClr val="06B6D4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3571875" y="1962150"/>
            <a:ext cx="2133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225">
                <a:solidFill>
                  <a:srgbClr val="06B6D4"/>
                </a:solidFill>
                <a:latin typeface="PingFang SC"/>
                <a:ea typeface="PingFang SC"/>
              </a:rPr>
              <a:t>CHAPTER ONE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3571875" y="2266950"/>
            <a:ext cx="21336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latin typeface="PingFang SC"/>
                <a:ea typeface="PingFang SC"/>
              </a:rPr>
              <a:t>项目目标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914400" y="85725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3B82F6">
                    <a:alpha val="50000"/>
                  </a:srgbClr>
                </a:solidFill>
                <a:latin typeface="PingFang SC"/>
                <a:ea typeface="PingFang SC"/>
              </a:rPr>
              <a:t>01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914400" y="4410075"/>
            <a:ext cx="10363200" cy="1019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950">
                <a:solidFill>
                  <a:srgbClr val="CBD5E1"/>
                </a:solidFill>
                <a:latin typeface="PingFang SC"/>
                <a:ea typeface="PingFang SC"/>
              </a:rPr>
              <a:t>先看清：它</a:t>
            </a:r>
            <a:r>
              <a:rPr lang="zh-CN" sz="1950" b="1">
                <a:solidFill>
                  <a:srgbClr val="FFFFFF"/>
                </a:solidFill>
                <a:latin typeface="PingFang SC"/>
                <a:ea typeface="PingFang SC"/>
              </a:rPr>
              <a:t>定义</a:t>
            </a:r>
            <a:r>
              <a:rPr lang="zh-CN" sz="1950">
                <a:solidFill>
                  <a:srgbClr val="CBD5E1"/>
                </a:solidFill>
                <a:latin typeface="PingFang SC"/>
                <a:ea typeface="PingFang SC"/>
              </a:rPr>
              <a:t>得有多好，</a:t>
            </a:r>
            <a:endParaRPr/>
          </a:p>
          <a:p>
            <a:pPr>
              <a:lnSpc>
                <a:spcPct val="170000"/>
              </a:lnSpc>
            </a:pPr>
            <a:r>
              <a:rPr lang="zh-CN" sz="1950">
                <a:solidFill>
                  <a:srgbClr val="CBD5E1"/>
                </a:solidFill>
                <a:latin typeface="PingFang SC"/>
                <a:ea typeface="PingFang SC"/>
              </a:rPr>
              <a:t>才衬得这一次的失败，有多可惜。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09600" y="6353175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失败案例复盘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1125200" y="6353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03 / 20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46" name="" descr="&lt;Slide style={{ width: '1280px', height: '720px', background: '#FFFFFF', fontFamily: &quot;'PingFang SC','Microsoft YaHei','Helvetica Neue',sans-serif&quot;, overflow: 'hidden' }}&gt;&#10;  &lt;Box style={{ height: 120, padding: '28px 64px 0 64px', flexDirection: 'row', justifyContent: 'space-between', alignItems: 'flex-start' }}&gt;&#10;    &lt;Box&gt;&#10;      &lt;Text style={{ fontSize: 16, color: '#64748B', letterSpacing: 1 }}&gt;第一章 · 项目目标&lt;/Text&gt;&#10;      &lt;Text style={{ fontSize: 34, fontWeight: 'bold', color: '#1E293B', marginTop: 6 }}&gt;Regent 到底是什么&lt;/Text&gt;&#10;    &lt;/Box&gt;&#10;    &lt;Text style={{ fontSize: 16, color: '#3B82F6', fontWeight: 'bold', paddingTop: 10 }}&gt;04&lt;/Text&gt;&#10;  &lt;/Box&gt;&#10;&#10;  &lt;Box style={{ height: 540, padding: '10px 64px 0 64px', flexDirection: 'row', gap: 40 }}&gt;&#10;    &lt;Box style={{ flex: 1.1, background: 'linear-gradient(135deg,#3B82F6 0%,#06B6D4 100%)', borderRadius: 18, padding: '36px 32px', justifyContent: 'center' }}&gt;&#10;      &lt;Text style={{ fontSize: 18, color: '#E0F2FE', fontWeight: 'bold', letterSpacing: 1 }}&gt;它的定义&lt;/Text&gt;&#10;      &lt;Text style={{ fontSize: 30, fontWeight: 'bold', color: '#FFFFFF', lineHeight: 1.5, marginTop: 18 }}&gt;&#10;        Regent 是一个&lt;br /&gt;自主目标执行内核&#10;      &lt;/Text&gt;&#10;      &lt;Box style={{ width: 70, height: 4, background: '#FFFFFF', opacity: 0.6, marginTop: 22, marginBottom: 22, borderRadius: 2 }} /&gt;&#10;      &lt;Text style={{ fontSize: 19, color: '#F1F5F9', lineHeight: 1.8 }}&gt;&#10;        把一句话目标，通过受管理的执行循环，变成可独立运行的应用。&#10;      &lt;/Text&gt;&#10;      &lt;Box style={{ flexDirection: 'row', alignItems: 'center', gap: 12, marginTop: 26 }}&gt;&#10;        &lt;FAIcon name='arrow-right' style={{ fill: '#FFFFFF', width: 26, height: 26 }} /&gt;&#10;        &lt;Text style={{ fontSize: 19, color: '#FFFFFF', fontWeight: 'bold' }}&gt;目标 → 循环 → 可运行应用&lt;/Text&gt;&#10;      &lt;/Box&gt;&#10;    &lt;/Box&gt;&#10;&#10;    &lt;Box style={{ flex: 1, justifyContent: 'center', gap: 18 }}&gt;&#10;      &lt;Text style={{ fontSize: 18, color: '#64748B', fontWeight: 'bold', letterSpacing: 1 }}&gt;它「不是」什么&lt;/Text&gt;&#10;      &lt;Box style={{ flexDirection: 'row', alignItems: 'center', gap: 14 }}&gt;&#10;        &lt;FAIcon name='times-circle' style={{ fill: '#EF4444', width: 24, height: 24 }} /&gt;&#10;        &lt;Text style={{ fontSize: 20, color: '#1E293B' }}&gt;不是聊天机器人&lt;/Text&gt;&#10;      &lt;/Box&gt;&#10;      &lt;Box style={{ flexDirection: 'row', alignItems: 'center', gap: 14 }}&gt;&#10;        &lt;FAIcon name='times-circle' style={{ fill: '#EF4444', width: 24, height: 24 }} /&gt;&#10;        &lt;Text style={{ fontSize: 20, color: '#1E293B' }}&gt;不是工作流调度器&lt;/Text&gt;&#10;      &lt;/Box&gt;&#10;      &lt;Box style={{ flexDirection: 'row', alignItems: 'center', gap: 14 }}&gt;&#10;        &lt;FAIcon name='times-circle' style={{ fill: '#EF4444', width: 24, height: 24 }} /&gt;&#10;        &lt;Text style={{ fontSize: 20, color: '#1E293B' }}&gt;不是又一层 Prompt 包装&lt;/Text&gt;&#10;      &lt;/Box&gt;&#10;      &lt;Box style={{ flexDirection: 'row', alignItems: 'center', gap: 14, marginTop: 6 }}&gt;&#10;        &lt;FAIcon name='check-circle' style={{ fill: '#3B82F6', width: 24, height: 24 }} /&gt;&#10;        &lt;Text style={{ fontSize: 20, color: '#1E293B', fontWeight: 'bold' }}&gt;而是能「跑通一件事」的 Agent&lt;/Text&gt;&#10;      &lt;/Box&gt;&#10;    &lt;/Box&gt;&#10;  &lt;/Box&gt;&#10;&#10;  &lt;Box style={{ height: 60, padding: '0 64px', flexDirection: 'row', justifyContent: 'space-between', alignItems: 'center', borderTop: '1px solid #E2E8F0' }}&gt;&#10;    &lt;Text style={{ fontSize: 14, color: '#64748B' }}&gt;Regent 失败案例复盘&lt;/Text&gt;&#10;    &lt;Text style={{ fontSize: 14, color: '#64748B' }}&gt;04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09600" y="266700"/>
            <a:ext cx="2876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第一章</a:t>
            </a:r>
            <a:r>
              <a:rPr lang="en-US" sz="1200" spc="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项目目标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09600" y="514350"/>
            <a:ext cx="2876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293B"/>
                </a:solidFill>
                <a:latin typeface="PingFang SC"/>
                <a:ea typeface="PingFang SC"/>
              </a:rPr>
              <a:t>Regent </a:t>
            </a:r>
            <a:r>
              <a:rPr lang="zh-CN" sz="2550" b="1">
                <a:solidFill>
                  <a:srgbClr val="1E293B"/>
                </a:solidFill>
                <a:latin typeface="PingFang SC"/>
                <a:ea typeface="PingFang SC"/>
              </a:rPr>
              <a:t>到底是什么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1391900" y="266700"/>
            <a:ext cx="190500" cy="2857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B82F6"/>
                </a:solidFill>
                <a:latin typeface="PingFang SC"/>
                <a:ea typeface="PingFang SC"/>
              </a:rPr>
              <a:t>04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609600" y="1238250"/>
            <a:ext cx="5543550" cy="5048250"/>
          </a:xfrm>
          <a:prstGeom prst="roundRect">
            <a:avLst>
              <a:gd name="adj" fmla="val 3396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914400" y="2190750"/>
            <a:ext cx="4933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 spc="75">
                <a:solidFill>
                  <a:srgbClr val="E0F2FE"/>
                </a:solidFill>
                <a:latin typeface="PingFang SC"/>
                <a:ea typeface="PingFang SC"/>
              </a:rPr>
              <a:t>它的定义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914400" y="2571750"/>
            <a:ext cx="4933950" cy="1028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2250" b="1">
                <a:solidFill>
                  <a:srgbClr val="FFFFFF"/>
                </a:solidFill>
                <a:latin typeface="PingFang SC"/>
                <a:ea typeface="PingFang SC"/>
              </a:rPr>
              <a:t>Regent </a:t>
            </a:r>
            <a:r>
              <a:rPr lang="zh-CN" sz="2250" b="1">
                <a:solidFill>
                  <a:srgbClr val="FFFFFF"/>
                </a:solidFill>
                <a:latin typeface="PingFang SC"/>
                <a:ea typeface="PingFang SC"/>
              </a:rPr>
              <a:t>是一个</a:t>
            </a:r>
            <a:endParaRPr/>
          </a:p>
          <a:p>
            <a:pPr>
              <a:lnSpc>
                <a:spcPct val="150000"/>
              </a:lnSpc>
            </a:pPr>
            <a:r>
              <a:rPr lang="zh-CN" sz="2250" b="1">
                <a:solidFill>
                  <a:srgbClr val="FFFFFF"/>
                </a:solidFill>
                <a:latin typeface="PingFang SC"/>
                <a:ea typeface="PingFang SC"/>
              </a:rPr>
              <a:t>自主目标执行内核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914400" y="4057650"/>
            <a:ext cx="493395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425">
                <a:solidFill>
                  <a:srgbClr val="F1F5F9"/>
                </a:solidFill>
                <a:latin typeface="PingFang SC"/>
                <a:ea typeface="PingFang SC"/>
              </a:rPr>
              <a:t>把一句话目标，通过受管理的执行循环，变成可独立运行的应用。</a:t>
            </a:r>
            <a:endParaRPr/>
          </a:p>
        </p:txBody>
      </p:sp>
      <p:pic>
        <p:nvPicPr>
          <p:cNvPr id="2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4400" y="5095875"/>
            <a:ext cx="247650" cy="247650"/>
          </a:xfrm>
          <a:prstGeom prst="rect">
            <a:avLst/>
          </a:prstGeom>
          <a:ln/>
        </p:spPr>
      </p:pic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276350" y="5114925"/>
            <a:ext cx="2209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目标</a:t>
            </a: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 → 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循环</a:t>
            </a: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 → 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可运行应用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534150" y="2828925"/>
            <a:ext cx="504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 spc="75">
                <a:solidFill>
                  <a:srgbClr val="64748B"/>
                </a:solidFill>
                <a:latin typeface="PingFang SC"/>
                <a:ea typeface="PingFang SC"/>
              </a:rPr>
              <a:t>它「不是」什么</a:t>
            </a:r>
            <a:endParaRPr/>
          </a:p>
        </p:txBody>
      </p:sp>
      <p:pic>
        <p:nvPicPr>
          <p:cNvPr id="2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534150" y="3209925"/>
            <a:ext cx="228600" cy="228600"/>
          </a:xfrm>
          <a:prstGeom prst="rect">
            <a:avLst/>
          </a:prstGeom>
          <a:ln/>
        </p:spPr>
      </p:pic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896100" y="3209925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E293B"/>
                </a:solidFill>
                <a:latin typeface="PingFang SC"/>
                <a:ea typeface="PingFang SC"/>
              </a:rPr>
              <a:t>不是聊天机器人</a:t>
            </a:r>
            <a:endParaRPr/>
          </a:p>
        </p:txBody>
      </p:sp>
      <p:pic>
        <p:nvPicPr>
          <p:cNvPr id="2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534150" y="3609975"/>
            <a:ext cx="228600" cy="228600"/>
          </a:xfrm>
          <a:prstGeom prst="rect">
            <a:avLst/>
          </a:prstGeom>
          <a:ln/>
        </p:spPr>
      </p:pic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896100" y="3609975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E293B"/>
                </a:solidFill>
                <a:latin typeface="PingFang SC"/>
                <a:ea typeface="PingFang SC"/>
              </a:rPr>
              <a:t>不是工作流调度器</a:t>
            </a:r>
            <a:endParaRPr/>
          </a:p>
        </p:txBody>
      </p:sp>
      <p:pic>
        <p:nvPicPr>
          <p:cNvPr id="2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534150" y="4010025"/>
            <a:ext cx="228600" cy="228600"/>
          </a:xfrm>
          <a:prstGeom prst="rect">
            <a:avLst/>
          </a:prstGeom>
          <a:ln/>
        </p:spPr>
      </p:pic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896100" y="4010025"/>
            <a:ext cx="2133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E293B"/>
                </a:solidFill>
                <a:latin typeface="PingFang SC"/>
                <a:ea typeface="PingFang SC"/>
              </a:rPr>
              <a:t>不是又一层</a:t>
            </a:r>
            <a:r>
              <a:rPr lang="en-US" sz="1500">
                <a:solidFill>
                  <a:srgbClr val="1E293B"/>
                </a:solidFill>
                <a:latin typeface="PingFang SC"/>
                <a:ea typeface="PingFang SC"/>
              </a:rPr>
              <a:t> Prompt </a:t>
            </a:r>
            <a:r>
              <a:rPr lang="zh-CN" sz="1500">
                <a:solidFill>
                  <a:srgbClr val="1E293B"/>
                </a:solidFill>
                <a:latin typeface="PingFang SC"/>
                <a:ea typeface="PingFang SC"/>
              </a:rPr>
              <a:t>包装</a:t>
            </a:r>
            <a:endParaRPr/>
          </a:p>
        </p:txBody>
      </p:sp>
      <p:pic>
        <p:nvPicPr>
          <p:cNvPr id="2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534150" y="4467225"/>
            <a:ext cx="228600" cy="228600"/>
          </a:xfrm>
          <a:prstGeom prst="rect">
            <a:avLst/>
          </a:prstGeom>
          <a:ln/>
        </p:spPr>
      </p:pic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896100" y="4467225"/>
            <a:ext cx="2743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293B"/>
                </a:solidFill>
                <a:latin typeface="PingFang SC"/>
                <a:ea typeface="PingFang SC"/>
              </a:rPr>
              <a:t>而是能「跑通一件事」的</a:t>
            </a:r>
            <a:r>
              <a:rPr lang="en-US" sz="1500" b="1">
                <a:solidFill>
                  <a:srgbClr val="1E293B"/>
                </a:solidFill>
                <a:latin typeface="PingFang SC"/>
                <a:ea typeface="PingFang SC"/>
              </a:rPr>
              <a:t> Agent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失败案例复盘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04 / 20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914400" y="3810000"/>
            <a:ext cx="6667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/>
        </p:spPr>
        <p:txBody>
          <a:bodyPr/>
          <a:p/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a16="http://schemas.microsoft.com/office/drawing/2014/main" xmlns:mc="http://schemas.openxmlformats.org/markup-compatibility/2006" mc:Ignorable="asvg a16">
  <p:cSld>
    <p:spTree>
      <p:nvGrpSpPr>
        <p:cNvPr id="270" name="" descr="&lt;Slide style={{ width: '1280px', height: '720px', background: '#FFFFFF', fontFamily: &quot;'PingFang SC','Microsoft YaHei','Helvetica Neue',sans-serif&quot;, overflow: 'hidden' }}&gt;&#10;  &lt;Box style={{ height: 120, padding: '28px 64px 0 64px', flexDirection: 'row', justifyContent: 'space-between', alignItems: 'flex-start' }}&gt;&#10;    &lt;Box&gt;&#10;      &lt;Text style={{ fontSize: 16, color: '#64748B', letterSpacing: 1 }}&gt;第一章 · 项目目标&lt;/Text&gt;&#10;      &lt;Text style={{ fontSize: 34, fontWeight: 'bold', color: '#1E293B', marginTop: 6 }}&gt;目标的硬约束&lt;/Text&gt;&#10;    &lt;/Box&gt;&#10;    &lt;Text style={{ fontSize: 16, color: '#3B82F6', fontWeight: 'bold', paddingTop: 10 }}&gt;05&lt;/Text&gt;&#10;  &lt;/Box&gt;&#10;&#10;  &lt;Box style={{ height: 540, padding: '8px 64px 0 64px', flexDirection: 'row', gap: 40 }}&gt;&#10;    &lt;Box style={{ width: 320, justifyContent: 'center' }}&gt;&#10;      &lt;Text style={{ fontSize: 22, fontWeight: 'bold', color: '#1E293B', lineHeight: 1.5 }}&gt;&#10;        这些约束写在 PRD 的「不可变原则」里&#10;      &lt;/Text&gt;&#10;      &lt;Text style={{ fontSize: 18, color: '#64748B', lineHeight: 1.8, marginTop: 18 }}&gt;&#10;        它们本身完全正确 —— 问题从来不是「定得不对」，而是「后面没被遵守」。&#10;      &lt;/Text&gt;&#10;      &lt;Box style={{ flexDirection: 'row', alignItems: 'center', gap: 12, marginTop: 22 }}&gt;&#10;        &lt;FAIcon name='info-circle' style={{ fill: '#3B82F6', width: 28, height: 28 }} /&gt;&#10;        &lt;Text style={{ fontSize: 18, color: '#3B82F6', fontWeight: 'bold' }}&gt;定义优秀，不等于执行到位&lt;/Text&gt;&#10;      &lt;/Box&gt;&#10;    &lt;/Box&gt;&#10;&#10;    &lt;Box style={{ flex: 1 }}&gt;&#10;      &lt;Table&#10;        style={{ width: '100%', height: '100%' }}&#10;        defaultTextStyle={{ fontSize: 17, textAlign: 'left', color: '#1E293B' }}&#10;        defaultCellStyle={{&#10;          border: { left: { width: 1, color: '#E2E8F0' }, right: { width: 1, color: '#E2E8F0' }, top: { width: 1, color: '#E2E8F0' }, bottom: { width: 1, color: '#E2E8F0' } },&#10;          padding: 14,&#10;        }}&#10;        cells={[&#10;          [&#10;            { text: '硬约束', textStyle: { bold: true, color: '#FFFFFF', fontSize: 18 }, cellStyle: { background: { color: '#3B82F6' } } },&#10;            { text: '它的真实含义', textStyle: { bold: true, color: '#FFFFFF', fontSize: 18 }, cellStyle: { background: { color: '#3B82F6' } } },&#10;          ],&#10;          [&#10;            { text: '多 Agent 非默认', textStyle: { bold: true, color: '#1E293B' } },&#10;            { text: '先过单 Agent 质量门，才谈拆分' },&#10;          ],&#10;          [&#10;            { text: '实验驱动', textStyle: { bold: true, color: '#1E293B' } },&#10;            { text: '上多 Agent 前要有对照实验证据' },&#10;          ],&#10;          [&#10;            { text: '闭环优先', textStyle: { bold: true, color: '#1E293B' } },&#10;            { text: '目标到交付必须端到端跑通一次' },&#10;          ],&#10;          [&#10;            { text: '失败可终态', textStyle: { bold: true, color: '#1E293B' } },&#10;            { text: '状态机不能悬停，失败要明确终态' },&#10;          ],&#10;          [&#10;            { text: '协议真用', textStyle: { bold: true, color: '#1E293B' } },&#10;            { text: '失败码 / 交接契约要被代码消费' },&#10;          ],&#10;        ]}&#10;      /&gt;&#10;    &lt;/Box&gt;&#10;  &lt;/Box&gt;&#10;&#10;  &lt;Box style={{ height: 60, padding: '0 64px', flexDirection: 'row', justifyContent: 'space-between', alignItems: 'center', borderTop: '1px solid #E2E8F0' }}&gt;&#10;    &lt;Text style={{ fontSize: 14, color: '#64748B' }}&gt;Regent 失败案例复盘&lt;/Text&gt;&#10;    &lt;Text style={{ fontSize: 14, color: '#64748B' }}&gt;05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609600" y="266700"/>
            <a:ext cx="1943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第一章</a:t>
            </a:r>
            <a:r>
              <a:rPr lang="en-US" sz="1200" spc="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项目目标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09600" y="51435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PingFang SC"/>
                <a:ea typeface="PingFang SC"/>
              </a:rPr>
              <a:t>目标的硬约束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11391900" y="266700"/>
            <a:ext cx="190500" cy="2857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B82F6"/>
                </a:solidFill>
                <a:latin typeface="PingFang SC"/>
                <a:ea typeface="PingFang SC"/>
              </a:rPr>
              <a:t>05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09600" y="2495550"/>
            <a:ext cx="30480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1E293B"/>
                </a:solidFill>
                <a:latin typeface="PingFang SC"/>
                <a:ea typeface="PingFang SC"/>
              </a:rPr>
              <a:t>这些约束写在</a:t>
            </a:r>
            <a:r>
              <a:rPr lang="en-US" sz="1650" b="1">
                <a:solidFill>
                  <a:srgbClr val="1E293B"/>
                </a:solidFill>
                <a:latin typeface="PingFang SC"/>
                <a:ea typeface="PingFang SC"/>
              </a:rPr>
              <a:t> PRD </a:t>
            </a:r>
            <a:r>
              <a:rPr lang="zh-CN" sz="1650" b="1">
                <a:solidFill>
                  <a:srgbClr val="1E293B"/>
                </a:solidFill>
                <a:latin typeface="PingFang SC"/>
                <a:ea typeface="PingFang SC"/>
              </a:rPr>
              <a:t>的「不可变原则」里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09600" y="3429000"/>
            <a:ext cx="3048000" cy="1114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350">
                <a:solidFill>
                  <a:srgbClr val="64748B"/>
                </a:solidFill>
                <a:latin typeface="PingFang SC"/>
                <a:ea typeface="PingFang SC"/>
              </a:rPr>
              <a:t>它们本身完全正确</a:t>
            </a:r>
            <a:r>
              <a:rPr lang="en-US" sz="1350">
                <a:solidFill>
                  <a:srgbClr val="64748B"/>
                </a:solidFill>
                <a:latin typeface="PingFang SC"/>
                <a:ea typeface="PingFang SC"/>
              </a:rPr>
              <a:t> —— </a:t>
            </a:r>
            <a:r>
              <a:rPr lang="zh-CN" sz="1350">
                <a:solidFill>
                  <a:srgbClr val="64748B"/>
                </a:solidFill>
                <a:latin typeface="PingFang SC"/>
                <a:ea typeface="PingFang SC"/>
              </a:rPr>
              <a:t>问题从来不是「定得不对」，而是「后面没被遵守」。</a:t>
            </a:r>
            <a:endParaRPr/>
          </a:p>
        </p:txBody>
      </p:sp>
      <p:pic>
        <p:nvPicPr>
          <p:cNvPr id="2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4752975"/>
            <a:ext cx="266700" cy="266700"/>
          </a:xfrm>
          <a:prstGeom prst="rect">
            <a:avLst/>
          </a:prstGeom>
          <a:ln/>
        </p:spPr>
      </p:pic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990600" y="4781550"/>
            <a:ext cx="2057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B82F6"/>
                </a:solidFill>
                <a:latin typeface="PingFang SC"/>
                <a:ea typeface="PingFang SC"/>
              </a:rPr>
              <a:t>定义优秀，不等于执行到位</a:t>
            </a:r>
            <a:endParaRPr/>
          </a:p>
        </p:txBody>
      </p:sp>
      <p:graphicFrame>
        <p:nvGraphicFramePr>
          <p:cNvPr id="279" name=""/>
          <p:cNvGraphicFramePr/>
          <p:nvPr/>
        </p:nvGraphicFramePr>
        <p:xfrm rot="0" flipH="0" flipV="0">
          <a:off x="4038600" y="1219200"/>
          <a:ext cx="7543800" cy="5067300"/>
        </p:xfrm>
        <a:graphic>
          <a:graphicData uri="http://schemas.openxmlformats.org/drawingml/2006/table">
            <a:tbl>
              <a:tblGrid>
                <a:gridCol w="2617617">
                  <a:extLst>
                    <a:ext uri="{9D8B030D-6E8A-4147-A177-3AD203B41FA5}">
                      <a16:colId val="1"/>
                    </a:ext>
                  </a:extLst>
                </a:gridCol>
                <a:gridCol w="4926183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86479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硬约束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它的真实含义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84050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多 Agent 非默认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先过单 Agent 质量门，才谈拆分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84050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实验驱动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上多 Agent 前要有对照实验证据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84050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闭环优先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目标到交付必须端到端跑通一次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84050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失败可终态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状态机不能悬停，失败要明确终态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84050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协议真用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失败码 / 交接契约要被代码消费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280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失败案例复盘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05 / 20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83" name="" descr="&lt;Slide style={{ width: '1280px', height: '720px', background: '#0F172A', fontFamily: &quot;'PingFang SC','Microsoft YaHei','Helvetica Neue',sans-serif&quot;, overflow: 'hidden' }}&gt;&#10;  &lt;Box style={{ position: 'absolute', top: -120, right: -120, width: 480, height: 480, borderRadius: 240, background: 'linear-gradient(135deg,#3B82F6 0%,#06B6D4 100%)', opacity: 0.16 }} /&gt;&#10;  &lt;Box style={{ position: 'absolute', bottom: 0, left: 0, width: 360, height: 360, background: 'linear-gradient(135deg,#06B6D4 0%,transparent 100%)', opacity: 0.10 }} /&gt;&#10;&#10;  &lt;Box style={{ position: 'absolute', top: 90, left: 96, right: 96, flexDirection: 'row', alignItems: 'flex-end', gap: 32 }}&gt;&#10;    &lt;Text style={{ fontSize: 200, fontWeight: 'bold', color: '#3B82F6', lineHeight: 1, opacity: 0.5 }}&gt;02&lt;/Text&gt;&#10;    &lt;Box style={{ paddingBottom: 24 }}&gt;&#10;      &lt;Text style={{ fontSize: 20, color: '#06B6D4', fontWeight: 'bold', letterSpacing: 3 }}&gt;CHAPTER TWO&lt;/Text&gt;&#10;      &lt;Text style={{ fontSize: 56, fontWeight: 'bold', color: '#FFFFFF', marginTop: 8 }}&gt;各阶段框架&lt;/Text&gt;&#10;    &lt;/Box&gt;&#10;  &lt;/Box&gt;&#10;&#10;  &lt;Box style={{ position: 'absolute', bottom: 150, left: 96, right: 96 }}&gt;&#10;    &lt;Text style={{ fontSize: 26, color: '#CBD5E1', lineHeight: 1.7 }}&gt;&#10;      从 P0 可靠内核，到 P1 运营闭环，&lt;br /&gt;再到治理与多 Agent —— 设计一层层叠上去。&#10;    &lt;/Text&gt;&#10;  &lt;/Box&gt;&#10;&#10;  &lt;Box style={{ position: 'absolute', bottom: 36, left: 64, right: 64, flexDirection: 'row', justifyContent: 'space-between', alignItems: 'center' }}&gt;&#10;    &lt;Text style={{ fontSize: 14, color: '#64748B' }}&gt;Regent 失败案例复盘&lt;/Text&gt;&#10;    &lt;Text style={{ fontSize: 14, color: '#64748B' }}&gt;06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8763000" y="-1143000"/>
            <a:ext cx="4572000" cy="4572000"/>
          </a:xfrm>
          <a:custGeom>
            <a:pathLst>
              <a:path w="480" h="480">
                <a:moveTo>
                  <a:pt x="360" y="448"/>
                </a:moveTo>
                <a:lnTo>
                  <a:pt x="359" y="448"/>
                </a:lnTo>
                <a:lnTo>
                  <a:pt x="354" y="451"/>
                </a:lnTo>
                <a:lnTo>
                  <a:pt x="349" y="454"/>
                </a:lnTo>
                <a:lnTo>
                  <a:pt x="344" y="456"/>
                </a:lnTo>
                <a:lnTo>
                  <a:pt x="339" y="459"/>
                </a:lnTo>
                <a:lnTo>
                  <a:pt x="333" y="461"/>
                </a:lnTo>
                <a:lnTo>
                  <a:pt x="328" y="463"/>
                </a:lnTo>
                <a:lnTo>
                  <a:pt x="322" y="465"/>
                </a:lnTo>
                <a:lnTo>
                  <a:pt x="317" y="467"/>
                </a:lnTo>
                <a:lnTo>
                  <a:pt x="311" y="469"/>
                </a:lnTo>
                <a:lnTo>
                  <a:pt x="306" y="471"/>
                </a:lnTo>
                <a:lnTo>
                  <a:pt x="300" y="472"/>
                </a:lnTo>
                <a:lnTo>
                  <a:pt x="294" y="474"/>
                </a:lnTo>
                <a:lnTo>
                  <a:pt x="288" y="475"/>
                </a:lnTo>
                <a:lnTo>
                  <a:pt x="282" y="476"/>
                </a:lnTo>
                <a:lnTo>
                  <a:pt x="277" y="477"/>
                </a:lnTo>
                <a:lnTo>
                  <a:pt x="271" y="478"/>
                </a:lnTo>
                <a:lnTo>
                  <a:pt x="265" y="479"/>
                </a:lnTo>
                <a:lnTo>
                  <a:pt x="258" y="479"/>
                </a:lnTo>
                <a:lnTo>
                  <a:pt x="252" y="480"/>
                </a:lnTo>
                <a:lnTo>
                  <a:pt x="246" y="480"/>
                </a:lnTo>
                <a:lnTo>
                  <a:pt x="240" y="480"/>
                </a:lnTo>
                <a:lnTo>
                  <a:pt x="234" y="480"/>
                </a:lnTo>
                <a:lnTo>
                  <a:pt x="228" y="480"/>
                </a:lnTo>
                <a:lnTo>
                  <a:pt x="222" y="479"/>
                </a:lnTo>
                <a:lnTo>
                  <a:pt x="215" y="479"/>
                </a:lnTo>
                <a:lnTo>
                  <a:pt x="209" y="478"/>
                </a:lnTo>
                <a:lnTo>
                  <a:pt x="203" y="477"/>
                </a:lnTo>
                <a:lnTo>
                  <a:pt x="198" y="476"/>
                </a:lnTo>
                <a:lnTo>
                  <a:pt x="192" y="475"/>
                </a:lnTo>
                <a:lnTo>
                  <a:pt x="186" y="474"/>
                </a:lnTo>
                <a:lnTo>
                  <a:pt x="180" y="472"/>
                </a:lnTo>
                <a:lnTo>
                  <a:pt x="174" y="471"/>
                </a:lnTo>
                <a:lnTo>
                  <a:pt x="169" y="469"/>
                </a:lnTo>
                <a:lnTo>
                  <a:pt x="163" y="467"/>
                </a:lnTo>
                <a:lnTo>
                  <a:pt x="158" y="465"/>
                </a:lnTo>
                <a:lnTo>
                  <a:pt x="152" y="463"/>
                </a:lnTo>
                <a:lnTo>
                  <a:pt x="147" y="461"/>
                </a:lnTo>
                <a:lnTo>
                  <a:pt x="141" y="459"/>
                </a:lnTo>
                <a:lnTo>
                  <a:pt x="136" y="456"/>
                </a:lnTo>
                <a:lnTo>
                  <a:pt x="131" y="454"/>
                </a:lnTo>
                <a:lnTo>
                  <a:pt x="126" y="451"/>
                </a:lnTo>
                <a:lnTo>
                  <a:pt x="121" y="448"/>
                </a:lnTo>
                <a:lnTo>
                  <a:pt x="116" y="445"/>
                </a:lnTo>
                <a:lnTo>
                  <a:pt x="111" y="442"/>
                </a:lnTo>
                <a:lnTo>
                  <a:pt x="106" y="439"/>
                </a:lnTo>
                <a:lnTo>
                  <a:pt x="101" y="436"/>
                </a:lnTo>
                <a:lnTo>
                  <a:pt x="96" y="432"/>
                </a:lnTo>
                <a:lnTo>
                  <a:pt x="92" y="429"/>
                </a:lnTo>
                <a:lnTo>
                  <a:pt x="87" y="425"/>
                </a:lnTo>
                <a:lnTo>
                  <a:pt x="83" y="421"/>
                </a:lnTo>
                <a:lnTo>
                  <a:pt x="79" y="418"/>
                </a:lnTo>
                <a:lnTo>
                  <a:pt x="74" y="414"/>
                </a:lnTo>
                <a:lnTo>
                  <a:pt x="70" y="410"/>
                </a:lnTo>
                <a:lnTo>
                  <a:pt x="66" y="406"/>
                </a:lnTo>
                <a:lnTo>
                  <a:pt x="62" y="401"/>
                </a:lnTo>
                <a:lnTo>
                  <a:pt x="59" y="397"/>
                </a:lnTo>
                <a:lnTo>
                  <a:pt x="55" y="393"/>
                </a:lnTo>
                <a:lnTo>
                  <a:pt x="51" y="388"/>
                </a:lnTo>
                <a:lnTo>
                  <a:pt x="48" y="384"/>
                </a:lnTo>
                <a:lnTo>
                  <a:pt x="44" y="379"/>
                </a:lnTo>
                <a:lnTo>
                  <a:pt x="41" y="374"/>
                </a:lnTo>
                <a:lnTo>
                  <a:pt x="38" y="369"/>
                </a:lnTo>
                <a:lnTo>
                  <a:pt x="35" y="364"/>
                </a:lnTo>
                <a:lnTo>
                  <a:pt x="32" y="359"/>
                </a:lnTo>
                <a:lnTo>
                  <a:pt x="29" y="354"/>
                </a:lnTo>
                <a:lnTo>
                  <a:pt x="26" y="349"/>
                </a:lnTo>
                <a:lnTo>
                  <a:pt x="24" y="344"/>
                </a:lnTo>
                <a:lnTo>
                  <a:pt x="21" y="339"/>
                </a:lnTo>
                <a:lnTo>
                  <a:pt x="19" y="333"/>
                </a:lnTo>
                <a:lnTo>
                  <a:pt x="17" y="328"/>
                </a:lnTo>
                <a:lnTo>
                  <a:pt x="15" y="322"/>
                </a:lnTo>
                <a:lnTo>
                  <a:pt x="13" y="317"/>
                </a:lnTo>
                <a:lnTo>
                  <a:pt x="11" y="311"/>
                </a:lnTo>
                <a:lnTo>
                  <a:pt x="9" y="306"/>
                </a:lnTo>
                <a:lnTo>
                  <a:pt x="8" y="300"/>
                </a:lnTo>
                <a:lnTo>
                  <a:pt x="6" y="294"/>
                </a:lnTo>
                <a:lnTo>
                  <a:pt x="5" y="288"/>
                </a:lnTo>
                <a:lnTo>
                  <a:pt x="4" y="282"/>
                </a:lnTo>
                <a:lnTo>
                  <a:pt x="3" y="277"/>
                </a:lnTo>
                <a:lnTo>
                  <a:pt x="2" y="271"/>
                </a:lnTo>
                <a:lnTo>
                  <a:pt x="1" y="265"/>
                </a:lnTo>
                <a:lnTo>
                  <a:pt x="1" y="258"/>
                </a:lnTo>
                <a:lnTo>
                  <a:pt x="0" y="252"/>
                </a:lnTo>
                <a:lnTo>
                  <a:pt x="0" y="246"/>
                </a:lnTo>
                <a:lnTo>
                  <a:pt x="0" y="240"/>
                </a:lnTo>
                <a:lnTo>
                  <a:pt x="0" y="234"/>
                </a:lnTo>
                <a:lnTo>
                  <a:pt x="0" y="228"/>
                </a:lnTo>
                <a:lnTo>
                  <a:pt x="1" y="222"/>
                </a:lnTo>
                <a:lnTo>
                  <a:pt x="1" y="215"/>
                </a:lnTo>
                <a:lnTo>
                  <a:pt x="2" y="209"/>
                </a:lnTo>
                <a:lnTo>
                  <a:pt x="3" y="203"/>
                </a:lnTo>
                <a:lnTo>
                  <a:pt x="4" y="198"/>
                </a:lnTo>
                <a:lnTo>
                  <a:pt x="5" y="192"/>
                </a:lnTo>
                <a:lnTo>
                  <a:pt x="6" y="186"/>
                </a:lnTo>
                <a:lnTo>
                  <a:pt x="8" y="180"/>
                </a:lnTo>
                <a:lnTo>
                  <a:pt x="9" y="174"/>
                </a:lnTo>
                <a:lnTo>
                  <a:pt x="11" y="169"/>
                </a:lnTo>
                <a:lnTo>
                  <a:pt x="13" y="163"/>
                </a:lnTo>
                <a:lnTo>
                  <a:pt x="15" y="158"/>
                </a:lnTo>
                <a:lnTo>
                  <a:pt x="17" y="152"/>
                </a:lnTo>
                <a:lnTo>
                  <a:pt x="19" y="147"/>
                </a:lnTo>
                <a:lnTo>
                  <a:pt x="21" y="141"/>
                </a:lnTo>
                <a:lnTo>
                  <a:pt x="24" y="136"/>
                </a:lnTo>
                <a:lnTo>
                  <a:pt x="26" y="131"/>
                </a:lnTo>
                <a:lnTo>
                  <a:pt x="29" y="126"/>
                </a:lnTo>
                <a:lnTo>
                  <a:pt x="32" y="121"/>
                </a:lnTo>
                <a:lnTo>
                  <a:pt x="32" y="120"/>
                </a:lnTo>
                <a:lnTo>
                  <a:pt x="360" y="120"/>
                </a:lnTo>
                <a:close/>
              </a:path>
            </a:pathLst>
          </a:custGeom>
          <a:gradFill>
            <a:gsLst>
              <a:gs pos="0">
                <a:srgbClr val="3B82F6">
                  <a:alpha val="16000"/>
                </a:srgbClr>
              </a:gs>
              <a:gs pos="100000">
                <a:srgbClr val="06B6D4">
                  <a:alpha val="16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0" y="3429000"/>
            <a:ext cx="3429000" cy="3429000"/>
          </a:xfrm>
          <a:prstGeom prst="rect">
            <a:avLst/>
          </a:prstGeom>
          <a:gradFill>
            <a:gsLst>
              <a:gs pos="0">
                <a:srgbClr val="06B6D4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3571875" y="1962150"/>
            <a:ext cx="2667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225">
                <a:solidFill>
                  <a:srgbClr val="06B6D4"/>
                </a:solidFill>
                <a:latin typeface="PingFang SC"/>
                <a:ea typeface="PingFang SC"/>
              </a:rPr>
              <a:t>CHAPTER TWO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3571875" y="2266950"/>
            <a:ext cx="26670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latin typeface="PingFang SC"/>
                <a:ea typeface="PingFang SC"/>
              </a:rPr>
              <a:t>各阶段框架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914400" y="85725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3B82F6">
                    <a:alpha val="50000"/>
                  </a:srgbClr>
                </a:solidFill>
                <a:latin typeface="PingFang SC"/>
                <a:ea typeface="PingFang SC"/>
              </a:rPr>
              <a:t>02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914400" y="4410075"/>
            <a:ext cx="10363200" cy="1019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950">
                <a:solidFill>
                  <a:srgbClr val="CBD5E1"/>
                </a:solidFill>
                <a:latin typeface="PingFang SC"/>
                <a:ea typeface="PingFang SC"/>
              </a:rPr>
              <a:t>从</a:t>
            </a:r>
            <a:r>
              <a:rPr lang="en-US" sz="1950">
                <a:solidFill>
                  <a:srgbClr val="CBD5E1"/>
                </a:solidFill>
                <a:latin typeface="PingFang SC"/>
                <a:ea typeface="PingFang SC"/>
              </a:rPr>
              <a:t> P0 </a:t>
            </a:r>
            <a:r>
              <a:rPr lang="zh-CN" sz="1950">
                <a:solidFill>
                  <a:srgbClr val="CBD5E1"/>
                </a:solidFill>
                <a:latin typeface="PingFang SC"/>
                <a:ea typeface="PingFang SC"/>
              </a:rPr>
              <a:t>可靠内核，到</a:t>
            </a:r>
            <a:r>
              <a:rPr lang="en-US" sz="1950">
                <a:solidFill>
                  <a:srgbClr val="CBD5E1"/>
                </a:solidFill>
                <a:latin typeface="PingFang SC"/>
                <a:ea typeface="PingFang SC"/>
              </a:rPr>
              <a:t> P1 </a:t>
            </a:r>
            <a:r>
              <a:rPr lang="zh-CN" sz="1950">
                <a:solidFill>
                  <a:srgbClr val="CBD5E1"/>
                </a:solidFill>
                <a:latin typeface="PingFang SC"/>
                <a:ea typeface="PingFang SC"/>
              </a:rPr>
              <a:t>运营闭环，</a:t>
            </a:r>
            <a:endParaRPr/>
          </a:p>
          <a:p>
            <a:pPr>
              <a:lnSpc>
                <a:spcPct val="170000"/>
              </a:lnSpc>
            </a:pPr>
            <a:r>
              <a:rPr lang="zh-CN" sz="1950">
                <a:solidFill>
                  <a:srgbClr val="CBD5E1"/>
                </a:solidFill>
                <a:latin typeface="PingFang SC"/>
                <a:ea typeface="PingFang SC"/>
              </a:rPr>
              <a:t>再到治理与多</a:t>
            </a:r>
            <a:r>
              <a:rPr lang="en-US" sz="1950">
                <a:solidFill>
                  <a:srgbClr val="CBD5E1"/>
                </a:solidFill>
                <a:latin typeface="PingFang SC"/>
                <a:ea typeface="PingFang SC"/>
              </a:rPr>
              <a:t> Agent —— </a:t>
            </a:r>
            <a:r>
              <a:rPr lang="zh-CN" sz="1950">
                <a:solidFill>
                  <a:srgbClr val="CBD5E1"/>
                </a:solidFill>
                <a:latin typeface="PingFang SC"/>
                <a:ea typeface="PingFang SC"/>
              </a:rPr>
              <a:t>设计一层层叠上去。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609600" y="6353175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失败案例复盘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11125200" y="6353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06 / 20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93" name="" descr="&lt;Slide style={{ width: '1280px', height: '720px', background: '#FFFFFF', fontFamily: &quot;'PingFang SC','Microsoft YaHei','Helvetica Neue',sans-serif&quot;, overflow: 'hidden' }}&gt;&#10;  &lt;Box style={{ height: 120, padding: '28px 64px 0 64px', flexDirection: 'row', justifyContent: 'space-between', alignItems: 'flex-start' }}&gt;&#10;    &lt;Box&gt;&#10;      &lt;Text style={{ fontSize: 16, color: '#64748B', letterSpacing: 1 }}&gt;第二章 · 各阶段框架&lt;/Text&gt;&#10;      &lt;Text style={{ fontSize: 34, fontWeight: 'bold', color: '#1E293B', marginTop: 6 }}&gt;P0 可靠内核框架&lt;/Text&gt;&#10;    &lt;/Box&gt;&#10;    &lt;Text style={{ fontSize: 16, color: '#3B82F6', fontWeight: 'bold', paddingTop: 10 }}&gt;07&lt;/Text&gt;&#10;  &lt;/Box&gt;&#10;&#10;  &lt;Box style={{ height: 540, padding: '6px 64px 0 64px', flexDirection: 'row', gap: 44 }}&gt;&#10;    &lt;Box style={{ flex: 1.15, background: '#F1F5F9', borderRadius: 18, padding: '26px 24px', justifyContent: 'center' }}&gt;&#10;      &lt;Text style={{ fontSize: 16, color: '#64748B', fontWeight: 'bold', letterSpacing: 1, marginBottom: 14 }}&gt;内核四件套（P0）&lt;/Text&gt;&#10;      &lt;Box style={{ flexDirection: 'row', alignItems: 'center', gap: 14, background: '#FFFFFF', borderRadius: 10, padding: '14px 18px', borderLeft: '5px solid #3B82F6' }}&gt;&#10;        &lt;Text style={{ fontSize: 19, fontWeight: 'bold', color: '#1E293B' }}&gt;目标状态机&lt;/Text&gt;&#10;        &lt;Text style={{ fontSize: 14, color: '#64748B' }}&gt;GoalStateMachine&lt;/Text&gt;&#10;      &lt;/Box&gt;&#10;      &lt;Box style={{ alignItems: 'center' }}&gt;&lt;FAIcon name='arrow-down' style={{ fill: '#94A3B8', width: 22, height: 22 }} /&gt;&lt;/Box&gt;&#10;      &lt;Box style={{ flexDirection: 'row', alignItems: 'center', gap: 14, background: '#FFFFFF', borderRadius: 10, padding: '14px 18px', borderLeft: '5px solid #06B6D4' }}&gt;&#10;        &lt;Text style={{ fontSize: 19, fontWeight: 'bold', color: '#1E293B' }}&gt;执行许可&lt;/Text&gt;&#10;        &lt;Text style={{ fontSize: 14, color: '#64748B' }}&gt;ExecutionPermit&lt;/Text&gt;&#10;      &lt;/Box&gt;&#10;      &lt;Box style={{ alignItems: 'center' }}&gt;&lt;FAIcon name='arrow-down' style={{ fill: '#94A3B8', width: 22, height: 22 }} /&gt;&lt;/Box&gt;&#10;      &lt;Box style={{ flexDirection: 'row', alignItems: 'center', gap: 14, background: '#FFFFFF', borderRadius: 10, padding: '14px 18px', borderLeft: '5px solid #3B82F6' }}&gt;&#10;        &lt;Text style={{ fontSize: 19, fontWeight: 'bold', color: '#1E293B' }}&gt;上下文装配&lt;/Text&gt;&#10;        &lt;Text style={{ fontSize: 14, color: '#64748B' }}&gt;ContextAssembly&lt;/Text&gt;&#10;      &lt;/Box&gt;&#10;      &lt;Box style={{ alignItems: 'center' }}&gt;&lt;FAIcon name='arrow-down' style={{ fill: '#94A3B8', width: 22, height: 22 }} /&gt;&lt;/Box&gt;&#10;      &lt;Box style={{ flexDirection: 'row', alignItems: 'center', gap: 14, background: '#FFFFFF', borderRadius: 10, padding: '14px 18px', borderLeft: '5px solid #06B6D4' }}&gt;&#10;        &lt;Text style={{ fontSize: 19, fontWeight: 'bold', color: '#1E293B' }}&gt;自校验&lt;/Text&gt;&#10;        &lt;Text style={{ fontSize: 14, color: '#64748B' }}&gt;SelfReview&lt;/Text&gt;&#10;      &lt;/Box&gt;&#10;    &lt;/Box&gt;&#10;&#10;    &lt;Box style={{ flex: 1, justifyContent: 'center', gap: 18 }}&gt;&#10;      &lt;Text style={{ fontSize: 22, fontWeight: 'bold', color: '#1E293B', lineHeight: 1.5 }}&gt;这是不可再拆的最小内核&lt;/Text&gt;&#10;      &lt;Text style={{ fontSize: 19, color: '#475569', lineHeight: 1.85 }}&gt;&#10;        它们本该串成一条「目标进来、应用出去」的主循环。&#10;      &lt;/Text&gt;&#10;      &lt;Box style={{ flexDirection: 'row', alignItems: 'center', gap: 12 }}&gt;&#10;        &lt;FAIcon name='exclamation-circle' style={{ fill: '#EF4444', width: 24, height: 24 }} /&gt;&#10;        &lt;Text style={{ fontSize: 19, color: '#1E293B', fontWeight: 'bold' }}&gt;但四个都被定义了，却没闭合&lt;/Text&gt;&#10;      &lt;/Box&gt;&#10;      &lt;Text style={{ fontSize: 17, color: '#64748B', lineHeight: 1.8 }}&gt;&#10;        设计文档里它们各就各位；现实里，主循环从未端到端跑通一次。&#10;      &lt;/Text&gt;&#10;    &lt;/Box&gt;&#10;  &lt;/Box&gt;&#10;&#10;  &lt;Box style={{ height: 60, padding: '0 64px', flexDirection: 'row', justifyContent: 'space-between', alignItems: 'center', borderTop: '1px solid #E2E8F0' }}&gt;&#10;    &lt;Text style={{ fontSize: 14, color: '#64748B' }}&gt;Regent 失败案例复盘&lt;/Text&gt;&#10;    &lt;Text style={{ fontSize: 14, color: '#64748B' }}&gt;07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609600" y="266700"/>
            <a:ext cx="2457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第二章</a:t>
            </a:r>
            <a:r>
              <a:rPr lang="en-US" sz="1200" spc="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各阶段框架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09600" y="514350"/>
            <a:ext cx="2457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293B"/>
                </a:solidFill>
                <a:latin typeface="PingFang SC"/>
                <a:ea typeface="PingFang SC"/>
              </a:rPr>
              <a:t>P0 </a:t>
            </a:r>
            <a:r>
              <a:rPr lang="zh-CN" sz="2550" b="1">
                <a:solidFill>
                  <a:srgbClr val="1E293B"/>
                </a:solidFill>
                <a:latin typeface="PingFang SC"/>
                <a:ea typeface="PingFang SC"/>
              </a:rPr>
              <a:t>可靠内核框架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11391900" y="266700"/>
            <a:ext cx="190500" cy="2857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B82F6"/>
                </a:solidFill>
                <a:latin typeface="PingFang SC"/>
                <a:ea typeface="PingFang SC"/>
              </a:rPr>
              <a:t>07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609600" y="1200150"/>
            <a:ext cx="5648325" cy="5086350"/>
          </a:xfrm>
          <a:prstGeom prst="roundRect">
            <a:avLst>
              <a:gd name="adj" fmla="val 3371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838200" y="2295525"/>
            <a:ext cx="5191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75">
                <a:solidFill>
                  <a:srgbClr val="64748B"/>
                </a:solidFill>
                <a:latin typeface="PingFang SC"/>
                <a:ea typeface="PingFang SC"/>
              </a:rPr>
              <a:t>内核四件套（</a:t>
            </a:r>
            <a:r>
              <a:rPr lang="en-US" sz="1200" b="1" spc="75">
                <a:solidFill>
                  <a:srgbClr val="64748B"/>
                </a:solidFill>
                <a:latin typeface="PingFang SC"/>
                <a:ea typeface="PingFang SC"/>
              </a:rPr>
              <a:t>P0</a:t>
            </a:r>
            <a:r>
              <a:rPr lang="zh-CN" sz="1200" b="1" spc="75">
                <a:solidFill>
                  <a:srgbClr val="64748B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885825" y="2619375"/>
            <a:ext cx="5191125" cy="485775"/>
          </a:xfrm>
          <a:prstGeom prst="roundRect">
            <a:avLst>
              <a:gd name="adj" fmla="val 1960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1" name=""/>
          <p:cNvSpPr/>
          <p:nvPr/>
        </p:nvSpPr>
        <p:spPr>
          <a:xfrm rot="0" flipH="0" flipV="0">
            <a:off x="885825" y="2619375"/>
            <a:ext cx="5191125" cy="485775"/>
          </a:xfrm>
          <a:custGeom>
            <a:pathLst>
              <a:path w="545" h="51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46"/>
                </a:lnTo>
                <a:cubicBezTo>
                  <a:pt x="5" y="48"/>
                  <a:pt x="7" y="50"/>
                  <a:pt x="9" y="51"/>
                </a:cubicBezTo>
                <a:cubicBezTo>
                  <a:pt x="4" y="50"/>
                  <a:pt x="0" y="46"/>
                  <a:pt x="0" y="4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1057275" y="2752725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293B"/>
                </a:solidFill>
                <a:latin typeface="PingFang SC"/>
                <a:ea typeface="PingFang SC"/>
              </a:rPr>
              <a:t>目标状态机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2095500" y="27813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GoalStateMachine</a:t>
            </a:r>
            <a:endParaRPr/>
          </a:p>
        </p:txBody>
      </p:sp>
      <p:pic>
        <p:nvPicPr>
          <p:cNvPr id="30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333750" y="3105150"/>
            <a:ext cx="209550" cy="209550"/>
          </a:xfrm>
          <a:prstGeom prst="rect">
            <a:avLst/>
          </a:prstGeom>
          <a:ln/>
        </p:spPr>
      </p:pic>
      <p:sp>
        <p:nvSpPr>
          <p:cNvPr id="305" name=""/>
          <p:cNvSpPr/>
          <p:nvPr/>
        </p:nvSpPr>
        <p:spPr>
          <a:xfrm rot="0" flipH="0" flipV="0">
            <a:off x="885825" y="3314700"/>
            <a:ext cx="5191125" cy="485775"/>
          </a:xfrm>
          <a:prstGeom prst="roundRect">
            <a:avLst>
              <a:gd name="adj" fmla="val 1960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6" name=""/>
          <p:cNvSpPr/>
          <p:nvPr/>
        </p:nvSpPr>
        <p:spPr>
          <a:xfrm rot="0" flipH="0" flipV="0">
            <a:off x="885825" y="3314700"/>
            <a:ext cx="5191125" cy="485775"/>
          </a:xfrm>
          <a:custGeom>
            <a:pathLst>
              <a:path w="545" h="51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46"/>
                </a:lnTo>
                <a:cubicBezTo>
                  <a:pt x="5" y="48"/>
                  <a:pt x="7" y="50"/>
                  <a:pt x="9" y="51"/>
                </a:cubicBezTo>
                <a:cubicBezTo>
                  <a:pt x="4" y="50"/>
                  <a:pt x="0" y="46"/>
                  <a:pt x="0" y="4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1057275" y="344805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293B"/>
                </a:solidFill>
                <a:latin typeface="PingFang SC"/>
                <a:ea typeface="PingFang SC"/>
              </a:rPr>
              <a:t>执行许可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914525" y="3476625"/>
            <a:ext cx="1038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ExecutionPermit</a:t>
            </a:r>
            <a:endParaRPr/>
          </a:p>
        </p:txBody>
      </p:sp>
      <p:pic>
        <p:nvPicPr>
          <p:cNvPr id="3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333750" y="3800475"/>
            <a:ext cx="209550" cy="209550"/>
          </a:xfrm>
          <a:prstGeom prst="rect">
            <a:avLst/>
          </a:prstGeom>
          <a:ln/>
        </p:spPr>
      </p:pic>
      <p:sp>
        <p:nvSpPr>
          <p:cNvPr id="310" name=""/>
          <p:cNvSpPr/>
          <p:nvPr/>
        </p:nvSpPr>
        <p:spPr>
          <a:xfrm rot="0" flipH="0" flipV="0">
            <a:off x="885825" y="4010025"/>
            <a:ext cx="5191125" cy="485775"/>
          </a:xfrm>
          <a:prstGeom prst="roundRect">
            <a:avLst>
              <a:gd name="adj" fmla="val 1960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1" name=""/>
          <p:cNvSpPr/>
          <p:nvPr/>
        </p:nvSpPr>
        <p:spPr>
          <a:xfrm rot="0" flipH="0" flipV="0">
            <a:off x="885825" y="4010025"/>
            <a:ext cx="5191125" cy="485775"/>
          </a:xfrm>
          <a:custGeom>
            <a:pathLst>
              <a:path w="545" h="51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46"/>
                </a:lnTo>
                <a:cubicBezTo>
                  <a:pt x="5" y="48"/>
                  <a:pt x="7" y="50"/>
                  <a:pt x="9" y="51"/>
                </a:cubicBezTo>
                <a:cubicBezTo>
                  <a:pt x="4" y="50"/>
                  <a:pt x="0" y="46"/>
                  <a:pt x="0" y="4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1057275" y="4143375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293B"/>
                </a:solidFill>
                <a:latin typeface="PingFang SC"/>
                <a:ea typeface="PingFang SC"/>
              </a:rPr>
              <a:t>上下文装配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2095500" y="417195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ContextAssembly</a:t>
            </a:r>
            <a:endParaRPr/>
          </a:p>
        </p:txBody>
      </p:sp>
      <p:pic>
        <p:nvPicPr>
          <p:cNvPr id="3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333750" y="4495800"/>
            <a:ext cx="209550" cy="209550"/>
          </a:xfrm>
          <a:prstGeom prst="rect">
            <a:avLst/>
          </a:prstGeom>
          <a:ln/>
        </p:spPr>
      </p:pic>
      <p:sp>
        <p:nvSpPr>
          <p:cNvPr id="315" name=""/>
          <p:cNvSpPr/>
          <p:nvPr/>
        </p:nvSpPr>
        <p:spPr>
          <a:xfrm rot="0" flipH="0" flipV="0">
            <a:off x="885825" y="4705350"/>
            <a:ext cx="5191125" cy="485775"/>
          </a:xfrm>
          <a:prstGeom prst="roundRect">
            <a:avLst>
              <a:gd name="adj" fmla="val 1960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6" name=""/>
          <p:cNvSpPr/>
          <p:nvPr/>
        </p:nvSpPr>
        <p:spPr>
          <a:xfrm rot="0" flipH="0" flipV="0">
            <a:off x="885825" y="4705350"/>
            <a:ext cx="5191125" cy="485775"/>
          </a:xfrm>
          <a:custGeom>
            <a:pathLst>
              <a:path w="545" h="51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46"/>
                </a:lnTo>
                <a:cubicBezTo>
                  <a:pt x="5" y="48"/>
                  <a:pt x="7" y="50"/>
                  <a:pt x="9" y="51"/>
                </a:cubicBezTo>
                <a:cubicBezTo>
                  <a:pt x="4" y="50"/>
                  <a:pt x="0" y="46"/>
                  <a:pt x="0" y="4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1057275" y="4838700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293B"/>
                </a:solidFill>
                <a:latin typeface="PingFang SC"/>
                <a:ea typeface="PingFang SC"/>
              </a:rPr>
              <a:t>自校验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733550" y="4867275"/>
            <a:ext cx="685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SelfReview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677025" y="2800350"/>
            <a:ext cx="4905375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1E293B"/>
                </a:solidFill>
                <a:latin typeface="PingFang SC"/>
                <a:ea typeface="PingFang SC"/>
              </a:rPr>
              <a:t>这是不可再拆的最小内核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6677025" y="3352800"/>
            <a:ext cx="4905375" cy="409575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425">
                <a:solidFill>
                  <a:srgbClr val="475569"/>
                </a:solidFill>
                <a:latin typeface="PingFang SC"/>
                <a:ea typeface="PingFang SC"/>
              </a:rPr>
              <a:t>它们本该串成一条「目标进来、应用出去」的主循环。</a:t>
            </a:r>
            <a:endParaRPr/>
          </a:p>
        </p:txBody>
      </p:sp>
      <p:pic>
        <p:nvPicPr>
          <p:cNvPr id="3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677025" y="3933825"/>
            <a:ext cx="228600" cy="228600"/>
          </a:xfrm>
          <a:prstGeom prst="rect">
            <a:avLst/>
          </a:prstGeom>
          <a:ln/>
        </p:spPr>
      </p:pic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7019925" y="3943350"/>
            <a:ext cx="23526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E293B"/>
                </a:solidFill>
                <a:latin typeface="PingFang SC"/>
                <a:ea typeface="PingFang SC"/>
              </a:rPr>
              <a:t>但四个都被定义了，却没闭合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677025" y="4333875"/>
            <a:ext cx="4905375" cy="3524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设计文档里它们各就各位；现实里，主循环从未端到端跑通一次。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失败案例复盘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07 / 20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a16="http://schemas.microsoft.com/office/drawing/2014/main" xmlns:mc="http://schemas.openxmlformats.org/markup-compatibility/2006" mc:Ignorable="asvg a16">
  <p:cSld>
    <p:spTree>
      <p:nvGrpSpPr>
        <p:cNvPr id="327" name="" descr="&lt;Slide style={{ width: '1280px', height: '720px', background: '#FFFFFF', fontFamily: &quot;'PingFang SC','Microsoft YaHei','Helvetica Neue',sans-serif&quot;, overflow: 'hidden' }}&gt;&#10;  &lt;Box style={{ height: 120, padding: '28px 64px 0 64px', flexDirection: 'row', justifyContent: 'space-between', alignItems: 'flex-start' }}&gt;&#10;    &lt;Box&gt;&#10;      &lt;Text style={{ fontSize: 16, color: '#64748B', letterSpacing: 1 }}&gt;第二章 · 各阶段框架&lt;/Text&gt;&#10;      &lt;Text style={{ fontSize: 34, fontWeight: 'bold', color: '#1E293B', marginTop: 6 }}&gt;P1 运营闭环 + 验收矩阵&lt;/Text&gt;&#10;    &lt;/Box&gt;&#10;    &lt;Text style={{ fontSize: 16, color: '#3B82F6', fontWeight: 'bold', paddingTop: 10 }}&gt;08&lt;/Text&gt;&#10;  &lt;/Box&gt;&#10;&#10;  &lt;Box style={{ height: 200, padding: '6px 64px 0 64px', flexDirection: 'row', alignItems: 'center', justifyContent: 'center', gap: 10 }}&gt;&#10;    {['目标','计划','执行','自校验','交付'].map((t, i) =&gt; (&#10;      &lt;Box key={i} style={{ flexDirection: 'row', alignItems: 'center', gap: 10 }}&gt;&#10;        &lt;Box style={{ background: 'linear-gradient(135deg,#3B82F6,#06B6D4)', borderRadius: 12, padding: '18px 22px', minWidth: 96, alignItems: 'center' }}&gt;&#10;          &lt;Text style={{ fontSize: 20, fontWeight: 'bold', color: '#FFFFFF' }}&gt;{t}&lt;/Text&gt;&#10;        &lt;/Box&gt;&#10;        {i &lt; 4 &amp;&amp; &lt;FAIcon name='arrow-right' style={{ fill: '#94A3B8', width: 26, height: 26 }} /&gt;}&#10;      &lt;/Box&gt;&#10;    ))}&#10;  &lt;/Box&gt;&#10;&#10;  &lt;Box style={{ height: 340, padding: '6px 64px 0 64px' }}&gt;&#10;    &lt;Table&#10;      style={{ width: '100%', height: '100%' }}&#10;      defaultTextStyle={{ fontSize: 17, textAlign: 'left', color: '#1E293B' }}&#10;      defaultCellStyle={{&#10;        border: { left: { width: 1, color: '#E2E8F0' }, right: { width: 1, color: '#E2E8F0' }, top: { width: 1, color: '#E2E8F0' }, bottom: { width: 1, color: '#E2E8F0' } },&#10;        padding: 13,&#10;      }}&#10;      cells={[&#10;        [&#10;          { text: '验收维度', textStyle: { bold: true, color: '#FFFFFF', fontSize: 18 }, cellStyle: { background: { color: '#3B82F6' } } },&#10;          { text: '验收标准', textStyle: { bold: true, color: '#FFFFFF', fontSize: 18 }, cellStyle: { background: { color: '#3B82F6' } } },&#10;          { text: '实际状态', textStyle: { bold: true, color: '#FFFFFF', fontSize: 18 }, cellStyle: { background: { color: '#3B82F6' } } },&#10;        ],&#10;        ['单 Agent 闭环', '端到端跑通至少一个目标', { text: '未达成', textStyle: { color: '#EF4444', bold: true } }],&#10;        ['失败可终态', '卡死任务能标记 FAILED', { text: '8 例卡死', textStyle: { color: '#EF4444', bold: true } }],&#10;        ['事件有消费者', '状态变更被下游消费', { text: '事件无消费者', textStyle: { color: '#EF4444', bold: true } }],&#10;        ['交付前自校验', 'SelfReview 在交付门生效', { text: '部分生效', textStyle: { color: '#64748B' } }],&#10;      ]}&#10;    /&gt;&#10;  &lt;/Box&gt;&#10;&#10;  &lt;Box style={{ height: 60, padding: '0 64px', flexDirection: 'row', justifyContent: 'space-between', alignItems: 'center', borderTop: '1px solid #E2E8F0' }}&gt;&#10;    &lt;Text style={{ fontSize: 14, color: '#64748B' }}&gt;Regent 失败案例复盘&lt;/Text&gt;&#10;    &lt;Text style={{ fontSize: 14, color: '#64748B' }}&gt;08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609600" y="266700"/>
            <a:ext cx="3543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第二章</a:t>
            </a:r>
            <a:r>
              <a:rPr lang="en-US" sz="1200" spc="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各阶段框架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609600" y="514350"/>
            <a:ext cx="3543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293B"/>
                </a:solidFill>
                <a:latin typeface="PingFang SC"/>
                <a:ea typeface="PingFang SC"/>
              </a:rPr>
              <a:t>P1 </a:t>
            </a:r>
            <a:r>
              <a:rPr lang="zh-CN" sz="2550" b="1">
                <a:solidFill>
                  <a:srgbClr val="1E293B"/>
                </a:solidFill>
                <a:latin typeface="PingFang SC"/>
                <a:ea typeface="PingFang SC"/>
              </a:rPr>
              <a:t>运营闭环</a:t>
            </a:r>
            <a:r>
              <a:rPr lang="en-US" sz="2550" b="1">
                <a:solidFill>
                  <a:srgbClr val="1E293B"/>
                </a:solidFill>
                <a:latin typeface="PingFang SC"/>
                <a:ea typeface="PingFang SC"/>
              </a:rPr>
              <a:t> + </a:t>
            </a:r>
            <a:r>
              <a:rPr lang="zh-CN" sz="2550" b="1">
                <a:solidFill>
                  <a:srgbClr val="1E293B"/>
                </a:solidFill>
                <a:latin typeface="PingFang SC"/>
                <a:ea typeface="PingFang SC"/>
              </a:rPr>
              <a:t>验收矩阵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1391900" y="266700"/>
            <a:ext cx="190500" cy="2857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B82F6"/>
                </a:solidFill>
                <a:latin typeface="PingFang SC"/>
                <a:ea typeface="PingFang SC"/>
              </a:rPr>
              <a:t>08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2895600" y="1838325"/>
            <a:ext cx="914400" cy="571500"/>
          </a:xfrm>
          <a:prstGeom prst="roundRect">
            <a:avLst>
              <a:gd name="adj" fmla="val 2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3162300" y="200977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目标</a:t>
            </a:r>
            <a:endParaRPr/>
          </a:p>
        </p:txBody>
      </p:sp>
      <p:pic>
        <p:nvPicPr>
          <p:cNvPr id="3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905250" y="2000250"/>
            <a:ext cx="247650" cy="247650"/>
          </a:xfrm>
          <a:prstGeom prst="rect">
            <a:avLst/>
          </a:prstGeom>
          <a:ln/>
        </p:spPr>
      </p:pic>
      <p:sp>
        <p:nvSpPr>
          <p:cNvPr id="335" name=""/>
          <p:cNvSpPr/>
          <p:nvPr/>
        </p:nvSpPr>
        <p:spPr>
          <a:xfrm rot="0" flipH="0" flipV="0">
            <a:off x="4248150" y="1838325"/>
            <a:ext cx="914400" cy="571500"/>
          </a:xfrm>
          <a:prstGeom prst="roundRect">
            <a:avLst>
              <a:gd name="adj" fmla="val 2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514850" y="200977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计划</a:t>
            </a:r>
            <a:endParaRPr/>
          </a:p>
        </p:txBody>
      </p:sp>
      <p:pic>
        <p:nvPicPr>
          <p:cNvPr id="3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257800" y="2000250"/>
            <a:ext cx="247650" cy="247650"/>
          </a:xfrm>
          <a:prstGeom prst="rect">
            <a:avLst/>
          </a:prstGeom>
          <a:ln/>
        </p:spPr>
      </p:pic>
      <p:sp>
        <p:nvSpPr>
          <p:cNvPr id="338" name=""/>
          <p:cNvSpPr/>
          <p:nvPr/>
        </p:nvSpPr>
        <p:spPr>
          <a:xfrm rot="0" flipH="0" flipV="0">
            <a:off x="5600700" y="1838325"/>
            <a:ext cx="914400" cy="571500"/>
          </a:xfrm>
          <a:prstGeom prst="roundRect">
            <a:avLst>
              <a:gd name="adj" fmla="val 2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5867400" y="200977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执行</a:t>
            </a:r>
            <a:endParaRPr/>
          </a:p>
        </p:txBody>
      </p:sp>
      <p:pic>
        <p:nvPicPr>
          <p:cNvPr id="3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610350" y="2000250"/>
            <a:ext cx="247650" cy="247650"/>
          </a:xfrm>
          <a:prstGeom prst="rect">
            <a:avLst/>
          </a:prstGeom>
          <a:ln/>
        </p:spPr>
      </p:pic>
      <p:sp>
        <p:nvSpPr>
          <p:cNvPr id="341" name=""/>
          <p:cNvSpPr/>
          <p:nvPr/>
        </p:nvSpPr>
        <p:spPr>
          <a:xfrm rot="0" flipH="0" flipV="0">
            <a:off x="6953250" y="1838325"/>
            <a:ext cx="990600" cy="571500"/>
          </a:xfrm>
          <a:prstGeom prst="roundRect">
            <a:avLst>
              <a:gd name="adj" fmla="val 2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7162800" y="2009775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自校验</a:t>
            </a:r>
            <a:endParaRPr/>
          </a:p>
        </p:txBody>
      </p:sp>
      <p:pic>
        <p:nvPicPr>
          <p:cNvPr id="3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39100" y="2000250"/>
            <a:ext cx="247650" cy="247650"/>
          </a:xfrm>
          <a:prstGeom prst="rect">
            <a:avLst/>
          </a:prstGeom>
          <a:ln/>
        </p:spPr>
      </p:pic>
      <p:sp>
        <p:nvSpPr>
          <p:cNvPr id="344" name=""/>
          <p:cNvSpPr/>
          <p:nvPr/>
        </p:nvSpPr>
        <p:spPr>
          <a:xfrm rot="0" flipH="0" flipV="0">
            <a:off x="8382000" y="1838325"/>
            <a:ext cx="914400" cy="571500"/>
          </a:xfrm>
          <a:prstGeom prst="roundRect">
            <a:avLst>
              <a:gd name="adj" fmla="val 2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8648700" y="200977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交付</a:t>
            </a:r>
            <a:endParaRPr/>
          </a:p>
        </p:txBody>
      </p:sp>
      <p:graphicFrame>
        <p:nvGraphicFramePr>
          <p:cNvPr id="346" name=""/>
          <p:cNvGraphicFramePr/>
          <p:nvPr/>
        </p:nvGraphicFramePr>
        <p:xfrm rot="0" flipH="0" flipV="0">
          <a:off x="609600" y="3105150"/>
          <a:ext cx="10972800" cy="3181350"/>
        </p:xfrm>
        <a:graphic>
          <a:graphicData uri="http://schemas.openxmlformats.org/drawingml/2006/table">
            <a:tbl>
              <a:tblGrid>
                <a:gridCol w="3036530">
                  <a:extLst>
                    <a:ext uri="{9D8B030D-6E8A-4147-A177-3AD203B41FA5}">
                      <a16:colId val="1"/>
                    </a:ext>
                  </a:extLst>
                </a:gridCol>
                <a:gridCol w="5126347">
                  <a:extLst>
                    <a:ext uri="{9D8B030D-6E8A-4147-A177-3AD203B41FA5}">
                      <a16:colId val="2"/>
                    </a:ext>
                  </a:extLst>
                </a:gridCol>
                <a:gridCol w="2809923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65089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验收维度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验收标准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实际状态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3261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单 Agent 闭环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端到端跑通至少一个目标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EF4444"/>
                          </a:solidFill>
                          <a:latin typeface="Microsoft YaHei"/>
                          <a:ea typeface="Microsoft YaHei"/>
                        </a:rPr>
                        <a:t>未达成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3261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失败可终态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卡死任务能标记 FAILED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EF4444"/>
                          </a:solidFill>
                          <a:latin typeface="Microsoft YaHei"/>
                          <a:ea typeface="Microsoft YaHei"/>
                        </a:rPr>
                        <a:t>8 例卡死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3261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事件有消费者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状态变更被下游消费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EF4444"/>
                          </a:solidFill>
                          <a:latin typeface="Microsoft YaHei"/>
                          <a:ea typeface="Microsoft YaHei"/>
                        </a:rPr>
                        <a:t>事件无消费者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3261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交付前自校验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SelfReview 在交付门生效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64748B"/>
                          </a:solidFill>
                          <a:latin typeface="Microsoft YaHei"/>
                          <a:ea typeface="Microsoft YaHei"/>
                        </a:rPr>
                        <a:t>部分生效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347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失败案例复盘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08 / 20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50" name="" descr="&lt;Slide style={{ width: '1280px', height: '720px', background: '#FFFFFF', fontFamily: &quot;'PingFang SC','Microsoft YaHei','Helvetica Neue',sans-serif&quot;, overflow: 'hidden' }}&gt;&#10;  &lt;Box style={{ height: 120, padding: '28px 64px 0 64px', flexDirection: 'row', justifyContent: 'space-between', alignItems: 'flex-start' }}&gt;&#10;    &lt;Box&gt;&#10;      &lt;Text style={{ fontSize: 16, color: '#64748B', letterSpacing: 1 }}&gt;第二章 · 各阶段框架&lt;/Text&gt;&#10;      &lt;Text style={{ fontSize: 34, fontWeight: 'bold', color: '#1E293B', marginTop: 6 }}&gt;治理 / 多 Agent / 测量框架&lt;/Text&gt;&#10;    &lt;/Box&gt;&#10;    &lt;Text style={{ fontSize: 16, color: '#3B82F6', fontWeight: 'bold', paddingTop: 10 }}&gt;09&lt;/Text&gt;&#10;  &lt;/Box&gt;&#10;&#10;  &lt;Box style={{ height: 540, padding: '8px 64px 0 64px', flexDirection: 'row', gap: 36 }}&gt;&#10;    &lt;Box style={{ flex: 1, background: '#EFF6FF', borderRadius: 18, padding: '28px 26px' }}&gt;&#10;      &lt;Box style={{ flexDirection: 'row', alignItems: 'center', gap: 12, marginBottom: 16 }}&gt;&#10;        &lt;FAIcon name='users' style={{ fill: '#3B82F6', width: 30, height: 30 }} /&gt;&#10;        &lt;Text style={{ fontSize: 23, fontWeight: 'bold', color: '#1E293B' }}&gt;治理 · 多 Agent&lt;/Text&gt;&#10;      &lt;/Box&gt;&#10;      &lt;Text style={{ fontSize: 18, color: '#475569', lineHeight: 1.85 }}&gt;&#10;        MA-0 .. MA-6：多 Agent 协作计划&lt;br /&gt;规划 / 执行 / 评审 三角色拆分&lt;br /&gt;交接契约：MAST 失败码体系&#10;      &lt;/Text&gt;&#10;      &lt;Box style={{ flexDirection: 'row', alignItems: 'center', gap: 10, marginTop: 18, background: '#FEF2F2', borderRadius: 10, padding: '12px 14px' }}&gt;&#10;        &lt;FAIcon name='exclamation-circle' style={{ fill: '#EF4444', width: 22, height: 22 }} /&gt;&#10;        &lt;Text style={{ fontSize: 17, color: '#1E293B', fontWeight: 'bold' }}&gt;9 个失败码，0 处生产引用&lt;/Text&gt;&#10;      &lt;/Box&gt;&#10;    &lt;/Box&gt;&#10;&#10;    &lt;Box style={{ flex: 1, background: '#F1F5F9', borderRadius: 18, padding: '28px 26px' }}&gt;&#10;      &lt;Box style={{ flexDirection: 'row', alignItems: 'center', gap: 12, marginBottom: 16 }}&gt;&#10;        &lt;FAIcon name='chart-line' style={{ fill: '#06B6D4', width: 30, height: 30 }} /&gt;&#10;        &lt;Text style={{ fontSize: 23, fontWeight: 'bold', color: '#1E293B' }}&gt;测量 · 评估协议&lt;/Text&gt;&#10;      &lt;/Box&gt;&#10;      &lt;Text style={{ fontSize: 18, color: '#475569', lineHeight: 1.85 }}&gt;&#10;        §10 多 Agent 评估协议&lt;br /&gt;单 Agent 基线 GQ-0 .. GQ-5&lt;br /&gt;对照实验过关，才扩到多 Agent&#10;      &lt;/Text&gt;&#10;      &lt;Box style={{ flexDirection: 'row', alignItems: 'center', gap: 10, marginTop: 18, background: '#FEF2F2', borderRadius: 10, padding: '12px 14px' }}&gt;&#10;        &lt;FAIcon name='exclamation-circle' style={{ fill: '#EF4444', width: 22, height: 22 }} /&gt;&#10;        &lt;Text style={{ fontSize: 17, color: '#1E293B', fontWeight: 'bold' }}&gt;基线没稳，就先扩了规模&lt;/Text&gt;&#10;      &lt;/Box&gt;&#10;    &lt;/Box&gt;&#10;  &lt;/Box&gt;&#10;&#10;  &lt;Box style={{ height: 60, padding: '0 64px', flexDirection: 'row', justifyContent: 'space-between', alignItems: 'center', borderTop: '1px solid #E2E8F0' }}&gt;&#10;    &lt;Text style={{ fontSize: 14, color: '#64748B' }}&gt;Regent 失败案例复盘&lt;/Text&gt;&#10;    &lt;Text style={{ fontSize: 14, color: '#64748B' }}&gt;09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609600" y="266700"/>
            <a:ext cx="4048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第二章</a:t>
            </a:r>
            <a:r>
              <a:rPr lang="en-US" sz="1200" spc="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各阶段框架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09600" y="514350"/>
            <a:ext cx="40481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PingFang SC"/>
                <a:ea typeface="PingFang SC"/>
              </a:rPr>
              <a:t>治理</a:t>
            </a:r>
            <a:r>
              <a:rPr lang="en-US" sz="2550" b="1">
                <a:solidFill>
                  <a:srgbClr val="1E293B"/>
                </a:solidFill>
                <a:latin typeface="PingFang SC"/>
                <a:ea typeface="PingFang SC"/>
              </a:rPr>
              <a:t> / </a:t>
            </a:r>
            <a:r>
              <a:rPr lang="zh-CN" sz="2550" b="1">
                <a:solidFill>
                  <a:srgbClr val="1E293B"/>
                </a:solidFill>
                <a:latin typeface="PingFang SC"/>
                <a:ea typeface="PingFang SC"/>
              </a:rPr>
              <a:t>多</a:t>
            </a:r>
            <a:r>
              <a:rPr lang="en-US" sz="2550" b="1">
                <a:solidFill>
                  <a:srgbClr val="1E293B"/>
                </a:solidFill>
                <a:latin typeface="PingFang SC"/>
                <a:ea typeface="PingFang SC"/>
              </a:rPr>
              <a:t> Agent / </a:t>
            </a:r>
            <a:r>
              <a:rPr lang="zh-CN" sz="2550" b="1">
                <a:solidFill>
                  <a:srgbClr val="1E293B"/>
                </a:solidFill>
                <a:latin typeface="PingFang SC"/>
                <a:ea typeface="PingFang SC"/>
              </a:rPr>
              <a:t>测量框架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1391900" y="266700"/>
            <a:ext cx="190500" cy="2857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B82F6"/>
                </a:solidFill>
                <a:latin typeface="PingFang SC"/>
                <a:ea typeface="PingFang SC"/>
              </a:rPr>
              <a:t>09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609600" y="1219200"/>
            <a:ext cx="5314950" cy="5067300"/>
          </a:xfrm>
          <a:prstGeom prst="roundRect">
            <a:avLst>
              <a:gd name="adj" fmla="val 3383"/>
            </a:avLst>
          </a:prstGeom>
          <a:solidFill>
            <a:srgbClr val="EFF6FF"/>
          </a:solidFill>
          <a:ln/>
        </p:spPr>
        <p:txBody>
          <a:bodyPr/>
          <a:p/>
        </p:txBody>
      </p:sp>
      <p:pic>
        <p:nvPicPr>
          <p:cNvPr id="3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485900"/>
            <a:ext cx="285750" cy="285750"/>
          </a:xfrm>
          <a:prstGeom prst="rect">
            <a:avLst/>
          </a:prstGeom>
          <a:ln/>
        </p:spPr>
      </p:pic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1257300" y="1495425"/>
            <a:ext cx="16287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E293B"/>
                </a:solidFill>
                <a:latin typeface="PingFang SC"/>
                <a:ea typeface="PingFang SC"/>
              </a:rPr>
              <a:t>治理</a:t>
            </a:r>
            <a:r>
              <a:rPr lang="en-US" sz="1725" b="1">
                <a:solidFill>
                  <a:srgbClr val="1E293B"/>
                </a:solidFill>
                <a:latin typeface="PingFang SC"/>
                <a:ea typeface="PingFang SC"/>
              </a:rPr>
              <a:t> · </a:t>
            </a:r>
            <a:r>
              <a:rPr lang="zh-CN" sz="1725" b="1">
                <a:solidFill>
                  <a:srgbClr val="1E293B"/>
                </a:solidFill>
                <a:latin typeface="PingFang SC"/>
                <a:ea typeface="PingFang SC"/>
              </a:rPr>
              <a:t>多</a:t>
            </a:r>
            <a:r>
              <a:rPr lang="en-US" sz="1725" b="1">
                <a:solidFill>
                  <a:srgbClr val="1E293B"/>
                </a:solidFill>
                <a:latin typeface="PingFang SC"/>
                <a:ea typeface="PingFang SC"/>
              </a:rPr>
              <a:t> Agent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857250" y="1924050"/>
            <a:ext cx="4819650" cy="114300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350">
                <a:solidFill>
                  <a:srgbClr val="475569"/>
                </a:solidFill>
                <a:latin typeface="PingFang SC"/>
                <a:ea typeface="PingFang SC"/>
              </a:rPr>
              <a:t>MA-0 .. MA-6</a:t>
            </a:r>
            <a:r>
              <a:rPr lang="zh-CN" sz="1350">
                <a:solidFill>
                  <a:srgbClr val="475569"/>
                </a:solidFill>
                <a:latin typeface="PingFang SC"/>
                <a:ea typeface="PingFang SC"/>
              </a:rPr>
              <a:t>：多</a:t>
            </a:r>
            <a:r>
              <a:rPr lang="en-US" sz="1350">
                <a:solidFill>
                  <a:srgbClr val="475569"/>
                </a:solidFill>
                <a:latin typeface="PingFang SC"/>
                <a:ea typeface="PingFang SC"/>
              </a:rPr>
              <a:t> Agent </a:t>
            </a:r>
            <a:r>
              <a:rPr lang="zh-CN" sz="1350">
                <a:solidFill>
                  <a:srgbClr val="475569"/>
                </a:solidFill>
                <a:latin typeface="PingFang SC"/>
                <a:ea typeface="PingFang SC"/>
              </a:rPr>
              <a:t>协作计划</a:t>
            </a:r>
            <a:endParaRPr/>
          </a:p>
          <a:p>
            <a:pPr>
              <a:lnSpc>
                <a:spcPct val="185000"/>
              </a:lnSpc>
            </a:pPr>
            <a:r>
              <a:rPr lang="zh-CN" sz="1350">
                <a:solidFill>
                  <a:srgbClr val="475569"/>
                </a:solidFill>
                <a:latin typeface="PingFang SC"/>
                <a:ea typeface="PingFang SC"/>
              </a:rPr>
              <a:t>规划</a:t>
            </a:r>
            <a:r>
              <a:rPr lang="en-US" sz="1350">
                <a:solidFill>
                  <a:srgbClr val="475569"/>
                </a:solidFill>
                <a:latin typeface="PingFang SC"/>
                <a:ea typeface="PingFang SC"/>
              </a:rPr>
              <a:t> / </a:t>
            </a:r>
            <a:r>
              <a:rPr lang="zh-CN" sz="1350">
                <a:solidFill>
                  <a:srgbClr val="475569"/>
                </a:solidFill>
                <a:latin typeface="PingFang SC"/>
                <a:ea typeface="PingFang SC"/>
              </a:rPr>
              <a:t>执行</a:t>
            </a:r>
            <a:r>
              <a:rPr lang="en-US" sz="1350">
                <a:solidFill>
                  <a:srgbClr val="475569"/>
                </a:solidFill>
                <a:latin typeface="PingFang SC"/>
                <a:ea typeface="PingFang SC"/>
              </a:rPr>
              <a:t> / </a:t>
            </a:r>
            <a:r>
              <a:rPr lang="zh-CN" sz="1350">
                <a:solidFill>
                  <a:srgbClr val="475569"/>
                </a:solidFill>
                <a:latin typeface="PingFang SC"/>
                <a:ea typeface="PingFang SC"/>
              </a:rPr>
              <a:t>评审</a:t>
            </a:r>
            <a:r>
              <a:rPr lang="en-US" sz="1350">
                <a:solidFill>
                  <a:srgbClr val="475569"/>
                </a:solidFill>
                <a:latin typeface="PingFang SC"/>
                <a:ea typeface="PingFang SC"/>
              </a:rPr>
              <a:t> </a:t>
            </a:r>
            <a:r>
              <a:rPr lang="zh-CN" sz="1350">
                <a:solidFill>
                  <a:srgbClr val="475569"/>
                </a:solidFill>
                <a:latin typeface="PingFang SC"/>
                <a:ea typeface="PingFang SC"/>
              </a:rPr>
              <a:t>三角色拆分</a:t>
            </a:r>
            <a:endParaRPr/>
          </a:p>
          <a:p>
            <a:pPr>
              <a:lnSpc>
                <a:spcPct val="185000"/>
              </a:lnSpc>
            </a:pPr>
            <a:r>
              <a:rPr lang="zh-CN" sz="1350">
                <a:solidFill>
                  <a:srgbClr val="475569"/>
                </a:solidFill>
                <a:latin typeface="PingFang SC"/>
                <a:ea typeface="PingFang SC"/>
              </a:rPr>
              <a:t>交接契约：</a:t>
            </a:r>
            <a:r>
              <a:rPr lang="en-US" sz="1350">
                <a:solidFill>
                  <a:srgbClr val="475569"/>
                </a:solidFill>
                <a:latin typeface="PingFang SC"/>
                <a:ea typeface="PingFang SC"/>
              </a:rPr>
              <a:t>MAST </a:t>
            </a:r>
            <a:r>
              <a:rPr lang="zh-CN" sz="1350">
                <a:solidFill>
                  <a:srgbClr val="475569"/>
                </a:solidFill>
                <a:latin typeface="PingFang SC"/>
                <a:ea typeface="PingFang SC"/>
              </a:rPr>
              <a:t>失败码体系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857250" y="3238500"/>
            <a:ext cx="4819650" cy="438150"/>
          </a:xfrm>
          <a:prstGeom prst="roundRect">
            <a:avLst>
              <a:gd name="adj" fmla="val 21739"/>
            </a:avLst>
          </a:prstGeom>
          <a:solidFill>
            <a:srgbClr val="FEF2F2"/>
          </a:solidFill>
          <a:ln/>
        </p:spPr>
        <p:txBody>
          <a:bodyPr/>
          <a:p/>
        </p:txBody>
      </p:sp>
      <p:pic>
        <p:nvPicPr>
          <p:cNvPr id="3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90600" y="3352800"/>
            <a:ext cx="209550" cy="209550"/>
          </a:xfrm>
          <a:prstGeom prst="rect">
            <a:avLst/>
          </a:prstGeom>
          <a:ln/>
        </p:spPr>
      </p:pic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1295400" y="3362325"/>
            <a:ext cx="1924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293B"/>
                </a:solidFill>
                <a:latin typeface="PingFang SC"/>
                <a:ea typeface="PingFang SC"/>
              </a:rPr>
              <a:t>9 </a:t>
            </a:r>
            <a:r>
              <a:rPr lang="zh-CN" sz="1275" b="1">
                <a:solidFill>
                  <a:srgbClr val="1E293B"/>
                </a:solidFill>
                <a:latin typeface="PingFang SC"/>
                <a:ea typeface="PingFang SC"/>
              </a:rPr>
              <a:t>个失败码，</a:t>
            </a:r>
            <a:r>
              <a:rPr lang="en-US" sz="1275" b="1">
                <a:solidFill>
                  <a:srgbClr val="1E293B"/>
                </a:solidFill>
                <a:latin typeface="PingFang SC"/>
                <a:ea typeface="PingFang SC"/>
              </a:rPr>
              <a:t>0 </a:t>
            </a:r>
            <a:r>
              <a:rPr lang="zh-CN" sz="1275" b="1">
                <a:solidFill>
                  <a:srgbClr val="1E293B"/>
                </a:solidFill>
                <a:latin typeface="PingFang SC"/>
                <a:ea typeface="PingFang SC"/>
              </a:rPr>
              <a:t>处生产引用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6267450" y="1219200"/>
            <a:ext cx="5314950" cy="5067300"/>
          </a:xfrm>
          <a:prstGeom prst="roundRect">
            <a:avLst>
              <a:gd name="adj" fmla="val 3383"/>
            </a:avLst>
          </a:prstGeom>
          <a:solidFill>
            <a:srgbClr val="F1F5F9"/>
          </a:solidFill>
          <a:ln/>
        </p:spPr>
        <p:txBody>
          <a:bodyPr/>
          <a:p/>
        </p:txBody>
      </p:sp>
      <p:pic>
        <p:nvPicPr>
          <p:cNvPr id="3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515100" y="1485900"/>
            <a:ext cx="285750" cy="285750"/>
          </a:xfrm>
          <a:prstGeom prst="rect">
            <a:avLst/>
          </a:prstGeom>
          <a:ln/>
        </p:spPr>
      </p:pic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6915150" y="1495425"/>
            <a:ext cx="15430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E293B"/>
                </a:solidFill>
                <a:latin typeface="PingFang SC"/>
                <a:ea typeface="PingFang SC"/>
              </a:rPr>
              <a:t>测量</a:t>
            </a:r>
            <a:r>
              <a:rPr lang="en-US" sz="1725" b="1">
                <a:solidFill>
                  <a:srgbClr val="1E293B"/>
                </a:solidFill>
                <a:latin typeface="PingFang SC"/>
                <a:ea typeface="PingFang SC"/>
              </a:rPr>
              <a:t> · </a:t>
            </a:r>
            <a:r>
              <a:rPr lang="zh-CN" sz="1725" b="1">
                <a:solidFill>
                  <a:srgbClr val="1E293B"/>
                </a:solidFill>
                <a:latin typeface="PingFang SC"/>
                <a:ea typeface="PingFang SC"/>
              </a:rPr>
              <a:t>评估协议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6515100" y="1924050"/>
            <a:ext cx="4819650" cy="114300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350">
                <a:solidFill>
                  <a:srgbClr val="475569"/>
                </a:solidFill>
                <a:latin typeface="PingFang SC"/>
                <a:ea typeface="PingFang SC"/>
              </a:rPr>
              <a:t>§10 </a:t>
            </a:r>
            <a:r>
              <a:rPr lang="zh-CN" sz="1350">
                <a:solidFill>
                  <a:srgbClr val="475569"/>
                </a:solidFill>
                <a:latin typeface="PingFang SC"/>
                <a:ea typeface="PingFang SC"/>
              </a:rPr>
              <a:t>多</a:t>
            </a:r>
            <a:r>
              <a:rPr lang="en-US" sz="1350">
                <a:solidFill>
                  <a:srgbClr val="475569"/>
                </a:solidFill>
                <a:latin typeface="PingFang SC"/>
                <a:ea typeface="PingFang SC"/>
              </a:rPr>
              <a:t> Agent </a:t>
            </a:r>
            <a:r>
              <a:rPr lang="zh-CN" sz="1350">
                <a:solidFill>
                  <a:srgbClr val="475569"/>
                </a:solidFill>
                <a:latin typeface="PingFang SC"/>
                <a:ea typeface="PingFang SC"/>
              </a:rPr>
              <a:t>评估协议</a:t>
            </a:r>
            <a:endParaRPr/>
          </a:p>
          <a:p>
            <a:pPr>
              <a:lnSpc>
                <a:spcPct val="185000"/>
              </a:lnSpc>
            </a:pPr>
            <a:r>
              <a:rPr lang="zh-CN" sz="1350">
                <a:solidFill>
                  <a:srgbClr val="475569"/>
                </a:solidFill>
                <a:latin typeface="PingFang SC"/>
                <a:ea typeface="PingFang SC"/>
              </a:rPr>
              <a:t>单</a:t>
            </a:r>
            <a:r>
              <a:rPr lang="en-US" sz="1350">
                <a:solidFill>
                  <a:srgbClr val="475569"/>
                </a:solidFill>
                <a:latin typeface="PingFang SC"/>
                <a:ea typeface="PingFang SC"/>
              </a:rPr>
              <a:t> Agent </a:t>
            </a:r>
            <a:r>
              <a:rPr lang="zh-CN" sz="1350">
                <a:solidFill>
                  <a:srgbClr val="475569"/>
                </a:solidFill>
                <a:latin typeface="PingFang SC"/>
                <a:ea typeface="PingFang SC"/>
              </a:rPr>
              <a:t>基线</a:t>
            </a:r>
            <a:r>
              <a:rPr lang="en-US" sz="1350">
                <a:solidFill>
                  <a:srgbClr val="475569"/>
                </a:solidFill>
                <a:latin typeface="PingFang SC"/>
                <a:ea typeface="PingFang SC"/>
              </a:rPr>
              <a:t> GQ-0 .. GQ-5</a:t>
            </a:r>
            <a:endParaRPr/>
          </a:p>
          <a:p>
            <a:pPr>
              <a:lnSpc>
                <a:spcPct val="185000"/>
              </a:lnSpc>
            </a:pPr>
            <a:r>
              <a:rPr lang="zh-CN" sz="1350">
                <a:solidFill>
                  <a:srgbClr val="475569"/>
                </a:solidFill>
                <a:latin typeface="PingFang SC"/>
                <a:ea typeface="PingFang SC"/>
              </a:rPr>
              <a:t>对照实验过关，才扩到多</a:t>
            </a:r>
            <a:r>
              <a:rPr lang="en-US" sz="1350">
                <a:solidFill>
                  <a:srgbClr val="475569"/>
                </a:solidFill>
                <a:latin typeface="PingFang SC"/>
                <a:ea typeface="PingFang SC"/>
              </a:rPr>
              <a:t> Agent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6515100" y="3238500"/>
            <a:ext cx="4819650" cy="438150"/>
          </a:xfrm>
          <a:prstGeom prst="roundRect">
            <a:avLst>
              <a:gd name="adj" fmla="val 21739"/>
            </a:avLst>
          </a:prstGeom>
          <a:solidFill>
            <a:srgbClr val="FEF2F2"/>
          </a:solidFill>
          <a:ln/>
        </p:spPr>
        <p:txBody>
          <a:bodyPr/>
          <a:p/>
        </p:txBody>
      </p:sp>
      <p:pic>
        <p:nvPicPr>
          <p:cNvPr id="3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648450" y="3352800"/>
            <a:ext cx="209550" cy="209550"/>
          </a:xfrm>
          <a:prstGeom prst="rect">
            <a:avLst/>
          </a:prstGeom>
          <a:ln/>
        </p:spPr>
      </p:pic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6953250" y="3362325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293B"/>
                </a:solidFill>
                <a:latin typeface="PingFang SC"/>
                <a:ea typeface="PingFang SC"/>
              </a:rPr>
              <a:t>基线没稳，就先扩了规模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失败案例复盘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09 / 20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3" name="" descr="&lt;Slide style={{ width: '1280px', height: '720px', background: '#0F172A', fontFamily: &quot;'PingFang SC','Microsoft YaHei','Helvetica Neue',sans-serif&quot;, overflow: 'hidden' }}&gt;&#10;  &lt;Box style={{ position: 'absolute', top: -120, right: -120, width: 480, height: 480, borderRadius: 240, background: 'linear-gradient(135deg,#3B82F6 0%,#06B6D4 100%)', opacity: 0.16 }} /&gt;&#10;  &lt;Box style={{ position: 'absolute', bottom: 0, left: 0, width: 360, height: 360, background: 'linear-gradient(135deg,#06B6D4 0%,transparent 100%)', opacity: 0.10 }} /&gt;&#10;&#10;  &lt;Box style={{ position: 'absolute', top: 90, left: 96, right: 96, flexDirection: 'row', alignItems: 'flex-end', gap: 32 }}&gt;&#10;    &lt;Text style={{ fontSize: 200, fontWeight: 'bold', color: '#3B82F6', lineHeight: 1, opacity: 0.5 }}&gt;03&lt;/Text&gt;&#10;    &lt;Box style={{ paddingBottom: 24 }}&gt;&#10;      &lt;Text style={{ fontSize: 20, color: '#06B6D4', fontWeight: 'bold', letterSpacing: 3 }}&gt;CHAPTER THREE&lt;/Text&gt;&#10;      &lt;Text style={{ fontSize: 56, fontWeight: 'bold', color: '#FFFFFF', marginTop: 8 }}&gt;框架演变&lt;/Text&gt;&#10;    &lt;/Box&gt;&#10;  &lt;/Box&gt;&#10;&#10;  &lt;Box style={{ position: 'absolute', bottom: 150, left: 96, right: 96 }}&gt;&#10;    &lt;Text style={{ fontSize: 26, color: '#CBD5E1', lineHeight: 1.7 }}&gt;&#10;      框架一层层变厚，&lt;span style={{ color: '#FFFFFF', fontWeight: 'bold' }}&gt;复杂度往上走&lt;/span&gt;，&lt;br /&gt;可交付能力，却一路往下掉。&#10;    &lt;/Text&gt;&#10;  &lt;/Box&gt;&#10;&#10;  &lt;Box style={{ position: 'absolute', bottom: 36, left: 64, right: 64, flexDirection: 'row', justifyContent: 'space-between', alignItems: 'center' }}&gt;&#10;    &lt;Text style={{ fontSize: 14, color: '#64748B' }}&gt;Regent 失败案例复盘&lt;/Text&gt;&#10;    &lt;Text style={{ fontSize: 14, color: '#64748B' }}&gt;10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5" name=""/>
          <p:cNvSpPr/>
          <p:nvPr/>
        </p:nvSpPr>
        <p:spPr>
          <a:xfrm rot="0" flipH="0" flipV="0">
            <a:off x="8763000" y="-1143000"/>
            <a:ext cx="4572000" cy="4572000"/>
          </a:xfrm>
          <a:custGeom>
            <a:pathLst>
              <a:path w="480" h="480">
                <a:moveTo>
                  <a:pt x="360" y="448"/>
                </a:moveTo>
                <a:lnTo>
                  <a:pt x="359" y="448"/>
                </a:lnTo>
                <a:lnTo>
                  <a:pt x="354" y="451"/>
                </a:lnTo>
                <a:lnTo>
                  <a:pt x="349" y="454"/>
                </a:lnTo>
                <a:lnTo>
                  <a:pt x="344" y="456"/>
                </a:lnTo>
                <a:lnTo>
                  <a:pt x="339" y="459"/>
                </a:lnTo>
                <a:lnTo>
                  <a:pt x="333" y="461"/>
                </a:lnTo>
                <a:lnTo>
                  <a:pt x="328" y="463"/>
                </a:lnTo>
                <a:lnTo>
                  <a:pt x="322" y="465"/>
                </a:lnTo>
                <a:lnTo>
                  <a:pt x="317" y="467"/>
                </a:lnTo>
                <a:lnTo>
                  <a:pt x="311" y="469"/>
                </a:lnTo>
                <a:lnTo>
                  <a:pt x="306" y="471"/>
                </a:lnTo>
                <a:lnTo>
                  <a:pt x="300" y="472"/>
                </a:lnTo>
                <a:lnTo>
                  <a:pt x="294" y="474"/>
                </a:lnTo>
                <a:lnTo>
                  <a:pt x="288" y="475"/>
                </a:lnTo>
                <a:lnTo>
                  <a:pt x="282" y="476"/>
                </a:lnTo>
                <a:lnTo>
                  <a:pt x="277" y="477"/>
                </a:lnTo>
                <a:lnTo>
                  <a:pt x="271" y="478"/>
                </a:lnTo>
                <a:lnTo>
                  <a:pt x="265" y="479"/>
                </a:lnTo>
                <a:lnTo>
                  <a:pt x="258" y="479"/>
                </a:lnTo>
                <a:lnTo>
                  <a:pt x="252" y="480"/>
                </a:lnTo>
                <a:lnTo>
                  <a:pt x="246" y="480"/>
                </a:lnTo>
                <a:lnTo>
                  <a:pt x="240" y="480"/>
                </a:lnTo>
                <a:lnTo>
                  <a:pt x="234" y="480"/>
                </a:lnTo>
                <a:lnTo>
                  <a:pt x="228" y="480"/>
                </a:lnTo>
                <a:lnTo>
                  <a:pt x="222" y="479"/>
                </a:lnTo>
                <a:lnTo>
                  <a:pt x="215" y="479"/>
                </a:lnTo>
                <a:lnTo>
                  <a:pt x="209" y="478"/>
                </a:lnTo>
                <a:lnTo>
                  <a:pt x="203" y="477"/>
                </a:lnTo>
                <a:lnTo>
                  <a:pt x="198" y="476"/>
                </a:lnTo>
                <a:lnTo>
                  <a:pt x="192" y="475"/>
                </a:lnTo>
                <a:lnTo>
                  <a:pt x="186" y="474"/>
                </a:lnTo>
                <a:lnTo>
                  <a:pt x="180" y="472"/>
                </a:lnTo>
                <a:lnTo>
                  <a:pt x="174" y="471"/>
                </a:lnTo>
                <a:lnTo>
                  <a:pt x="169" y="469"/>
                </a:lnTo>
                <a:lnTo>
                  <a:pt x="163" y="467"/>
                </a:lnTo>
                <a:lnTo>
                  <a:pt x="158" y="465"/>
                </a:lnTo>
                <a:lnTo>
                  <a:pt x="152" y="463"/>
                </a:lnTo>
                <a:lnTo>
                  <a:pt x="147" y="461"/>
                </a:lnTo>
                <a:lnTo>
                  <a:pt x="141" y="459"/>
                </a:lnTo>
                <a:lnTo>
                  <a:pt x="136" y="456"/>
                </a:lnTo>
                <a:lnTo>
                  <a:pt x="131" y="454"/>
                </a:lnTo>
                <a:lnTo>
                  <a:pt x="126" y="451"/>
                </a:lnTo>
                <a:lnTo>
                  <a:pt x="121" y="448"/>
                </a:lnTo>
                <a:lnTo>
                  <a:pt x="116" y="445"/>
                </a:lnTo>
                <a:lnTo>
                  <a:pt x="111" y="442"/>
                </a:lnTo>
                <a:lnTo>
                  <a:pt x="106" y="439"/>
                </a:lnTo>
                <a:lnTo>
                  <a:pt x="101" y="436"/>
                </a:lnTo>
                <a:lnTo>
                  <a:pt x="96" y="432"/>
                </a:lnTo>
                <a:lnTo>
                  <a:pt x="92" y="429"/>
                </a:lnTo>
                <a:lnTo>
                  <a:pt x="87" y="425"/>
                </a:lnTo>
                <a:lnTo>
                  <a:pt x="83" y="421"/>
                </a:lnTo>
                <a:lnTo>
                  <a:pt x="79" y="418"/>
                </a:lnTo>
                <a:lnTo>
                  <a:pt x="74" y="414"/>
                </a:lnTo>
                <a:lnTo>
                  <a:pt x="70" y="410"/>
                </a:lnTo>
                <a:lnTo>
                  <a:pt x="66" y="406"/>
                </a:lnTo>
                <a:lnTo>
                  <a:pt x="62" y="401"/>
                </a:lnTo>
                <a:lnTo>
                  <a:pt x="59" y="397"/>
                </a:lnTo>
                <a:lnTo>
                  <a:pt x="55" y="393"/>
                </a:lnTo>
                <a:lnTo>
                  <a:pt x="51" y="388"/>
                </a:lnTo>
                <a:lnTo>
                  <a:pt x="48" y="384"/>
                </a:lnTo>
                <a:lnTo>
                  <a:pt x="44" y="379"/>
                </a:lnTo>
                <a:lnTo>
                  <a:pt x="41" y="374"/>
                </a:lnTo>
                <a:lnTo>
                  <a:pt x="38" y="369"/>
                </a:lnTo>
                <a:lnTo>
                  <a:pt x="35" y="364"/>
                </a:lnTo>
                <a:lnTo>
                  <a:pt x="32" y="359"/>
                </a:lnTo>
                <a:lnTo>
                  <a:pt x="29" y="354"/>
                </a:lnTo>
                <a:lnTo>
                  <a:pt x="26" y="349"/>
                </a:lnTo>
                <a:lnTo>
                  <a:pt x="24" y="344"/>
                </a:lnTo>
                <a:lnTo>
                  <a:pt x="21" y="339"/>
                </a:lnTo>
                <a:lnTo>
                  <a:pt x="19" y="333"/>
                </a:lnTo>
                <a:lnTo>
                  <a:pt x="17" y="328"/>
                </a:lnTo>
                <a:lnTo>
                  <a:pt x="15" y="322"/>
                </a:lnTo>
                <a:lnTo>
                  <a:pt x="13" y="317"/>
                </a:lnTo>
                <a:lnTo>
                  <a:pt x="11" y="311"/>
                </a:lnTo>
                <a:lnTo>
                  <a:pt x="9" y="306"/>
                </a:lnTo>
                <a:lnTo>
                  <a:pt x="8" y="300"/>
                </a:lnTo>
                <a:lnTo>
                  <a:pt x="6" y="294"/>
                </a:lnTo>
                <a:lnTo>
                  <a:pt x="5" y="288"/>
                </a:lnTo>
                <a:lnTo>
                  <a:pt x="4" y="282"/>
                </a:lnTo>
                <a:lnTo>
                  <a:pt x="3" y="277"/>
                </a:lnTo>
                <a:lnTo>
                  <a:pt x="2" y="271"/>
                </a:lnTo>
                <a:lnTo>
                  <a:pt x="1" y="265"/>
                </a:lnTo>
                <a:lnTo>
                  <a:pt x="1" y="258"/>
                </a:lnTo>
                <a:lnTo>
                  <a:pt x="0" y="252"/>
                </a:lnTo>
                <a:lnTo>
                  <a:pt x="0" y="246"/>
                </a:lnTo>
                <a:lnTo>
                  <a:pt x="0" y="240"/>
                </a:lnTo>
                <a:lnTo>
                  <a:pt x="0" y="234"/>
                </a:lnTo>
                <a:lnTo>
                  <a:pt x="0" y="228"/>
                </a:lnTo>
                <a:lnTo>
                  <a:pt x="1" y="222"/>
                </a:lnTo>
                <a:lnTo>
                  <a:pt x="1" y="215"/>
                </a:lnTo>
                <a:lnTo>
                  <a:pt x="2" y="209"/>
                </a:lnTo>
                <a:lnTo>
                  <a:pt x="3" y="203"/>
                </a:lnTo>
                <a:lnTo>
                  <a:pt x="4" y="198"/>
                </a:lnTo>
                <a:lnTo>
                  <a:pt x="5" y="192"/>
                </a:lnTo>
                <a:lnTo>
                  <a:pt x="6" y="186"/>
                </a:lnTo>
                <a:lnTo>
                  <a:pt x="8" y="180"/>
                </a:lnTo>
                <a:lnTo>
                  <a:pt x="9" y="174"/>
                </a:lnTo>
                <a:lnTo>
                  <a:pt x="11" y="169"/>
                </a:lnTo>
                <a:lnTo>
                  <a:pt x="13" y="163"/>
                </a:lnTo>
                <a:lnTo>
                  <a:pt x="15" y="158"/>
                </a:lnTo>
                <a:lnTo>
                  <a:pt x="17" y="152"/>
                </a:lnTo>
                <a:lnTo>
                  <a:pt x="19" y="147"/>
                </a:lnTo>
                <a:lnTo>
                  <a:pt x="21" y="141"/>
                </a:lnTo>
                <a:lnTo>
                  <a:pt x="24" y="136"/>
                </a:lnTo>
                <a:lnTo>
                  <a:pt x="26" y="131"/>
                </a:lnTo>
                <a:lnTo>
                  <a:pt x="29" y="126"/>
                </a:lnTo>
                <a:lnTo>
                  <a:pt x="32" y="121"/>
                </a:lnTo>
                <a:lnTo>
                  <a:pt x="32" y="120"/>
                </a:lnTo>
                <a:lnTo>
                  <a:pt x="360" y="120"/>
                </a:lnTo>
                <a:close/>
              </a:path>
            </a:pathLst>
          </a:custGeom>
          <a:gradFill>
            <a:gsLst>
              <a:gs pos="0">
                <a:srgbClr val="3B82F6">
                  <a:alpha val="16000"/>
                </a:srgbClr>
              </a:gs>
              <a:gs pos="100000">
                <a:srgbClr val="06B6D4">
                  <a:alpha val="16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" name=""/>
          <p:cNvSpPr/>
          <p:nvPr/>
        </p:nvSpPr>
        <p:spPr>
          <a:xfrm rot="0" flipH="0" flipV="0">
            <a:off x="0" y="3429000"/>
            <a:ext cx="3429000" cy="3429000"/>
          </a:xfrm>
          <a:prstGeom prst="rect">
            <a:avLst/>
          </a:prstGeom>
          <a:gradFill>
            <a:gsLst>
              <a:gs pos="0">
                <a:srgbClr val="06B6D4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3571875" y="1962150"/>
            <a:ext cx="2133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225">
                <a:solidFill>
                  <a:srgbClr val="06B6D4"/>
                </a:solidFill>
                <a:latin typeface="PingFang SC"/>
                <a:ea typeface="PingFang SC"/>
              </a:rPr>
              <a:t>CHAPTER THREE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3571875" y="2266950"/>
            <a:ext cx="21336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latin typeface="PingFang SC"/>
                <a:ea typeface="PingFang SC"/>
              </a:rPr>
              <a:t>框架演变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914400" y="85725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3B82F6">
                    <a:alpha val="50000"/>
                  </a:srgbClr>
                </a:solidFill>
                <a:latin typeface="PingFang SC"/>
                <a:ea typeface="PingFang SC"/>
              </a:rPr>
              <a:t>03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914400" y="4410075"/>
            <a:ext cx="10363200" cy="1019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950">
                <a:solidFill>
                  <a:srgbClr val="CBD5E1"/>
                </a:solidFill>
                <a:latin typeface="PingFang SC"/>
                <a:ea typeface="PingFang SC"/>
              </a:rPr>
              <a:t>框架一层层变厚，</a:t>
            </a:r>
            <a:r>
              <a:rPr lang="zh-CN" sz="1950" b="1">
                <a:solidFill>
                  <a:srgbClr val="FFFFFF"/>
                </a:solidFill>
                <a:latin typeface="PingFang SC"/>
                <a:ea typeface="PingFang SC"/>
              </a:rPr>
              <a:t>复杂度往上走</a:t>
            </a:r>
            <a:r>
              <a:rPr lang="zh-CN" sz="1950">
                <a:solidFill>
                  <a:srgbClr val="CBD5E1"/>
                </a:solidFill>
                <a:latin typeface="PingFang SC"/>
                <a:ea typeface="PingFang SC"/>
              </a:rPr>
              <a:t>，</a:t>
            </a:r>
            <a:endParaRPr/>
          </a:p>
          <a:p>
            <a:pPr>
              <a:lnSpc>
                <a:spcPct val="170000"/>
              </a:lnSpc>
            </a:pPr>
            <a:r>
              <a:rPr lang="zh-CN" sz="1950">
                <a:solidFill>
                  <a:srgbClr val="CBD5E1"/>
                </a:solidFill>
                <a:latin typeface="PingFang SC"/>
                <a:ea typeface="PingFang SC"/>
              </a:rPr>
              <a:t>可交付能力，却一路往下掉。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09600" y="6353175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失败案例复盘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1125200" y="6353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10 / 20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3" name="" descr="&lt;Slide style={{ width: '1280px', height: '720px', background: '#FFFFFF', fontFamily: &quot;'PingFang SC','Microsoft YaHei','Helvetica Neue',sans-serif&quot;, overflow: 'hidden' }}&gt;&#10;  &lt;Box style={{ height: 120, padding: '28px 64px 0 64px', flexDirection: 'row', justifyContent: 'space-between', alignItems: 'flex-start' }}&gt;&#10;    &lt;Box&gt;&#10;      &lt;Text style={{ fontSize: 16, color: '#64748B', letterSpacing: 1 }}&gt;第三章 · 框架演变&lt;/Text&gt;&#10;      &lt;Text style={{ fontSize: 34, fontWeight: 'bold', color: '#1E293B', marginTop: 6 }}&gt;框架演变时间线&lt;/Text&gt;&#10;    &lt;/Box&gt;&#10;    &lt;Text style={{ fontSize: 16, color: '#3B82F6', fontWeight: 'bold', paddingTop: 10 }}&gt;11&lt;/Text&gt;&#10;  &lt;/Box&gt;&#10;&#10;  &lt;Box style={{ height: 540, padding: '0 64px', alignItems: 'center', justifyContent: 'center' }}&gt;&#10;    &lt;svg width={1152} height={460} viewBox='0 0 1152 460'&gt;&#10;      &lt;line x1={100} y1={210} x2={1060} y2={210} stroke='#CBD5E1' strokeWidth={4} /&gt;&#10;      &lt;line x1={100} y1={210} x2={1060} y2={210} stroke='url(#g)' strokeWidth={4} opacity={0} /&gt;&#10;&#10;      &lt;circle cx={100} cy={210} r={16} fill='#3B82F6' /&gt;&#10;      &lt;circle cx={340} cy={210} r={16} fill='#06B6D4' /&gt;&#10;      &lt;circle cx={580} cy={210} r={16} fill='#3B82F6' /&gt;&#10;      &lt;circle cx={820} cy={210} r={16} fill='#06B6D4' /&gt;&#10;      &lt;circle cx={1060} cy={210} r={18} fill='#EF4444' /&gt;&#10;&#10;      &lt;text x={100} y={150} textAnchor='middle' fontFamily=&quot;'PingFang SC','Microsoft YaHei',sans-serif&quot; fontSize={20} fontWeight='bold' fill='#1E293B'&gt;P0 内核&lt;/text&gt;&#10;      &lt;text x={340} y={150} textAnchor='middle' fontFamily=&quot;'PingFang SC','Microsoft YaHei',sans-serif&quot; fontSize={20} fontWeight='bold' fill='#1E293B'&gt;P1 闭环&lt;/text&gt;&#10;      &lt;text x={580} y={150} textAnchor='middle' fontFamily=&quot;'PingFang SC','Microsoft YaHei',sans-serif&quot; fontSize={20} fontWeight='bold' fill='#1E293B'&gt;P2 治理&lt;/text&gt;&#10;      &lt;text x={820} y={150} textAnchor='middle' fontFamily=&quot;'PingFang SC','Microsoft YaHei',sans-serif&quot; fontSize={20} fontWeight='bold' fill='#1E293B'&gt;P3 测量&lt;/text&gt;&#10;      &lt;text x={1060} y={150} textAnchor='middle' fontFamily=&quot;'PingFang SC','Microsoft YaHei',sans-serif&quot; fontSize={20} fontWeight='bold' fill='#EF4444'&gt;P4 末期&lt;/text&gt;&#10;&#10;      &lt;text x={100} y={268} textAnchor='middle' fontFamily=&quot;'PingFang SC','Microsoft YaHei',sans-serif&quot; fontSize={16} fill='#64748B'&gt;主循环定义&lt;/text&gt;&#10;      &lt;text x={100} y={290} textAnchor='middle' fontFamily=&quot;'PingFang SC','Microsoft YaHei',sans-serif&quot; fontSize={16} fill='#64748B'&gt;但从未闭合&lt;/text&gt;&#10;&#10;      &lt;text x={340} y={268} textAnchor='middle' fontFamily=&quot;'PingFang SC','Microsoft YaHei',sans-serif&quot; fontSize={16} fill='#64748B'&gt;运营 + 验收&lt;/text&gt;&#10;      &lt;text x={340} y={290} textAnchor='middle' fontFamily=&quot;'PingFang SC','Microsoft YaHei',sans-serif&quot; fontSize={16} fill='#64748B'&gt;流程仍空转&lt;/text&gt;&#10;&#10;      &lt;text x={580} y={268} textAnchor='middle' fontFamily=&quot;'PingFang SC','Microsoft YaHei',sans-serif&quot; fontSize={16} fill='#64748B'&gt;拆角色、定契约&lt;/text&gt;&#10;      &lt;text x={580} y={290} textAnchor='middle' fontFamily=&quot;'PingFang SC','Microsoft YaHei',sans-serif&quot; fontSize={16} fill='#64748B'&gt;9 码 0 引用&lt;/text&gt;&#10;&#10;      &lt;text x={820} y={268} textAnchor='middle' fontFamily=&quot;'PingFang SC','Microsoft YaHei',sans-serif&quot; fontSize={16} fill='#64748B'&gt;评估协议&lt;/text&gt;&#10;      &lt;text x={820} y={290} textAnchor='middle' fontFamily=&quot;'PingFang SC','Microsoft YaHei',sans-serif&quot; fontSize={16} fill='#64748B'&gt;基线未稳就扩&lt;/text&gt;&#10;&#10;      &lt;text x={1060} y={268} textAnchor='middle' fontFamily=&quot;'PingFang SC','Microsoft YaHei',sans-serif&quot; fontSize={16} fill='#EF4444'&gt;编排 4400 行&lt;/text&gt;&#10;      &lt;text x={1060} y={290} textAnchor='middle' fontFamily=&quot;'PingFang SC','Microsoft YaHei',sans-serif&quot; fontSize={16} fill='#EF4444'&gt;卡死 8 例&lt;/text&gt;&#10;&#10;      &lt;text x={580} y={370} textAnchor='middle' fontFamily=&quot;'PingFang SC','Microsoft YaHei',sans-serif&quot; fontSize={22} fontWeight='bold' fill='#1E293B'&gt;复杂度一路向上，可交付能力一路向下&lt;/text&gt;&#10;      &lt;text x={580} y={402} textAnchor='middle' fontFamily=&quot;'PingFang SC','Microsoft YaHei',sans-serif&quot; fontSize={16} fill='#64748B'&gt;每一层「框架」都在加，但主循环始终没被补上&lt;/text&gt;&#10;    &lt;/svg&gt;&#10;  &lt;/Box&gt;&#10;&#10;  &lt;Box style={{ height: 60, padding: '0 64px', flexDirection: 'row', justifyContent: 'space-between', alignItems: 'center', borderTop: '1px solid #E2E8F0' }}&gt;&#10;    &lt;Text style={{ fontSize: 14, color: '#64748B' }}&gt;Regent 失败案例复盘&lt;/Text&gt;&#10;    &lt;Text style={{ fontSize: 14, color: '#64748B' }}&gt;11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09600" y="266700"/>
            <a:ext cx="2266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第三章</a:t>
            </a:r>
            <a:r>
              <a:rPr lang="en-US" sz="1200" spc="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框架演变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09600" y="51435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PingFang SC"/>
                <a:ea typeface="PingFang SC"/>
              </a:rPr>
              <a:t>框架演变时间线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1391900" y="266700"/>
            <a:ext cx="190500" cy="2857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B82F6"/>
                </a:solidFill>
                <a:latin typeface="PingFang SC"/>
                <a:ea typeface="PingFang SC"/>
              </a:rPr>
              <a:t>11</a:t>
            </a:r>
            <a:endParaRPr/>
          </a:p>
        </p:txBody>
      </p:sp>
      <p:pic>
        <p:nvPicPr>
          <p:cNvPr id="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524000"/>
            <a:ext cx="10972800" cy="4381500"/>
          </a:xfrm>
          <a:prstGeom prst="rect">
            <a:avLst/>
          </a:prstGeom>
          <a:ln/>
        </p:spPr>
      </p:pic>
      <p:sp>
        <p:nvSpPr>
          <p:cNvPr id="29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失败案例复盘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11 / 20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c="http://schemas.openxmlformats.org/drawingml/2006/chart" xmlns:mc="http://schemas.openxmlformats.org/markup-compatibility/2006" mc:Ignorable="asvg">
  <p:cSld>
    <p:spTree>
      <p:nvGrpSpPr>
        <p:cNvPr id="32" name="" descr="&lt;Slide style={{ width: '1280px', height: '720px', background: '#FFFFFF', fontFamily: &quot;'PingFang SC','Microsoft YaHei','Helvetica Neue',sans-serif&quot;, overflow: 'hidden' }}&gt;&#10;  &lt;Box style={{ height: 120, padding: '28px 64px 0 64px', flexDirection: 'row', justifyContent: 'space-between', alignItems: 'flex-start' }}&gt;&#10;    &lt;Box&gt;&#10;      &lt;Text style={{ fontSize: 16, color: '#64748B', letterSpacing: 1 }}&gt;第三章 · 框架演变&lt;/Text&gt;&#10;      &lt;Text style={{ fontSize: 34, fontWeight: 'bold', color: '#1E293B', marginTop: 6 }}&gt;演变洞察：复杂度涨，交付力跌&lt;/Text&gt;&#10;    &lt;/Box&gt;&#10;    &lt;Text style={{ fontSize: 16, color: '#3B82F6', fontWeight: 'bold', paddingTop: 10 }}&gt;12&lt;/Text&gt;&#10;  &lt;/Box&gt;&#10;&#10;  &lt;Box style={{ height: 540, padding: '10px 64px 0 64px', flexDirection: 'row', gap: 40 }}&gt;&#10;    &lt;Box style={{ width: 360, justifyContent: 'center', gap: 18 }}&gt;&#10;      &lt;Text style={{ fontSize: 20, color: '#64748B', lineHeight: 1.6 }}&gt;最刺眼的一个数字：&lt;/Text&gt;&#10;      &lt;Text style={{ fontSize: 96, fontWeight: 'bold', color: '#EF4444', lineHeight: 1 }}&gt;32&lt;Text style={{ fontSize: 34, color: '#64748B' }}&gt; 天&lt;/Text&gt;&lt;/Text&gt;&#10;      &lt;Text style={{ fontSize: 19, color: '#1E293B', lineHeight: 1.7 }}&gt;&#10;        连续 &lt;span style={{ color: '#EF4444', fontWeight: 'bold' }}&gt;32 天&lt;/span&gt; 没有一项用户可见的进展，&lt;br /&gt;而框架文档却在持续变厚。&#10;      &lt;/Text&gt;&#10;      &lt;Box style={{ flexDirection: 'row', alignItems: 'center', gap: 10, marginTop: 6 }}&gt;&#10;        &lt;FAIcon name='arrow-down' style={{ fill: '#EF4444', width: 26, height: 26 }} /&gt;&#10;        &lt;Text style={{ fontSize: 19, color: '#EF4444', fontWeight: 'bold' }}&gt;交付力，反而更弱了&lt;/Text&gt;&#10;      &lt;/Box&gt;&#10;    &lt;/Box&gt;&#10;&#10;    &lt;Box style={{ flex: 1, background: '#F1F5F9', borderRadius: 18, padding: '20px 24px', justifyContent: 'center' }}&gt;&#10;      &lt;Chart&#10;        style={{ width: '100%', height: 420 }}&#10;        chartType='barChart'&#10;        barDirection='column'&#10;        grouping='clustered'&#10;        title='各阶段：架构复杂度 vs 可交付能力'&#10;        titleColor='#1E293B'&#10;        showLegend={true}&#10;        showDataLabels={true}&#10;        legendColor='#64748B'&#10;        axisColor='#94A3B8'&#10;        dataLabelColor='#1E293B'&#10;        colors={['#3B82F6', '#EF4444']}&#10;        background='#F1F5F9'&#10;        data={[&#10;          ['阶段', '架构复杂度', '可交付能力'],&#10;          ['P0 内核', 20, 80],&#10;          ['P1 闭环', 45, 70],&#10;          ['P2 治理', 70, 55],&#10;          ['P3 测量', 85, 45],&#10;          ['P4 末期', 96, 28],&#10;        ]}&#10;      /&gt;&#10;    &lt;/Box&gt;&#10;  &lt;/Box&gt;&#10;&#10;  &lt;Box style={{ height: 60, padding: '0 64px', flexDirection: 'row', justifyContent: 'space-between', alignItems: 'center', borderTop: '1px solid #E2E8F0' }}&gt;&#10;    &lt;Text style={{ fontSize: 14, color: '#64748B' }}&gt;Regent 失败案例复盘&lt;/Text&gt;&#10;    &lt;Text style={{ fontSize: 14, color: '#64748B' }}&gt;12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09600" y="266700"/>
            <a:ext cx="453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第三章</a:t>
            </a:r>
            <a:r>
              <a:rPr lang="en-US" sz="1200" spc="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框架演变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09600" y="51435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PingFang SC"/>
                <a:ea typeface="PingFang SC"/>
              </a:rPr>
              <a:t>演变洞察：复杂度涨，交付力跌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1391900" y="266700"/>
            <a:ext cx="190500" cy="2857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B82F6"/>
                </a:solidFill>
                <a:latin typeface="PingFang SC"/>
                <a:ea typeface="PingFang SC"/>
              </a:rPr>
              <a:t>12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09600" y="2247900"/>
            <a:ext cx="34290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64748B"/>
                </a:solidFill>
                <a:latin typeface="PingFang SC"/>
                <a:ea typeface="PingFang SC"/>
              </a:rPr>
              <a:t>最刺眼的一个数字：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09600" y="2790825"/>
            <a:ext cx="34290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EF4444"/>
                </a:solidFill>
                <a:latin typeface="PingFang SC"/>
                <a:ea typeface="PingFang SC"/>
              </a:rPr>
              <a:t>32</a:t>
            </a:r>
            <a:r>
              <a:rPr lang="en-US" sz="7200" b="1">
                <a:solidFill>
                  <a:srgbClr val="EF4444"/>
                </a:solidFill>
                <a:latin typeface="PingFang SC"/>
                <a:ea typeface="PingFang SC"/>
              </a:rPr>
              <a:t> </a:t>
            </a:r>
            <a:r>
              <a:rPr lang="zh-CN" sz="7200" b="1">
                <a:solidFill>
                  <a:srgbClr val="EF4444"/>
                </a:solidFill>
                <a:latin typeface="PingFang SC"/>
                <a:ea typeface="PingFang SC"/>
              </a:rPr>
              <a:t>天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09600" y="4067175"/>
            <a:ext cx="3429000" cy="7429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1E293B"/>
                </a:solidFill>
                <a:latin typeface="PingFang SC"/>
                <a:ea typeface="PingFang SC"/>
              </a:rPr>
              <a:t>连续</a:t>
            </a:r>
            <a:r>
              <a:rPr lang="en-US" sz="1425">
                <a:solidFill>
                  <a:srgbClr val="1E293B"/>
                </a:solidFill>
                <a:latin typeface="PingFang SC"/>
                <a:ea typeface="PingFang SC"/>
              </a:rPr>
              <a:t> </a:t>
            </a:r>
            <a:r>
              <a:rPr lang="en-US" sz="1425" b="1">
                <a:solidFill>
                  <a:srgbClr val="EF4444"/>
                </a:solidFill>
                <a:latin typeface="PingFang SC"/>
                <a:ea typeface="PingFang SC"/>
              </a:rPr>
              <a:t>32 </a:t>
            </a:r>
            <a:r>
              <a:rPr lang="zh-CN" sz="1425" b="1">
                <a:solidFill>
                  <a:srgbClr val="EF4444"/>
                </a:solidFill>
                <a:latin typeface="PingFang SC"/>
                <a:ea typeface="PingFang SC"/>
              </a:rPr>
              <a:t>天</a:t>
            </a:r>
            <a:r>
              <a:rPr lang="en-US" sz="1425">
                <a:solidFill>
                  <a:srgbClr val="1E293B"/>
                </a:solidFill>
                <a:latin typeface="PingFang SC"/>
                <a:ea typeface="PingFang SC"/>
              </a:rPr>
              <a:t> </a:t>
            </a:r>
            <a:r>
              <a:rPr lang="zh-CN" sz="1425">
                <a:solidFill>
                  <a:srgbClr val="1E293B"/>
                </a:solidFill>
                <a:latin typeface="PingFang SC"/>
                <a:ea typeface="PingFang SC"/>
              </a:rPr>
              <a:t>没有一项用户可见的进展，</a:t>
            </a:r>
            <a:endParaRPr/>
          </a:p>
          <a:p>
            <a:pPr>
              <a:lnSpc>
                <a:spcPct val="170000"/>
              </a:lnSpc>
            </a:pPr>
            <a:r>
              <a:rPr lang="zh-CN" sz="1425">
                <a:solidFill>
                  <a:srgbClr val="1E293B"/>
                </a:solidFill>
                <a:latin typeface="PingFang SC"/>
                <a:ea typeface="PingFang SC"/>
              </a:rPr>
              <a:t>而框架文档却在持续变厚。</a:t>
            </a:r>
            <a:endParaRPr/>
          </a:p>
        </p:txBody>
      </p:sp>
      <p:pic>
        <p:nvPicPr>
          <p:cNvPr id="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5038725"/>
            <a:ext cx="247650" cy="247650"/>
          </a:xfrm>
          <a:prstGeom prst="rect">
            <a:avLst/>
          </a:prstGeom>
          <a:ln/>
        </p:spPr>
      </p:pic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952500" y="5057775"/>
            <a:ext cx="1628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F4444"/>
                </a:solidFill>
                <a:latin typeface="PingFang SC"/>
                <a:ea typeface="PingFang SC"/>
              </a:rPr>
              <a:t>交付力，反而更弱了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4419600" y="1238250"/>
            <a:ext cx="7162800" cy="5048250"/>
          </a:xfrm>
          <a:prstGeom prst="roundRect">
            <a:avLst>
              <a:gd name="adj" fmla="val 3396"/>
            </a:avLst>
          </a:prstGeom>
          <a:solidFill>
            <a:srgbClr val="F1F5F9"/>
          </a:solidFill>
          <a:ln/>
        </p:spPr>
        <p:txBody>
          <a:bodyPr/>
          <a:p/>
        </p:txBody>
      </p:sp>
      <p:graphicFrame>
        <p:nvGraphicFramePr>
          <p:cNvPr id="43" name="43"/>
          <p:cNvGraphicFramePr/>
          <p:nvPr/>
        </p:nvGraphicFramePr>
        <p:xfrm rot="0" flipH="0" flipV="0">
          <a:off x="4648200" y="1762125"/>
          <a:ext cx="6705600" cy="400050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44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失败案例复盘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12 / 20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47" name="" descr="&lt;Slide style={{ width: '1280px', height: '720px', background: '#0F172A', fontFamily: &quot;'PingFang SC','Microsoft YaHei','Helvetica Neue',sans-serif&quot;, overflow: 'hidden' }}&gt;&#10;  &lt;Box style={{ position: 'absolute', top: -120, right: -120, width: 480, height: 480, borderRadius: 240, background: 'linear-gradient(135deg,#3B82F6 0%,#06B6D4 100%)', opacity: 0.16 }} /&gt;&#10;  &lt;Box style={{ position: 'absolute', bottom: 0, left: 0, width: 360, height: 360, background: 'linear-gradient(135deg,#EF4444 0%,transparent 100%)', opacity: 0.12 }} /&gt;&#10;&#10;  &lt;Box style={{ position: 'absolute', top: 90, left: 96, right: 96, flexDirection: 'row', alignItems: 'flex-end', gap: 32 }}&gt;&#10;    &lt;Text style={{ fontSize: 200, fontWeight: 'bold', color: '#EF4444', lineHeight: 1, opacity: 0.6 }}&gt;04&lt;/Text&gt;&#10;    &lt;Box style={{ paddingBottom: 24 }}&gt;&#10;      &lt;Text style={{ fontSize: 20, color: '#F87171', fontWeight: 'bold', letterSpacing: 3 }}&gt;CHAPTER FOUR&lt;/Text&gt;&#10;      &lt;Text style={{ fontSize: 56, fontWeight: 'bold', color: '#FFFFFF', marginTop: 8 }}&gt;失败原因&lt;/Text&gt;&#10;    &lt;/Box&gt;&#10;  &lt;/Box&gt;&#10;&#10;  &lt;Box style={{ position: 'absolute', bottom: 150, left: 96, right: 96 }}&gt;&#10;    &lt;Text style={{ fontSize: 26, color: '#CBD5E1', lineHeight: 1.7 }}&gt;&#10;      不是定义错了，也不是需求错了 ——&lt;br /&gt;是&lt;span style={{ color: '#FFFFFF', fontWeight: 'bold' }}&gt;我们在周边忙了太久&lt;/span&gt;，忘了往核心走。&#10;    &lt;/Text&gt;&#10;  &lt;/Box&gt;&#10;&#10;  &lt;Box style={{ position: 'absolute', bottom: 36, left: 64, right: 64, flexDirection: 'row', justifyContent: 'space-between', alignItems: 'center' }}&gt;&#10;    &lt;Text style={{ fontSize: 14, color: '#64748B' }}&gt;Regent 失败案例复盘&lt;/Text&gt;&#10;    &lt;Text style={{ fontSize: 14, color: '#64748B' }}&gt;13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8763000" y="-1143000"/>
            <a:ext cx="4572000" cy="4572000"/>
          </a:xfrm>
          <a:custGeom>
            <a:pathLst>
              <a:path w="480" h="480">
                <a:moveTo>
                  <a:pt x="360" y="448"/>
                </a:moveTo>
                <a:lnTo>
                  <a:pt x="359" y="448"/>
                </a:lnTo>
                <a:lnTo>
                  <a:pt x="354" y="451"/>
                </a:lnTo>
                <a:lnTo>
                  <a:pt x="349" y="454"/>
                </a:lnTo>
                <a:lnTo>
                  <a:pt x="344" y="456"/>
                </a:lnTo>
                <a:lnTo>
                  <a:pt x="339" y="459"/>
                </a:lnTo>
                <a:lnTo>
                  <a:pt x="333" y="461"/>
                </a:lnTo>
                <a:lnTo>
                  <a:pt x="328" y="463"/>
                </a:lnTo>
                <a:lnTo>
                  <a:pt x="322" y="465"/>
                </a:lnTo>
                <a:lnTo>
                  <a:pt x="317" y="467"/>
                </a:lnTo>
                <a:lnTo>
                  <a:pt x="311" y="469"/>
                </a:lnTo>
                <a:lnTo>
                  <a:pt x="306" y="471"/>
                </a:lnTo>
                <a:lnTo>
                  <a:pt x="300" y="472"/>
                </a:lnTo>
                <a:lnTo>
                  <a:pt x="294" y="474"/>
                </a:lnTo>
                <a:lnTo>
                  <a:pt x="288" y="475"/>
                </a:lnTo>
                <a:lnTo>
                  <a:pt x="282" y="476"/>
                </a:lnTo>
                <a:lnTo>
                  <a:pt x="277" y="477"/>
                </a:lnTo>
                <a:lnTo>
                  <a:pt x="271" y="478"/>
                </a:lnTo>
                <a:lnTo>
                  <a:pt x="265" y="479"/>
                </a:lnTo>
                <a:lnTo>
                  <a:pt x="258" y="479"/>
                </a:lnTo>
                <a:lnTo>
                  <a:pt x="252" y="480"/>
                </a:lnTo>
                <a:lnTo>
                  <a:pt x="246" y="480"/>
                </a:lnTo>
                <a:lnTo>
                  <a:pt x="240" y="480"/>
                </a:lnTo>
                <a:lnTo>
                  <a:pt x="234" y="480"/>
                </a:lnTo>
                <a:lnTo>
                  <a:pt x="228" y="480"/>
                </a:lnTo>
                <a:lnTo>
                  <a:pt x="222" y="479"/>
                </a:lnTo>
                <a:lnTo>
                  <a:pt x="215" y="479"/>
                </a:lnTo>
                <a:lnTo>
                  <a:pt x="209" y="478"/>
                </a:lnTo>
                <a:lnTo>
                  <a:pt x="203" y="477"/>
                </a:lnTo>
                <a:lnTo>
                  <a:pt x="198" y="476"/>
                </a:lnTo>
                <a:lnTo>
                  <a:pt x="192" y="475"/>
                </a:lnTo>
                <a:lnTo>
                  <a:pt x="186" y="474"/>
                </a:lnTo>
                <a:lnTo>
                  <a:pt x="180" y="472"/>
                </a:lnTo>
                <a:lnTo>
                  <a:pt x="174" y="471"/>
                </a:lnTo>
                <a:lnTo>
                  <a:pt x="169" y="469"/>
                </a:lnTo>
                <a:lnTo>
                  <a:pt x="163" y="467"/>
                </a:lnTo>
                <a:lnTo>
                  <a:pt x="158" y="465"/>
                </a:lnTo>
                <a:lnTo>
                  <a:pt x="152" y="463"/>
                </a:lnTo>
                <a:lnTo>
                  <a:pt x="147" y="461"/>
                </a:lnTo>
                <a:lnTo>
                  <a:pt x="141" y="459"/>
                </a:lnTo>
                <a:lnTo>
                  <a:pt x="136" y="456"/>
                </a:lnTo>
                <a:lnTo>
                  <a:pt x="131" y="454"/>
                </a:lnTo>
                <a:lnTo>
                  <a:pt x="126" y="451"/>
                </a:lnTo>
                <a:lnTo>
                  <a:pt x="121" y="448"/>
                </a:lnTo>
                <a:lnTo>
                  <a:pt x="116" y="445"/>
                </a:lnTo>
                <a:lnTo>
                  <a:pt x="111" y="442"/>
                </a:lnTo>
                <a:lnTo>
                  <a:pt x="106" y="439"/>
                </a:lnTo>
                <a:lnTo>
                  <a:pt x="101" y="436"/>
                </a:lnTo>
                <a:lnTo>
                  <a:pt x="96" y="432"/>
                </a:lnTo>
                <a:lnTo>
                  <a:pt x="92" y="429"/>
                </a:lnTo>
                <a:lnTo>
                  <a:pt x="87" y="425"/>
                </a:lnTo>
                <a:lnTo>
                  <a:pt x="83" y="421"/>
                </a:lnTo>
                <a:lnTo>
                  <a:pt x="79" y="418"/>
                </a:lnTo>
                <a:lnTo>
                  <a:pt x="74" y="414"/>
                </a:lnTo>
                <a:lnTo>
                  <a:pt x="70" y="410"/>
                </a:lnTo>
                <a:lnTo>
                  <a:pt x="66" y="406"/>
                </a:lnTo>
                <a:lnTo>
                  <a:pt x="62" y="401"/>
                </a:lnTo>
                <a:lnTo>
                  <a:pt x="59" y="397"/>
                </a:lnTo>
                <a:lnTo>
                  <a:pt x="55" y="393"/>
                </a:lnTo>
                <a:lnTo>
                  <a:pt x="51" y="388"/>
                </a:lnTo>
                <a:lnTo>
                  <a:pt x="48" y="384"/>
                </a:lnTo>
                <a:lnTo>
                  <a:pt x="44" y="379"/>
                </a:lnTo>
                <a:lnTo>
                  <a:pt x="41" y="374"/>
                </a:lnTo>
                <a:lnTo>
                  <a:pt x="38" y="369"/>
                </a:lnTo>
                <a:lnTo>
                  <a:pt x="35" y="364"/>
                </a:lnTo>
                <a:lnTo>
                  <a:pt x="32" y="359"/>
                </a:lnTo>
                <a:lnTo>
                  <a:pt x="29" y="354"/>
                </a:lnTo>
                <a:lnTo>
                  <a:pt x="26" y="349"/>
                </a:lnTo>
                <a:lnTo>
                  <a:pt x="24" y="344"/>
                </a:lnTo>
                <a:lnTo>
                  <a:pt x="21" y="339"/>
                </a:lnTo>
                <a:lnTo>
                  <a:pt x="19" y="333"/>
                </a:lnTo>
                <a:lnTo>
                  <a:pt x="17" y="328"/>
                </a:lnTo>
                <a:lnTo>
                  <a:pt x="15" y="322"/>
                </a:lnTo>
                <a:lnTo>
                  <a:pt x="13" y="317"/>
                </a:lnTo>
                <a:lnTo>
                  <a:pt x="11" y="311"/>
                </a:lnTo>
                <a:lnTo>
                  <a:pt x="9" y="306"/>
                </a:lnTo>
                <a:lnTo>
                  <a:pt x="8" y="300"/>
                </a:lnTo>
                <a:lnTo>
                  <a:pt x="6" y="294"/>
                </a:lnTo>
                <a:lnTo>
                  <a:pt x="5" y="288"/>
                </a:lnTo>
                <a:lnTo>
                  <a:pt x="4" y="282"/>
                </a:lnTo>
                <a:lnTo>
                  <a:pt x="3" y="277"/>
                </a:lnTo>
                <a:lnTo>
                  <a:pt x="2" y="271"/>
                </a:lnTo>
                <a:lnTo>
                  <a:pt x="1" y="265"/>
                </a:lnTo>
                <a:lnTo>
                  <a:pt x="1" y="258"/>
                </a:lnTo>
                <a:lnTo>
                  <a:pt x="0" y="252"/>
                </a:lnTo>
                <a:lnTo>
                  <a:pt x="0" y="246"/>
                </a:lnTo>
                <a:lnTo>
                  <a:pt x="0" y="240"/>
                </a:lnTo>
                <a:lnTo>
                  <a:pt x="0" y="234"/>
                </a:lnTo>
                <a:lnTo>
                  <a:pt x="0" y="228"/>
                </a:lnTo>
                <a:lnTo>
                  <a:pt x="1" y="222"/>
                </a:lnTo>
                <a:lnTo>
                  <a:pt x="1" y="215"/>
                </a:lnTo>
                <a:lnTo>
                  <a:pt x="2" y="209"/>
                </a:lnTo>
                <a:lnTo>
                  <a:pt x="3" y="203"/>
                </a:lnTo>
                <a:lnTo>
                  <a:pt x="4" y="198"/>
                </a:lnTo>
                <a:lnTo>
                  <a:pt x="5" y="192"/>
                </a:lnTo>
                <a:lnTo>
                  <a:pt x="6" y="186"/>
                </a:lnTo>
                <a:lnTo>
                  <a:pt x="8" y="180"/>
                </a:lnTo>
                <a:lnTo>
                  <a:pt x="9" y="174"/>
                </a:lnTo>
                <a:lnTo>
                  <a:pt x="11" y="169"/>
                </a:lnTo>
                <a:lnTo>
                  <a:pt x="13" y="163"/>
                </a:lnTo>
                <a:lnTo>
                  <a:pt x="15" y="158"/>
                </a:lnTo>
                <a:lnTo>
                  <a:pt x="17" y="152"/>
                </a:lnTo>
                <a:lnTo>
                  <a:pt x="19" y="147"/>
                </a:lnTo>
                <a:lnTo>
                  <a:pt x="21" y="141"/>
                </a:lnTo>
                <a:lnTo>
                  <a:pt x="24" y="136"/>
                </a:lnTo>
                <a:lnTo>
                  <a:pt x="26" y="131"/>
                </a:lnTo>
                <a:lnTo>
                  <a:pt x="29" y="126"/>
                </a:lnTo>
                <a:lnTo>
                  <a:pt x="32" y="121"/>
                </a:lnTo>
                <a:lnTo>
                  <a:pt x="32" y="120"/>
                </a:lnTo>
                <a:lnTo>
                  <a:pt x="360" y="120"/>
                </a:lnTo>
                <a:close/>
              </a:path>
            </a:pathLst>
          </a:custGeom>
          <a:gradFill>
            <a:gsLst>
              <a:gs pos="0">
                <a:srgbClr val="3B82F6">
                  <a:alpha val="16000"/>
                </a:srgbClr>
              </a:gs>
              <a:gs pos="100000">
                <a:srgbClr val="06B6D4">
                  <a:alpha val="16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0" y="3429000"/>
            <a:ext cx="3429000" cy="3429000"/>
          </a:xfrm>
          <a:prstGeom prst="rect">
            <a:avLst/>
          </a:prstGeom>
          <a:gradFill>
            <a:gsLst>
              <a:gs pos="0">
                <a:srgbClr val="EF4444">
                  <a:alpha val="12000"/>
                </a:srgbClr>
              </a:gs>
              <a:gs pos="100000">
                <a:srgbClr val="FFFF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3571875" y="1962150"/>
            <a:ext cx="2133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225">
                <a:solidFill>
                  <a:srgbClr val="F87171"/>
                </a:solidFill>
                <a:latin typeface="PingFang SC"/>
                <a:ea typeface="PingFang SC"/>
              </a:rPr>
              <a:t>CHAPTER FOUR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3571875" y="2266950"/>
            <a:ext cx="21336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latin typeface="PingFang SC"/>
                <a:ea typeface="PingFang SC"/>
              </a:rPr>
              <a:t>失败原因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914400" y="85725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EF4444">
                    <a:alpha val="60000"/>
                  </a:srgbClr>
                </a:solidFill>
                <a:latin typeface="PingFang SC"/>
                <a:ea typeface="PingFang SC"/>
              </a:rPr>
              <a:t>04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914400" y="4410075"/>
            <a:ext cx="10363200" cy="1019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950">
                <a:solidFill>
                  <a:srgbClr val="CBD5E1"/>
                </a:solidFill>
                <a:latin typeface="PingFang SC"/>
                <a:ea typeface="PingFang SC"/>
              </a:rPr>
              <a:t>不是定义错了，也不是需求错了</a:t>
            </a:r>
            <a:r>
              <a:rPr lang="en-US" sz="1950">
                <a:solidFill>
                  <a:srgbClr val="CBD5E1"/>
                </a:solidFill>
                <a:latin typeface="PingFang SC"/>
                <a:ea typeface="PingFang SC"/>
              </a:rPr>
              <a:t> ——</a:t>
            </a:r>
            <a:endParaRPr/>
          </a:p>
          <a:p>
            <a:pPr>
              <a:lnSpc>
                <a:spcPct val="170000"/>
              </a:lnSpc>
            </a:pPr>
            <a:r>
              <a:rPr lang="zh-CN" sz="1950">
                <a:solidFill>
                  <a:srgbClr val="CBD5E1"/>
                </a:solidFill>
                <a:latin typeface="PingFang SC"/>
                <a:ea typeface="PingFang SC"/>
              </a:rPr>
              <a:t>是</a:t>
            </a:r>
            <a:r>
              <a:rPr lang="zh-CN" sz="1950" b="1">
                <a:solidFill>
                  <a:srgbClr val="FFFFFF"/>
                </a:solidFill>
                <a:latin typeface="PingFang SC"/>
                <a:ea typeface="PingFang SC"/>
              </a:rPr>
              <a:t>我们在周边忙了太久</a:t>
            </a:r>
            <a:r>
              <a:rPr lang="zh-CN" sz="1950">
                <a:solidFill>
                  <a:srgbClr val="CBD5E1"/>
                </a:solidFill>
                <a:latin typeface="PingFang SC"/>
                <a:ea typeface="PingFang SC"/>
              </a:rPr>
              <a:t>，忘了往核心走。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09600" y="6353175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失败案例复盘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1125200" y="6353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13 / 20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57" name="" descr="&lt;Slide style={{ width: '1280px', height: '720px', background: '#0F172A', fontFamily: &quot;'PingFang SC','Microsoft YaHei','Helvetica Neue',sans-serif&quot;, overflow: 'hidden' }}&gt;&#10;  &lt;Box style={{ position: 'absolute', top: -140, right: -120, width: 520, height: 520, borderRadius: 260, background: 'linear-gradient(135deg,#3B82F6 0%,#06B6D4 100%)', opacity: 0.14 }} /&gt;&#10;&#10;  &lt;Box style={{ position: 'absolute', top: 56, left: 64, right: 64, flexDirection: 'row', justifyContent: 'space-between', alignItems: 'flex-start' }}&gt;&#10;    &lt;Box&gt;&#10;      &lt;Text style={{ fontSize: 16, color: '#94A3B8', letterSpacing: 1 }}&gt;第四章 · 失败原因&lt;/Text&gt;&#10;      &lt;Text style={{ fontSize: 34, fontWeight: 'bold', color: '#FFFFFF', marginTop: 6 }}&gt;证据墙：项目确实失败了&lt;/Text&gt;&#10;    &lt;/Box&gt;&#10;    &lt;Text style={{ fontSize: 16, color: '#F87171', fontWeight: 'bold', paddingTop: 10 }}&gt;14&lt;/Text&gt;&#10;  &lt;/Box&gt;&#10;&#10;  &lt;Box style={{ position: 'absolute', top: 170, left: 64, right: 64, flexDirection: 'row', justifyContent: 'space-between', gap: 28 }}&gt;&#10;    &lt;Box style={{ flex: 1, background: '#1E293B', borderRadius: 18, padding: '34px 28px', alignItems: 'center' }}&gt;&#10;      &lt;Text style={{ fontSize: 88, fontWeight: 'bold', color: '#EF4444', lineHeight: 1 }}&gt;32&lt;/Text&gt;&#10;      &lt;Text style={{ fontSize: 22, color: '#CBD5E1', marginTop: 8 }}&gt;天无用户进展&lt;/Text&gt;&#10;    &lt;/Box&gt;&#10;    &lt;Box style={{ flex: 1, background: '#1E293B', borderRadius: 18, padding: '34px 28px', alignItems: 'center' }}&gt;&#10;      &lt;Text style={{ fontSize: 88, fontWeight: 'bold', color: '#EF4444', lineHeight: 1 }}&gt;21&lt;/Text&gt;&#10;      &lt;Text style={{ fontSize: 22, color: '#CBD5E1', marginTop: 8 }}&gt;个 PENDING 运行&lt;/Text&gt;&#10;    &lt;/Box&gt;&#10;    &lt;Box style={{ flex: 1, background: '#1E293B', borderRadius: 18, padding: '34px 28px', alignItems: 'center' }}&gt;&#10;      &lt;Text style={{ fontSize: 88, fontWeight: 'bold', color: '#EF4444', lineHeight: 1 }}&gt;8&lt;/Text&gt;&#10;      &lt;Text style={{ fontSize: 22, color: '#CBD5E1', marginTop: 8 }}&gt;例卡死无法终态&lt;/Text&gt;&#10;    &lt;/Box&gt;&#10;    &lt;Box style={{ flex: 1, background: '#1E293B', borderRadius: 18, padding: '34px 28px', alignItems: 'center' }}&gt;&#10;      &lt;Text style={{ fontSize: 88, fontWeight: 'bold', color: '#EF4444', lineHeight: 1 }}&gt;0&lt;/Text&gt;&#10;      &lt;Text style={{ fontSize: 22, color: '#CBD5E1', marginTop: 8 }}&gt;失败码被引用&lt;/Text&gt;&#10;    &lt;/Box&gt;&#10;  &lt;/Box&gt;&#10;&#10;  &lt;Box style={{ position: 'absolute', bottom: 120, left: 64, right: 64, alignItems: 'center' }}&gt;&#10;    &lt;Text style={{ fontSize: 22, color: '#94A3B8', textAlign: 'center' }}&gt;&#10;      这些不是推测，是日志、状态机与代码核查给出的硬事实。&#10;    &lt;/Text&gt;&#10;  &lt;/Box&gt;&#10;&#10;  &lt;Box style={{ position: 'absolute', bottom: 36, left: 64, right: 64, flexDirection: 'row', justifyContent: 'space-between', alignItems: 'center' }}&gt;&#10;    &lt;Text style={{ fontSize: 14, color: '#64748B' }}&gt;Regent 失败案例复盘&lt;/Text&gt;&#10;    &lt;Text style={{ fontSize: 14, color: '#64748B' }}&gt;14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8382000" y="-1333500"/>
            <a:ext cx="4953000" cy="4953000"/>
          </a:xfrm>
          <a:custGeom>
            <a:pathLst>
              <a:path w="520" h="520">
                <a:moveTo>
                  <a:pt x="400" y="479"/>
                </a:moveTo>
                <a:lnTo>
                  <a:pt x="395" y="482"/>
                </a:lnTo>
                <a:lnTo>
                  <a:pt x="389" y="486"/>
                </a:lnTo>
                <a:lnTo>
                  <a:pt x="384" y="489"/>
                </a:ln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29" y="140"/>
                </a:lnTo>
                <a:lnTo>
                  <a:pt x="400" y="140"/>
                </a:lnTo>
                <a:close/>
              </a:path>
            </a:pathLst>
          </a:custGeom>
          <a:gradFill>
            <a:gsLst>
              <a:gs pos="0">
                <a:srgbClr val="3B82F6">
                  <a:alpha val="14000"/>
                </a:srgbClr>
              </a:gs>
              <a:gs pos="100000">
                <a:srgbClr val="06B6D4">
                  <a:alpha val="14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3562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94A3B8"/>
                </a:solidFill>
                <a:latin typeface="PingFang SC"/>
                <a:ea typeface="PingFang SC"/>
              </a:rPr>
              <a:t>第四章</a:t>
            </a:r>
            <a:r>
              <a:rPr lang="en-US" sz="1200" spc="75">
                <a:solidFill>
                  <a:srgbClr val="94A3B8"/>
                </a:solidFill>
                <a:latin typeface="PingFang SC"/>
                <a:ea typeface="PingFang SC"/>
              </a:rPr>
              <a:t> · </a:t>
            </a:r>
            <a:r>
              <a:rPr lang="zh-CN" sz="1200" spc="75">
                <a:solidFill>
                  <a:srgbClr val="94A3B8"/>
                </a:solidFill>
                <a:latin typeface="PingFang SC"/>
                <a:ea typeface="PingFang SC"/>
              </a:rPr>
              <a:t>失败原因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09600" y="78105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PingFang SC"/>
                <a:ea typeface="PingFang SC"/>
              </a:rPr>
              <a:t>证据墙：项目确实失败了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1391900" y="533400"/>
            <a:ext cx="190500" cy="2857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87171"/>
                </a:solidFill>
                <a:latin typeface="PingFang SC"/>
                <a:ea typeface="PingFang SC"/>
              </a:rPr>
              <a:t>14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609600" y="1619250"/>
            <a:ext cx="2543175" cy="1990725"/>
          </a:xfrm>
          <a:prstGeom prst="roundRect">
            <a:avLst>
              <a:gd name="adj" fmla="val 8612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362075" y="1943100"/>
            <a:ext cx="1038225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EF4444"/>
                </a:solidFill>
                <a:latin typeface="PingFang SC"/>
                <a:ea typeface="PingFang SC"/>
              </a:rPr>
              <a:t>32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257300" y="302895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CBD5E1"/>
                </a:solidFill>
                <a:latin typeface="PingFang SC"/>
                <a:ea typeface="PingFang SC"/>
              </a:rPr>
              <a:t>天无用户进展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3419475" y="1619250"/>
            <a:ext cx="2543175" cy="1990725"/>
          </a:xfrm>
          <a:prstGeom prst="roundRect">
            <a:avLst>
              <a:gd name="adj" fmla="val 8612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4171950" y="1943100"/>
            <a:ext cx="1038225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EF4444"/>
                </a:solidFill>
                <a:latin typeface="PingFang SC"/>
                <a:ea typeface="PingFang SC"/>
              </a:rPr>
              <a:t>21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3838575" y="3028950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CBD5E1"/>
                </a:solidFill>
                <a:latin typeface="PingFang SC"/>
                <a:ea typeface="PingFang SC"/>
              </a:rPr>
              <a:t>个</a:t>
            </a:r>
            <a:r>
              <a:rPr lang="en-US" sz="1650">
                <a:solidFill>
                  <a:srgbClr val="CBD5E1"/>
                </a:solidFill>
                <a:latin typeface="PingFang SC"/>
                <a:ea typeface="PingFang SC"/>
              </a:rPr>
              <a:t> PENDING </a:t>
            </a:r>
            <a:r>
              <a:rPr lang="zh-CN" sz="1650">
                <a:solidFill>
                  <a:srgbClr val="CBD5E1"/>
                </a:solidFill>
                <a:latin typeface="PingFang SC"/>
                <a:ea typeface="PingFang SC"/>
              </a:rPr>
              <a:t>运行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229350" y="1619250"/>
            <a:ext cx="2543175" cy="1990725"/>
          </a:xfrm>
          <a:prstGeom prst="roundRect">
            <a:avLst>
              <a:gd name="adj" fmla="val 8612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239000" y="1943100"/>
            <a:ext cx="523875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EF4444"/>
                </a:solidFill>
                <a:latin typeface="PingFang SC"/>
                <a:ea typeface="PingFang SC"/>
              </a:rPr>
              <a:t>8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772275" y="3028950"/>
            <a:ext cx="1466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CBD5E1"/>
                </a:solidFill>
                <a:latin typeface="PingFang SC"/>
                <a:ea typeface="PingFang SC"/>
              </a:rPr>
              <a:t>例卡死无法终态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9039225" y="1619250"/>
            <a:ext cx="2543175" cy="1990725"/>
          </a:xfrm>
          <a:prstGeom prst="roundRect">
            <a:avLst>
              <a:gd name="adj" fmla="val 8612"/>
            </a:avLst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0048875" y="1943100"/>
            <a:ext cx="523875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EF4444"/>
                </a:solidFill>
                <a:latin typeface="PingFang SC"/>
                <a:ea typeface="PingFang SC"/>
              </a:rPr>
              <a:t>0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9686925" y="302895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CBD5E1"/>
                </a:solidFill>
                <a:latin typeface="PingFang SC"/>
                <a:ea typeface="PingFang SC"/>
              </a:rPr>
              <a:t>失败码被引用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3371850" y="5457825"/>
            <a:ext cx="54483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>
                <a:solidFill>
                  <a:srgbClr val="94A3B8"/>
                </a:solidFill>
                <a:latin typeface="PingFang SC"/>
                <a:ea typeface="PingFang SC"/>
              </a:rPr>
              <a:t>这些不是推测，是日志、状态机与代码核查给出的硬事实。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09600" y="6353175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失败案例复盘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1125200" y="6353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14 / 20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78" name="" descr="&lt;Slide style={{ width: '1280px', height: '720px', background: '#FFFFFF', fontFamily: &quot;'PingFang SC','Microsoft YaHei','Helvetica Neue',sans-serif&quot;, overflow: 'hidden' }}&gt;&#10;  &lt;Box style={{ height: 120, padding: '28px 64px 0 64px', flexDirection: 'row', justifyContent: 'space-between', alignItems: 'flex-start' }}&gt;&#10;    &lt;Box&gt;&#10;      &lt;Text style={{ fontSize: 16, color: '#64748B', letterSpacing: 1 }}&gt;第四章 · 失败原因&lt;/Text&gt;&#10;      &lt;Text style={{ fontSize: 34, fontWeight: 'bold', color: '#1E293B', marginTop: 6 }}&gt;五大失败根因&lt;/Text&gt;&#10;    &lt;/Box&gt;&#10;    &lt;Text style={{ fontSize: 16, color: '#EF4444', fontWeight: 'bold', paddingTop: 10 }}&gt;15&lt;/Text&gt;&#10;  &lt;/Box&gt;&#10;&#10;  &lt;Box style={{ height: 540, padding: '8px 64px 0 64px', justifyContent: 'space-between' }}&gt;&#10;    &lt;Box style={{ flexDirection: 'row', alignItems: 'center', gap: 20, background: '#FEF2F2', borderRadius: 14, padding: '16px 22px' }}&gt;&#10;      &lt;Text style={{ fontSize: 32, fontWeight: 'bold', color: '#EF4444', width: 44 }}&gt;A&lt;/Text&gt;&#10;      &lt;Box&gt;&#10;        &lt;Text style={{ fontSize: 21, fontWeight: 'bold', color: '#1E293B' }}&gt;单 Agent 主循环从未闭合&lt;/Text&gt;&#10;        &lt;Text style={{ fontSize: 16, color: '#64748B' }}&gt;目标→计划→执行→校验→交付，从未端到端跑通一次&lt;/Text&gt;&#10;      &lt;/Box&gt;&#10;    &lt;/Box&gt;&#10;    &lt;Box style={{ flexDirection: 'row', alignItems: 'center', gap: 20, background: '#FEF2F2', borderRadius: 14, padding: '16px 22px' }}&gt;&#10;      &lt;Text style={{ fontSize: 32, fontWeight: 'bold', color: '#EF4444', width: 44 }}&gt;B&lt;/Text&gt;&#10;      &lt;Box&gt;&#10;        &lt;Text style={{ fontSize: 21, fontWeight: 'bold', color: '#1E293B' }}&gt;把控制流当成了能力&lt;/Text&gt;&#10;        &lt;Text style={{ fontSize: 16, color: '#64748B' }}&gt;调度、门禁、许可写了很多，真正交付的能力为零&lt;/Text&gt;&#10;      &lt;/Box&gt;&#10;    &lt;/Box&gt;&#10;    &lt;Box style={{ flexDirection: 'row', alignItems: 'center', gap: 20, background: '#FEF2F2', borderRadius: 14, padding: '16px 22px' }}&gt;&#10;      &lt;Text style={{ fontSize: 32, fontWeight: 'bold', color: '#EF4444', width: 44 }}&gt;C&lt;/Text&gt;&#10;      &lt;Box&gt;&#10;        &lt;Text style={{ fontSize: 21, fontWeight: 'bold', color: '#1E293B' }}&gt;工程卫生缺失&lt;/Text&gt;&#10;        &lt;Text style={{ fontSize: 16, color: '#64748B' }}&gt;未跟踪文件、schema 漂移、魔法字符串、源码即断言&lt;/Text&gt;&#10;      &lt;/Box&gt;&#10;    &lt;/Box&gt;&#10;    &lt;Box style={{ flexDirection: 'row', alignItems: 'center', gap: 20, background: '#FEF2F2', borderRadius: 14, padding: '16px 22px' }}&gt;&#10;      &lt;Text style={{ fontSize: 32, fontWeight: 'bold', color: '#EF4444', width: 44 }}&gt;D&lt;/Text&gt;&#10;      &lt;Box&gt;&#10;        &lt;Text style={{ fontSize: 21, fontWeight: 'bold', color: '#1E293B' }}&gt;优先级倒置&lt;/Text&gt;&#10;        &lt;Text style={{ fontSize: 16, color: '#64748B' }}&gt;单 Agent 质量门未过，就先去搞多 Agent 与评估&lt;/Text&gt;&#10;      &lt;/Box&gt;&#10;    &lt;/Box&gt;&#10;    &lt;Box style={{ flexDirection: 'row', alignItems: 'center', gap: 20, background: '#FEF2F2', borderRadius: 14, padding: '16px 22px' }}&gt;&#10;      &lt;Text style={{ fontSize: 32, fontWeight: 'bold', color: '#EF4444', width: 44 }}&gt;E&lt;/Text&gt;&#10;      &lt;Box&gt;&#10;        &lt;Text style={{ fontSize: 21, fontWeight: 'bold', color: '#1E293B' }}&gt;元工作替代了真实工作&lt;/Text&gt;&#10;        &lt;Text style={{ fontSize: 16, color: '#64748B' }}&gt;fork 门禁、4400 行编排器、ops 探针，替代了交付&lt;/Text&gt;&#10;      &lt;/Box&gt;&#10;    &lt;/Box&gt;&#10;  &lt;/Box&gt;&#10;&#10;  &lt;Box style={{ height: 60, padding: '0 64px', flexDirection: 'row', justifyContent: 'space-between', alignItems: 'center', borderTop: '1px solid #E2E8F0' }}&gt;&#10;    &lt;Text style={{ fontSize: 14, color: '#64748B' }}&gt;Regent 失败案例复盘&lt;/Text&gt;&#10;    &lt;Text style={{ fontSize: 14, color: '#64748B' }}&gt;15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09600" y="266700"/>
            <a:ext cx="1943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第四章</a:t>
            </a:r>
            <a:r>
              <a:rPr lang="en-US" sz="1200" spc="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失败原因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09600" y="51435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PingFang SC"/>
                <a:ea typeface="PingFang SC"/>
              </a:rPr>
              <a:t>五大失败根因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1391900" y="266700"/>
            <a:ext cx="190500" cy="2857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EF4444"/>
                </a:solidFill>
                <a:latin typeface="PingFang SC"/>
                <a:ea typeface="PingFang SC"/>
              </a:rPr>
              <a:t>15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609600" y="1219200"/>
            <a:ext cx="10972800" cy="742950"/>
          </a:xfrm>
          <a:prstGeom prst="roundRect">
            <a:avLst>
              <a:gd name="adj" fmla="val 17949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19150" y="1409700"/>
            <a:ext cx="4191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EF4444"/>
                </a:solidFill>
                <a:latin typeface="PingFang SC"/>
                <a:ea typeface="PingFang SC"/>
              </a:rPr>
              <a:t>A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428750" y="1371600"/>
            <a:ext cx="3657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293B"/>
                </a:solidFill>
                <a:latin typeface="PingFang SC"/>
                <a:ea typeface="PingFang SC"/>
              </a:rPr>
              <a:t>单</a:t>
            </a:r>
            <a:r>
              <a:rPr lang="en-US" sz="1575" b="1">
                <a:solidFill>
                  <a:srgbClr val="1E293B"/>
                </a:solidFill>
                <a:latin typeface="PingFang SC"/>
                <a:ea typeface="PingFang SC"/>
              </a:rPr>
              <a:t> Agent </a:t>
            </a:r>
            <a:r>
              <a:rPr lang="zh-CN" sz="1575" b="1">
                <a:solidFill>
                  <a:srgbClr val="1E293B"/>
                </a:solidFill>
                <a:latin typeface="PingFang SC"/>
                <a:ea typeface="PingFang SC"/>
              </a:rPr>
              <a:t>主循环从未闭合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428750" y="1619250"/>
            <a:ext cx="3657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目标→计划→执行→校验→交付，从未端到端跑通一次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609600" y="2305050"/>
            <a:ext cx="10972800" cy="742950"/>
          </a:xfrm>
          <a:prstGeom prst="roundRect">
            <a:avLst>
              <a:gd name="adj" fmla="val 17949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19150" y="2495550"/>
            <a:ext cx="4191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EF4444"/>
                </a:solidFill>
                <a:latin typeface="PingFang SC"/>
                <a:ea typeface="PingFang SC"/>
              </a:rPr>
              <a:t>B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428750" y="2457450"/>
            <a:ext cx="3352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293B"/>
                </a:solidFill>
                <a:latin typeface="PingFang SC"/>
                <a:ea typeface="PingFang SC"/>
              </a:rPr>
              <a:t>把控制流当成了能力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428750" y="2705100"/>
            <a:ext cx="335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调度、门禁、许可写了很多，真正交付的能力为零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609600" y="3381375"/>
            <a:ext cx="10972800" cy="742950"/>
          </a:xfrm>
          <a:prstGeom prst="roundRect">
            <a:avLst>
              <a:gd name="adj" fmla="val 17949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819150" y="3571875"/>
            <a:ext cx="4191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EF4444"/>
                </a:solidFill>
                <a:latin typeface="PingFang SC"/>
                <a:ea typeface="PingFang SC"/>
              </a:rPr>
              <a:t>C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428750" y="3533775"/>
            <a:ext cx="36480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293B"/>
                </a:solidFill>
                <a:latin typeface="PingFang SC"/>
                <a:ea typeface="PingFang SC"/>
              </a:rPr>
              <a:t>工程卫生缺失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428750" y="3781425"/>
            <a:ext cx="3648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未跟踪文件、</a:t>
            </a: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schema 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漂移、魔法字符串、源码即断言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09600" y="4467225"/>
            <a:ext cx="10972800" cy="742950"/>
          </a:xfrm>
          <a:prstGeom prst="roundRect">
            <a:avLst>
              <a:gd name="adj" fmla="val 17949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819150" y="4657725"/>
            <a:ext cx="4191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EF4444"/>
                </a:solidFill>
                <a:latin typeface="PingFang SC"/>
                <a:ea typeface="PingFang SC"/>
              </a:rPr>
              <a:t>D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428750" y="4619625"/>
            <a:ext cx="3352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293B"/>
                </a:solidFill>
                <a:latin typeface="PingFang SC"/>
                <a:ea typeface="PingFang SC"/>
              </a:rPr>
              <a:t>优先级倒置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428750" y="4867275"/>
            <a:ext cx="335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单</a:t>
            </a: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 Agent 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质量门未过，就先去搞多</a:t>
            </a: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 Agent 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与评估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609600" y="5543550"/>
            <a:ext cx="10972800" cy="742950"/>
          </a:xfrm>
          <a:prstGeom prst="roundRect">
            <a:avLst>
              <a:gd name="adj" fmla="val 17949"/>
            </a:avLst>
          </a:prstGeom>
          <a:solidFill>
            <a:srgbClr val="FEF2F2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19150" y="5734050"/>
            <a:ext cx="4191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EF4444"/>
                </a:solidFill>
                <a:latin typeface="PingFang SC"/>
                <a:ea typeface="PingFang SC"/>
              </a:rPr>
              <a:t>E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428750" y="5695950"/>
            <a:ext cx="34956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293B"/>
                </a:solidFill>
                <a:latin typeface="PingFang SC"/>
                <a:ea typeface="PingFang SC"/>
              </a:rPr>
              <a:t>元工作替代了真实工作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428750" y="5943600"/>
            <a:ext cx="3495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fork 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门禁、</a:t>
            </a: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4400 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行编排器、</a:t>
            </a: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ops 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探针，替代了交付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失败案例复盘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15 / 20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a16="http://schemas.microsoft.com/office/drawing/2014/main" xmlns:mc="http://schemas.openxmlformats.org/markup-compatibility/2006" mc:Ignorable="asvg a16">
  <p:cSld>
    <p:spTree>
      <p:nvGrpSpPr>
        <p:cNvPr id="106" name="" descr="&lt;Slide style={{ width: '1280px', height: '720px', background: '#FFFFFF', fontFamily: &quot;'PingFang SC','Microsoft YaHei','Helvetica Neue',sans-serif&quot;, overflow: 'hidden' }}&gt;&#10;  &lt;Box style={{ height: 120, padding: '28px 64px 0 64px', flexDirection: 'row', justifyContent: 'space-between', alignItems: 'flex-start' }}&gt;&#10;    &lt;Box&gt;&#10;      &lt;Text style={{ fontSize: 16, color: '#64748B', letterSpacing: 1 }}&gt;第四章 · 失败原因&lt;/Text&gt;&#10;      &lt;Text style={{ fontSize: 34, fontWeight: 'bold', color: '#1E293B', marginTop: 6 }}&gt;根因 → 漏掉的基本功&lt;/Text&gt;&#10;    &lt;/Box&gt;&#10;    &lt;Text style={{ fontSize: 16, color: '#3B82F6', fontWeight: 'bold', paddingTop: 10 }}&gt;16&lt;/Text&gt;&#10;  &lt;/Box&gt;&#10;&#10;  &lt;Box style={{ height: 540, padding: '8px 64px 0 64px', flexDirection: 'row', gap: 40 }}&gt;&#10;    &lt;Box style={{ width: 320, justifyContent: 'center' }}&gt;&#10;      &lt;Text style={{ fontSize: 22, fontWeight: 'bold', color: '#1E293B', lineHeight: 1.5 }}&gt;&#10;        每一个根因，&lt;br /&gt;都对应一项被跳过的基本功&#10;      &lt;/Text&gt;&#10;      &lt;Text style={{ fontSize: 18, color: '#64748B', lineHeight: 1.8, marginTop: 18 }}&gt;&#10;        失败的不是「不懂高级架构」，&lt;br /&gt;而是&lt;span style={{ color: '#3B82F6', fontWeight: 'bold' }}&gt;地基没打就盖楼&lt;/span&gt;。&#10;      &lt;/Text&gt;&#10;      &lt;Box style={{ flexDirection: 'row', alignItems: 'center', gap: 12, marginTop: 22 }}&gt;&#10;        &lt;FAIcon name='check-circle' style={{ fill: '#3B82F6', width: 28, height: 28 }} /&gt;&#10;        &lt;Text style={{ fontSize: 18, color: '#3B82F6', fontWeight: 'bold' }}&gt;先补基本功，再谈进阶&lt;/Text&gt;&#10;      &lt;/Box&gt;&#10;    &lt;/Box&gt;&#10;&#10;    &lt;Box style={{ flex: 1 }}&gt;&#10;      &lt;Table&#10;        style={{ width: '100%', height: '100%' }}&#10;        defaultTextStyle={{ fontSize: 17, textAlign: 'left', color: '#1E293B' }}&#10;        defaultCellStyle={{&#10;          border: { left: { width: 1, color: '#E2E8F0' }, right: { width: 1, color: '#E2E8F0' }, top: { width: 1, color: '#E2E8F0' }, bottom: { width: 1, color: '#E2E8F0' } },&#10;          padding: 14,&#10;        }}&#10;        cells={[&#10;          [&#10;            { text: '根因', textStyle: { bold: true, color: '#FFFFFF', fontSize: 18 }, cellStyle: { background: { color: '#3B82F6' } } },&#10;            { text: '漏掉的基本功', textStyle: { bold: true, color: '#FFFFFF', fontSize: 18 }, cellStyle: { background: { color: '#3B82F6' } } },&#10;          ],&#10;          [{ text: 'A 主循环未闭合', textStyle: { bold: true } }, { text: '先让单 Agent 把一件事跑通（闭环优先）' }],&#10;          [{ text: 'B 控制流当能力', textStyle: { bold: true } }, { text: '能力 = 跑通的产物，不是调度器' }],&#10;          [{ text: 'C 工程卫生缺失', textStyle: { bold: true } }, { text: '地基：可追踪、可校验、零魔法字符串' }],&#10;          [{ text: 'D 优先级倒置', textStyle: { bold: true } }, { text: '顺序：单 Agent 质量门 → 再谈多 Agent' }],&#10;          [{ text: 'E 元工作替代', textStyle: { bold: true } }, { text: '交付 &gt; 元工作，用进度说话' }],&#10;        ]}&#10;      /&gt;&#10;    &lt;/Box&gt;&#10;  &lt;/Box&gt;&#10;&#10;  &lt;Box style={{ height: 60, padding: '0 64px', flexDirection: 'row', justifyContent: 'space-between', alignItems: 'center', borderTop: '1px solid #E2E8F0' }}&gt;&#10;    &lt;Text style={{ fontSize: 14, color: '#64748B' }}&gt;Regent 失败案例复盘&lt;/Text&gt;&#10;    &lt;Text style={{ fontSize: 14, color: '#64748B' }}&gt;16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09600" y="266700"/>
            <a:ext cx="3114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第四章</a:t>
            </a:r>
            <a:r>
              <a:rPr lang="en-US" sz="1200" spc="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失败原因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09600" y="514350"/>
            <a:ext cx="31146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PingFang SC"/>
                <a:ea typeface="PingFang SC"/>
              </a:rPr>
              <a:t>根因</a:t>
            </a:r>
            <a:r>
              <a:rPr lang="en-US" sz="2550" b="1">
                <a:solidFill>
                  <a:srgbClr val="1E293B"/>
                </a:solidFill>
                <a:latin typeface="PingFang SC"/>
                <a:ea typeface="PingFang SC"/>
              </a:rPr>
              <a:t> → </a:t>
            </a:r>
            <a:r>
              <a:rPr lang="zh-CN" sz="2550" b="1">
                <a:solidFill>
                  <a:srgbClr val="1E293B"/>
                </a:solidFill>
                <a:latin typeface="PingFang SC"/>
                <a:ea typeface="PingFang SC"/>
              </a:rPr>
              <a:t>漏掉的基本功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1391900" y="266700"/>
            <a:ext cx="190500" cy="2857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B82F6"/>
                </a:solidFill>
                <a:latin typeface="PingFang SC"/>
                <a:ea typeface="PingFang SC"/>
              </a:rPr>
              <a:t>16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09600" y="2676525"/>
            <a:ext cx="3048000" cy="762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1E293B"/>
                </a:solidFill>
                <a:latin typeface="PingFang SC"/>
                <a:ea typeface="PingFang SC"/>
              </a:rPr>
              <a:t>每一个根因，</a:t>
            </a:r>
            <a:endParaRPr/>
          </a:p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1E293B"/>
                </a:solidFill>
                <a:latin typeface="PingFang SC"/>
                <a:ea typeface="PingFang SC"/>
              </a:rPr>
              <a:t>都对应一项被跳过的基本功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09600" y="3609975"/>
            <a:ext cx="3048000" cy="7429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350">
                <a:solidFill>
                  <a:srgbClr val="64748B"/>
                </a:solidFill>
                <a:latin typeface="PingFang SC"/>
                <a:ea typeface="PingFang SC"/>
              </a:rPr>
              <a:t>失败的不是「不懂高级架构」，</a:t>
            </a:r>
            <a:endParaRPr/>
          </a:p>
          <a:p>
            <a:pPr>
              <a:lnSpc>
                <a:spcPct val="180000"/>
              </a:lnSpc>
            </a:pPr>
            <a:r>
              <a:rPr lang="zh-CN" sz="1350">
                <a:solidFill>
                  <a:srgbClr val="64748B"/>
                </a:solidFill>
                <a:latin typeface="PingFang SC"/>
                <a:ea typeface="PingFang SC"/>
              </a:rPr>
              <a:t>而是</a:t>
            </a:r>
            <a:r>
              <a:rPr lang="zh-CN" sz="1350" b="1">
                <a:solidFill>
                  <a:srgbClr val="3B82F6"/>
                </a:solidFill>
                <a:latin typeface="PingFang SC"/>
                <a:ea typeface="PingFang SC"/>
              </a:rPr>
              <a:t>地基没打就盖楼</a:t>
            </a:r>
            <a:r>
              <a:rPr lang="zh-CN" sz="1350">
                <a:solidFill>
                  <a:srgbClr val="64748B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pic>
        <p:nvPicPr>
          <p:cNvPr id="1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4562475"/>
            <a:ext cx="266700" cy="266700"/>
          </a:xfrm>
          <a:prstGeom prst="rect">
            <a:avLst/>
          </a:prstGeom>
          <a:ln/>
        </p:spPr>
      </p:pic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990600" y="4591050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B82F6"/>
                </a:solidFill>
                <a:latin typeface="PingFang SC"/>
                <a:ea typeface="PingFang SC"/>
              </a:rPr>
              <a:t>先补基本功，再谈进阶</a:t>
            </a:r>
            <a:endParaRPr/>
          </a:p>
        </p:txBody>
      </p:sp>
      <p:graphicFrame>
        <p:nvGraphicFramePr>
          <p:cNvPr id="115" name=""/>
          <p:cNvGraphicFramePr/>
          <p:nvPr/>
        </p:nvGraphicFramePr>
        <p:xfrm rot="0" flipH="0" flipV="0">
          <a:off x="4038600" y="1219200"/>
          <a:ext cx="7543800" cy="5067300"/>
        </p:xfrm>
        <a:graphic>
          <a:graphicData uri="http://schemas.openxmlformats.org/drawingml/2006/table">
            <a:tbl>
              <a:tblGrid>
                <a:gridCol w="2152524">
                  <a:extLst>
                    <a:ext uri="{9D8B030D-6E8A-4147-A177-3AD203B41FA5}">
                      <a16:colId val="1"/>
                    </a:ext>
                  </a:extLst>
                </a:gridCol>
                <a:gridCol w="5391276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86479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根因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漏掉的基本功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84050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A 主循环未闭合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先让单 Agent 把一件事跑通（闭环优先）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84050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B 控制流当能力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能力 = 跑通的产物，不是调度器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84050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C 工程卫生缺失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地基：可追踪、可校验、零魔法字符串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84050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D 优先级倒置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顺序：单 Agent 质量门 → 再谈多 Agent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84050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E 元工作替代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</a:rPr>
                        <a:t>交付 &gt; 元工作，用进度说话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116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失败案例复盘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16 / 20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19" name="" descr="&lt;Slide style={{ width: '1280px', height: '720px', background: '#0F172A', fontFamily: &quot;'PingFang SC','Microsoft YaHei','Helvetica Neue',sans-serif&quot;, overflow: 'hidden' }}&gt;&#10;  &lt;Box style={{ position: 'absolute', top: -120, right: -120, width: 480, height: 480, borderRadius: 240, background: 'linear-gradient(135deg,#3B82F6 0%,#06B6D4 100%)', opacity: 0.16 }} /&gt;&#10;  &lt;Box style={{ position: 'absolute', bottom: 0, left: 0, width: 360, height: 360, background: 'linear-gradient(135deg,#06B6D4 0%,transparent 100%)', opacity: 0.10 }} /&gt;&#10;&#10;  &lt;Box style={{ position: 'absolute', top: 90, left: 96, right: 96, flexDirection: 'row', alignItems: 'flex-end', gap: 32 }}&gt;&#10;    &lt;Text style={{ fontSize: 200, fontWeight: 'bold', color: '#1E3A8A', lineHeight: 1, opacity: 0.55 }}&gt;05&lt;/Text&gt;&#10;    &lt;Box style={{ paddingBottom: 24 }}&gt;&#10;      &lt;Text style={{ fontSize: 20, color: '#06B6D4', fontWeight: 'bold', letterSpacing: 3 }}&gt;CHAPTER FIVE&lt;/Text&gt;&#10;      &lt;Text style={{ fontSize: 56, fontWeight: 'bold', color: '#FFFFFF', marginTop: 8 }}&gt;结论&lt;/Text&gt;&#10;    &lt;/Box&gt;&#10;  &lt;/Box&gt;&#10;&#10;  &lt;Box style={{ position: 'absolute', bottom: 150, left: 96, right: 96 }}&gt;&#10;    &lt;Text style={{ fontSize: 26, color: '#CBD5E1', lineHeight: 1.7 }}&gt;&#10;      讲的不是「Regent 哪里蠢」，&lt;br /&gt;而是&lt;span style={{ color: '#FFFFFF', fontWeight: 'bold' }}&gt;我们下次该怎么动手&lt;/span&gt;。&#10;    &lt;/Text&gt;&#10;  &lt;/Box&gt;&#10;&#10;  &lt;Box style={{ position: 'absolute', bottom: 36, left: 64, right: 64, flexDirection: 'row', justifyContent: 'space-between', alignItems: 'center' }}&gt;&#10;    &lt;Text style={{ fontSize: 14, color: '#64748B' }}&gt;Regent 失败案例复盘&lt;/Text&gt;&#10;    &lt;Text style={{ fontSize: 14, color: '#64748B' }}&gt;17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8763000" y="-1143000"/>
            <a:ext cx="4572000" cy="4572000"/>
          </a:xfrm>
          <a:custGeom>
            <a:pathLst>
              <a:path w="480" h="480">
                <a:moveTo>
                  <a:pt x="360" y="448"/>
                </a:moveTo>
                <a:lnTo>
                  <a:pt x="359" y="448"/>
                </a:lnTo>
                <a:lnTo>
                  <a:pt x="354" y="451"/>
                </a:lnTo>
                <a:lnTo>
                  <a:pt x="349" y="454"/>
                </a:lnTo>
                <a:lnTo>
                  <a:pt x="344" y="456"/>
                </a:lnTo>
                <a:lnTo>
                  <a:pt x="339" y="459"/>
                </a:lnTo>
                <a:lnTo>
                  <a:pt x="333" y="461"/>
                </a:lnTo>
                <a:lnTo>
                  <a:pt x="328" y="463"/>
                </a:lnTo>
                <a:lnTo>
                  <a:pt x="322" y="465"/>
                </a:lnTo>
                <a:lnTo>
                  <a:pt x="317" y="467"/>
                </a:lnTo>
                <a:lnTo>
                  <a:pt x="311" y="469"/>
                </a:lnTo>
                <a:lnTo>
                  <a:pt x="306" y="471"/>
                </a:lnTo>
                <a:lnTo>
                  <a:pt x="300" y="472"/>
                </a:lnTo>
                <a:lnTo>
                  <a:pt x="294" y="474"/>
                </a:lnTo>
                <a:lnTo>
                  <a:pt x="288" y="475"/>
                </a:lnTo>
                <a:lnTo>
                  <a:pt x="282" y="476"/>
                </a:lnTo>
                <a:lnTo>
                  <a:pt x="277" y="477"/>
                </a:lnTo>
                <a:lnTo>
                  <a:pt x="271" y="478"/>
                </a:lnTo>
                <a:lnTo>
                  <a:pt x="265" y="479"/>
                </a:lnTo>
                <a:lnTo>
                  <a:pt x="258" y="479"/>
                </a:lnTo>
                <a:lnTo>
                  <a:pt x="252" y="480"/>
                </a:lnTo>
                <a:lnTo>
                  <a:pt x="246" y="480"/>
                </a:lnTo>
                <a:lnTo>
                  <a:pt x="240" y="480"/>
                </a:lnTo>
                <a:lnTo>
                  <a:pt x="234" y="480"/>
                </a:lnTo>
                <a:lnTo>
                  <a:pt x="228" y="480"/>
                </a:lnTo>
                <a:lnTo>
                  <a:pt x="222" y="479"/>
                </a:lnTo>
                <a:lnTo>
                  <a:pt x="215" y="479"/>
                </a:lnTo>
                <a:lnTo>
                  <a:pt x="209" y="478"/>
                </a:lnTo>
                <a:lnTo>
                  <a:pt x="203" y="477"/>
                </a:lnTo>
                <a:lnTo>
                  <a:pt x="198" y="476"/>
                </a:lnTo>
                <a:lnTo>
                  <a:pt x="192" y="475"/>
                </a:lnTo>
                <a:lnTo>
                  <a:pt x="186" y="474"/>
                </a:lnTo>
                <a:lnTo>
                  <a:pt x="180" y="472"/>
                </a:lnTo>
                <a:lnTo>
                  <a:pt x="174" y="471"/>
                </a:lnTo>
                <a:lnTo>
                  <a:pt x="169" y="469"/>
                </a:lnTo>
                <a:lnTo>
                  <a:pt x="163" y="467"/>
                </a:lnTo>
                <a:lnTo>
                  <a:pt x="158" y="465"/>
                </a:lnTo>
                <a:lnTo>
                  <a:pt x="152" y="463"/>
                </a:lnTo>
                <a:lnTo>
                  <a:pt x="147" y="461"/>
                </a:lnTo>
                <a:lnTo>
                  <a:pt x="141" y="459"/>
                </a:lnTo>
                <a:lnTo>
                  <a:pt x="136" y="456"/>
                </a:lnTo>
                <a:lnTo>
                  <a:pt x="131" y="454"/>
                </a:lnTo>
                <a:lnTo>
                  <a:pt x="126" y="451"/>
                </a:lnTo>
                <a:lnTo>
                  <a:pt x="121" y="448"/>
                </a:lnTo>
                <a:lnTo>
                  <a:pt x="116" y="445"/>
                </a:lnTo>
                <a:lnTo>
                  <a:pt x="111" y="442"/>
                </a:lnTo>
                <a:lnTo>
                  <a:pt x="106" y="439"/>
                </a:lnTo>
                <a:lnTo>
                  <a:pt x="101" y="436"/>
                </a:lnTo>
                <a:lnTo>
                  <a:pt x="96" y="432"/>
                </a:lnTo>
                <a:lnTo>
                  <a:pt x="92" y="429"/>
                </a:lnTo>
                <a:lnTo>
                  <a:pt x="87" y="425"/>
                </a:lnTo>
                <a:lnTo>
                  <a:pt x="83" y="421"/>
                </a:lnTo>
                <a:lnTo>
                  <a:pt x="79" y="418"/>
                </a:lnTo>
                <a:lnTo>
                  <a:pt x="74" y="414"/>
                </a:lnTo>
                <a:lnTo>
                  <a:pt x="70" y="410"/>
                </a:lnTo>
                <a:lnTo>
                  <a:pt x="66" y="406"/>
                </a:lnTo>
                <a:lnTo>
                  <a:pt x="62" y="401"/>
                </a:lnTo>
                <a:lnTo>
                  <a:pt x="59" y="397"/>
                </a:lnTo>
                <a:lnTo>
                  <a:pt x="55" y="393"/>
                </a:lnTo>
                <a:lnTo>
                  <a:pt x="51" y="388"/>
                </a:lnTo>
                <a:lnTo>
                  <a:pt x="48" y="384"/>
                </a:lnTo>
                <a:lnTo>
                  <a:pt x="44" y="379"/>
                </a:lnTo>
                <a:lnTo>
                  <a:pt x="41" y="374"/>
                </a:lnTo>
                <a:lnTo>
                  <a:pt x="38" y="369"/>
                </a:lnTo>
                <a:lnTo>
                  <a:pt x="35" y="364"/>
                </a:lnTo>
                <a:lnTo>
                  <a:pt x="32" y="359"/>
                </a:lnTo>
                <a:lnTo>
                  <a:pt x="29" y="354"/>
                </a:lnTo>
                <a:lnTo>
                  <a:pt x="26" y="349"/>
                </a:lnTo>
                <a:lnTo>
                  <a:pt x="24" y="344"/>
                </a:lnTo>
                <a:lnTo>
                  <a:pt x="21" y="339"/>
                </a:lnTo>
                <a:lnTo>
                  <a:pt x="19" y="333"/>
                </a:lnTo>
                <a:lnTo>
                  <a:pt x="17" y="328"/>
                </a:lnTo>
                <a:lnTo>
                  <a:pt x="15" y="322"/>
                </a:lnTo>
                <a:lnTo>
                  <a:pt x="13" y="317"/>
                </a:lnTo>
                <a:lnTo>
                  <a:pt x="11" y="311"/>
                </a:lnTo>
                <a:lnTo>
                  <a:pt x="9" y="306"/>
                </a:lnTo>
                <a:lnTo>
                  <a:pt x="8" y="300"/>
                </a:lnTo>
                <a:lnTo>
                  <a:pt x="6" y="294"/>
                </a:lnTo>
                <a:lnTo>
                  <a:pt x="5" y="288"/>
                </a:lnTo>
                <a:lnTo>
                  <a:pt x="4" y="282"/>
                </a:lnTo>
                <a:lnTo>
                  <a:pt x="3" y="277"/>
                </a:lnTo>
                <a:lnTo>
                  <a:pt x="2" y="271"/>
                </a:lnTo>
                <a:lnTo>
                  <a:pt x="1" y="265"/>
                </a:lnTo>
                <a:lnTo>
                  <a:pt x="1" y="258"/>
                </a:lnTo>
                <a:lnTo>
                  <a:pt x="0" y="252"/>
                </a:lnTo>
                <a:lnTo>
                  <a:pt x="0" y="246"/>
                </a:lnTo>
                <a:lnTo>
                  <a:pt x="0" y="240"/>
                </a:lnTo>
                <a:lnTo>
                  <a:pt x="0" y="234"/>
                </a:lnTo>
                <a:lnTo>
                  <a:pt x="0" y="228"/>
                </a:lnTo>
                <a:lnTo>
                  <a:pt x="1" y="222"/>
                </a:lnTo>
                <a:lnTo>
                  <a:pt x="1" y="215"/>
                </a:lnTo>
                <a:lnTo>
                  <a:pt x="2" y="209"/>
                </a:lnTo>
                <a:lnTo>
                  <a:pt x="3" y="203"/>
                </a:lnTo>
                <a:lnTo>
                  <a:pt x="4" y="198"/>
                </a:lnTo>
                <a:lnTo>
                  <a:pt x="5" y="192"/>
                </a:lnTo>
                <a:lnTo>
                  <a:pt x="6" y="186"/>
                </a:lnTo>
                <a:lnTo>
                  <a:pt x="8" y="180"/>
                </a:lnTo>
                <a:lnTo>
                  <a:pt x="9" y="174"/>
                </a:lnTo>
                <a:lnTo>
                  <a:pt x="11" y="169"/>
                </a:lnTo>
                <a:lnTo>
                  <a:pt x="13" y="163"/>
                </a:lnTo>
                <a:lnTo>
                  <a:pt x="15" y="158"/>
                </a:lnTo>
                <a:lnTo>
                  <a:pt x="17" y="152"/>
                </a:lnTo>
                <a:lnTo>
                  <a:pt x="19" y="147"/>
                </a:lnTo>
                <a:lnTo>
                  <a:pt x="21" y="141"/>
                </a:lnTo>
                <a:lnTo>
                  <a:pt x="24" y="136"/>
                </a:lnTo>
                <a:lnTo>
                  <a:pt x="26" y="131"/>
                </a:lnTo>
                <a:lnTo>
                  <a:pt x="29" y="126"/>
                </a:lnTo>
                <a:lnTo>
                  <a:pt x="32" y="121"/>
                </a:lnTo>
                <a:lnTo>
                  <a:pt x="32" y="120"/>
                </a:lnTo>
                <a:lnTo>
                  <a:pt x="360" y="120"/>
                </a:lnTo>
                <a:close/>
              </a:path>
            </a:pathLst>
          </a:custGeom>
          <a:gradFill>
            <a:gsLst>
              <a:gs pos="0">
                <a:srgbClr val="3B82F6">
                  <a:alpha val="16000"/>
                </a:srgbClr>
              </a:gs>
              <a:gs pos="100000">
                <a:srgbClr val="06B6D4">
                  <a:alpha val="16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22" name=""/>
          <p:cNvSpPr/>
          <p:nvPr/>
        </p:nvSpPr>
        <p:spPr>
          <a:xfrm rot="0" flipH="0" flipV="0">
            <a:off x="0" y="3429000"/>
            <a:ext cx="3429000" cy="3429000"/>
          </a:xfrm>
          <a:prstGeom prst="rect">
            <a:avLst/>
          </a:prstGeom>
          <a:gradFill>
            <a:gsLst>
              <a:gs pos="0">
                <a:srgbClr val="06B6D4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3571875" y="1962150"/>
            <a:ext cx="1733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225">
                <a:solidFill>
                  <a:srgbClr val="06B6D4"/>
                </a:solidFill>
                <a:latin typeface="PingFang SC"/>
                <a:ea typeface="PingFang SC"/>
              </a:rPr>
              <a:t>CHAPTER FIVE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3571875" y="2266950"/>
            <a:ext cx="17335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latin typeface="PingFang SC"/>
                <a:ea typeface="PingFang SC"/>
              </a:rPr>
              <a:t>结论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914400" y="85725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E3A8A">
                    <a:alpha val="55000"/>
                  </a:srgbClr>
                </a:solidFill>
                <a:latin typeface="PingFang SC"/>
                <a:ea typeface="PingFang SC"/>
              </a:rPr>
              <a:t>05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914400" y="4410075"/>
            <a:ext cx="10363200" cy="1019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950">
                <a:solidFill>
                  <a:srgbClr val="CBD5E1"/>
                </a:solidFill>
                <a:latin typeface="PingFang SC"/>
                <a:ea typeface="PingFang SC"/>
              </a:rPr>
              <a:t>讲的不是「</a:t>
            </a:r>
            <a:r>
              <a:rPr lang="en-US" sz="1950">
                <a:solidFill>
                  <a:srgbClr val="CBD5E1"/>
                </a:solidFill>
                <a:latin typeface="PingFang SC"/>
                <a:ea typeface="PingFang SC"/>
              </a:rPr>
              <a:t>Regent </a:t>
            </a:r>
            <a:r>
              <a:rPr lang="zh-CN" sz="1950">
                <a:solidFill>
                  <a:srgbClr val="CBD5E1"/>
                </a:solidFill>
                <a:latin typeface="PingFang SC"/>
                <a:ea typeface="PingFang SC"/>
              </a:rPr>
              <a:t>哪里蠢」，</a:t>
            </a:r>
            <a:endParaRPr/>
          </a:p>
          <a:p>
            <a:pPr>
              <a:lnSpc>
                <a:spcPct val="170000"/>
              </a:lnSpc>
            </a:pPr>
            <a:r>
              <a:rPr lang="zh-CN" sz="1950">
                <a:solidFill>
                  <a:srgbClr val="CBD5E1"/>
                </a:solidFill>
                <a:latin typeface="PingFang SC"/>
                <a:ea typeface="PingFang SC"/>
              </a:rPr>
              <a:t>而是</a:t>
            </a:r>
            <a:r>
              <a:rPr lang="zh-CN" sz="1950" b="1">
                <a:solidFill>
                  <a:srgbClr val="FFFFFF"/>
                </a:solidFill>
                <a:latin typeface="PingFang SC"/>
                <a:ea typeface="PingFang SC"/>
              </a:rPr>
              <a:t>我们下次该怎么动手</a:t>
            </a:r>
            <a:r>
              <a:rPr lang="zh-CN" sz="1950">
                <a:solidFill>
                  <a:srgbClr val="CBD5E1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09600" y="6353175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失败案例复盘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1125200" y="6353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17 / 20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29" name="" descr="&lt;Slide style={{ width: '1280px', height: '720px', background: '#FFFFFF', fontFamily: &quot;'PingFang SC','Microsoft YaHei','Helvetica Neue',sans-serif&quot;, overflow: 'hidden' }}&gt;&#10;  &lt;Box style={{ height: 120, padding: '28px 64px 0 64px', flexDirection: 'row', justifyContent: 'space-between', alignItems: 'flex-start' }}&gt;&#10;    &lt;Box&gt;&#10;      &lt;Text style={{ fontSize: 16, color: '#64748B', letterSpacing: 1 }}&gt;第五章 · 结论&lt;/Text&gt;&#10;      &lt;Text style={{ fontSize: 34, fontWeight: 'bold', color: '#1E293B', marginTop: 6 }}&gt;Agent 到底该怎么搭&lt;/Text&gt;&#10;    &lt;/Box&gt;&#10;    &lt;Text style={{ fontSize: 16, color: '#3B82F6', fontWeight: 'bold', paddingTop: 10 }}&gt;18&lt;/Text&gt;&#10;  &lt;/Box&gt;&#10;&#10;  &lt;Box style={{ height: 540, padding: '6px 64px 0 64px', flexDirection: 'row', gap: 40 }}&gt;&#10;    &lt;Box style={{ width: 260, background: 'linear-gradient(135deg,#3B82F6 0%,#06B6D4 100%)', borderRadius: 18, padding: '30px 26px', justifyContent: 'center' }}&gt;&#10;      &lt;Text style={{ fontSize: 80, fontWeight: 'bold', color: '#FFFFFF', lineHeight: 1 }}&gt;7&lt;/Text&gt;&#10;      &lt;Text style={{ fontSize: 22, fontWeight: 'bold', color: '#FFFFFF', marginTop: 6 }}&gt;步法&lt;/Text&gt;&#10;      &lt;Text style={{ fontSize: 17, color: '#E0F2FE', lineHeight: 1.7, marginTop: 16 }}&gt;&#10;        先闭环，&lt;br /&gt;再谈高级。&#10;      &lt;/Text&gt;&#10;    &lt;/Box&gt;&#10;&#10;    &lt;Box style={{ flex: 1, justifyContent: 'space-between' }}&gt;&#10;      {[&#10;        ['1', '定义最小闭环', '先圈出「一件能跑通的小事」'],&#10;        ['2', '写出核心循环', 'goal→plan→act→observe→reflect→deliver，先单线程跑通'],&#10;        ['3', '加质量门', '自校验 + 可重跑，不过门不出门'],&#10;        ['4', '上下文工程优先', '把上下文喂好，比加节点更重要'],&#10;        ['5', '稳定后再扩展', '循环稳了，才加并行 / 分支'],&#10;        ['6', '做到可观测', '事件有消费者、状态不悬停、失败能终态'],&#10;        ['7', '用进度衡量', '禁用「架构很美」式自我安慰'],&#10;      ].map((s, i) =&gt; (&#10;        &lt;Box key={i} style={{ flexDirection: 'row', alignItems: 'center', gap: 16, background: '#F1F5F9', borderRadius: 10, padding: '11px 18px' }}&gt;&#10;          &lt;Text style={{ fontSize: 24, fontWeight: 'bold', color: '#3B82F6', width: 36 }}&gt;{s[0]}&lt;/Text&gt;&#10;          &lt;Text style={{ fontSize: 18, fontWeight: 'bold', color: '#1E293B', width: 150 }}&gt;{s[1]}&lt;/Text&gt;&#10;          &lt;Text style={{ fontSize: 16, color: '#64748B', flex: 1 }}&gt;{s[2]}&lt;/Text&gt;&#10;        &lt;/Box&gt;&#10;      ))}&#10;    &lt;/Box&gt;&#10;  &lt;/Box&gt;&#10;&#10;  &lt;Box style={{ height: 60, padding: '0 64px', flexDirection: 'row', justifyContent: 'space-between', alignItems: 'center', borderTop: '1px solid #E2E8F0' }}&gt;&#10;    &lt;Text style={{ fontSize: 14, color: '#64748B' }}&gt;Regent 失败案例复盘&lt;/Text&gt;&#10;    &lt;Text style={{ fontSize: 14, color: '#64748B' }}&gt;18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09600" y="266700"/>
            <a:ext cx="3038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第五章</a:t>
            </a:r>
            <a:r>
              <a:rPr lang="en-US" sz="1200" spc="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结论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09600" y="514350"/>
            <a:ext cx="30384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293B"/>
                </a:solidFill>
                <a:latin typeface="PingFang SC"/>
                <a:ea typeface="PingFang SC"/>
              </a:rPr>
              <a:t>Agent </a:t>
            </a:r>
            <a:r>
              <a:rPr lang="zh-CN" sz="2550" b="1">
                <a:solidFill>
                  <a:srgbClr val="1E293B"/>
                </a:solidFill>
                <a:latin typeface="PingFang SC"/>
                <a:ea typeface="PingFang SC"/>
              </a:rPr>
              <a:t>到底该怎么搭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1391900" y="266700"/>
            <a:ext cx="190500" cy="2857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B82F6"/>
                </a:solidFill>
                <a:latin typeface="PingFang SC"/>
                <a:ea typeface="PingFang SC"/>
              </a:rPr>
              <a:t>18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609600" y="1200150"/>
            <a:ext cx="2476500" cy="5086350"/>
          </a:xfrm>
          <a:prstGeom prst="roundRect">
            <a:avLst>
              <a:gd name="adj" fmla="val 6923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857250" y="2724150"/>
            <a:ext cx="1981200" cy="914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0" b="1">
                <a:solidFill>
                  <a:srgbClr val="FFFFFF"/>
                </a:solidFill>
                <a:latin typeface="PingFang SC"/>
                <a:ea typeface="PingFang SC"/>
              </a:rPr>
              <a:t>7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57250" y="3695700"/>
            <a:ext cx="1981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PingFang SC"/>
                <a:ea typeface="PingFang SC"/>
              </a:rPr>
              <a:t>步法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57250" y="4105275"/>
            <a:ext cx="1981200" cy="6667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E0F2FE"/>
                </a:solidFill>
                <a:latin typeface="PingFang SC"/>
                <a:ea typeface="PingFang SC"/>
              </a:rPr>
              <a:t>先闭环，</a:t>
            </a:r>
            <a:endParaRPr/>
          </a:p>
          <a:p>
            <a:pPr>
              <a:lnSpc>
                <a:spcPct val="170000"/>
              </a:lnSpc>
            </a:pPr>
            <a:r>
              <a:rPr lang="zh-CN" sz="1275">
                <a:solidFill>
                  <a:srgbClr val="E0F2FE"/>
                </a:solidFill>
                <a:latin typeface="PingFang SC"/>
                <a:ea typeface="PingFang SC"/>
              </a:rPr>
              <a:t>再谈高级。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3467100" y="1200150"/>
            <a:ext cx="8115300" cy="485775"/>
          </a:xfrm>
          <a:prstGeom prst="roundRect">
            <a:avLst>
              <a:gd name="adj" fmla="val 19608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3638550" y="1304925"/>
            <a:ext cx="342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B82F6"/>
                </a:solidFill>
                <a:latin typeface="PingFang SC"/>
                <a:ea typeface="PingFang SC"/>
              </a:rPr>
              <a:t>1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133850" y="1343025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PingFang SC"/>
                <a:ea typeface="PingFang SC"/>
              </a:rPr>
              <a:t>定义最小闭环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5715000" y="1352550"/>
            <a:ext cx="5695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先圈出「一件能跑通的小事」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3467100" y="1971675"/>
            <a:ext cx="8115300" cy="485775"/>
          </a:xfrm>
          <a:prstGeom prst="roundRect">
            <a:avLst>
              <a:gd name="adj" fmla="val 19608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3638550" y="2076450"/>
            <a:ext cx="342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B82F6"/>
                </a:solidFill>
                <a:latin typeface="PingFang SC"/>
                <a:ea typeface="PingFang SC"/>
              </a:rPr>
              <a:t>2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4133850" y="211455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PingFang SC"/>
                <a:ea typeface="PingFang SC"/>
              </a:rPr>
              <a:t>写出核心循环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5715000" y="2124075"/>
            <a:ext cx="5695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goal→plan→act→observe→reflect→deliver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，先单线程跑通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3467100" y="2733675"/>
            <a:ext cx="8115300" cy="485775"/>
          </a:xfrm>
          <a:prstGeom prst="roundRect">
            <a:avLst>
              <a:gd name="adj" fmla="val 19608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3638550" y="2838450"/>
            <a:ext cx="342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B82F6"/>
                </a:solidFill>
                <a:latin typeface="PingFang SC"/>
                <a:ea typeface="PingFang SC"/>
              </a:rPr>
              <a:t>3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4133850" y="287655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PingFang SC"/>
                <a:ea typeface="PingFang SC"/>
              </a:rPr>
              <a:t>加质量门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5715000" y="2886075"/>
            <a:ext cx="5695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自校验</a:t>
            </a: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 + 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可重跑，不过门不出门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3467100" y="3505200"/>
            <a:ext cx="8115300" cy="485775"/>
          </a:xfrm>
          <a:prstGeom prst="roundRect">
            <a:avLst>
              <a:gd name="adj" fmla="val 19608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3638550" y="3609975"/>
            <a:ext cx="342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B82F6"/>
                </a:solidFill>
                <a:latin typeface="PingFang SC"/>
                <a:ea typeface="PingFang SC"/>
              </a:rPr>
              <a:t>4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4133850" y="3648075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PingFang SC"/>
                <a:ea typeface="PingFang SC"/>
              </a:rPr>
              <a:t>上下文工程优先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715000" y="3657600"/>
            <a:ext cx="5695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把上下文喂好，比加节点更重要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3467100" y="4267200"/>
            <a:ext cx="8115300" cy="485775"/>
          </a:xfrm>
          <a:prstGeom prst="roundRect">
            <a:avLst>
              <a:gd name="adj" fmla="val 19608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3638550" y="4371975"/>
            <a:ext cx="342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B82F6"/>
                </a:solidFill>
                <a:latin typeface="PingFang SC"/>
                <a:ea typeface="PingFang SC"/>
              </a:rPr>
              <a:t>5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4133850" y="4410075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PingFang SC"/>
                <a:ea typeface="PingFang SC"/>
              </a:rPr>
              <a:t>稳定后再扩展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5715000" y="4419600"/>
            <a:ext cx="5695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循环稳了，才加并行</a:t>
            </a: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 / 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分支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3467100" y="5038725"/>
            <a:ext cx="8115300" cy="485775"/>
          </a:xfrm>
          <a:prstGeom prst="roundRect">
            <a:avLst>
              <a:gd name="adj" fmla="val 19608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3638550" y="5143500"/>
            <a:ext cx="342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B82F6"/>
                </a:solidFill>
                <a:latin typeface="PingFang SC"/>
                <a:ea typeface="PingFang SC"/>
              </a:rPr>
              <a:t>6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4133850" y="518160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PingFang SC"/>
                <a:ea typeface="PingFang SC"/>
              </a:rPr>
              <a:t>做到可观测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715000" y="5191125"/>
            <a:ext cx="5695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事件有消费者、状态不悬停、失败能终态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3467100" y="5800725"/>
            <a:ext cx="8115300" cy="485775"/>
          </a:xfrm>
          <a:prstGeom prst="roundRect">
            <a:avLst>
              <a:gd name="adj" fmla="val 19608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3638550" y="5905500"/>
            <a:ext cx="342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3B82F6"/>
                </a:solidFill>
                <a:latin typeface="PingFang SC"/>
                <a:ea typeface="PingFang SC"/>
              </a:rPr>
              <a:t>7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133850" y="5943600"/>
            <a:ext cx="1428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293B"/>
                </a:solidFill>
                <a:latin typeface="PingFang SC"/>
                <a:ea typeface="PingFang SC"/>
              </a:rPr>
              <a:t>用进度衡量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715000" y="5953125"/>
            <a:ext cx="5695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禁用「架构很美」式自我安慰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失败案例复盘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18 / 20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69" name="" descr="&lt;Slide style={{ width: '1280px', height: '720px', background: '#FFFFFF', fontFamily: &quot;'PingFang SC','Microsoft YaHei','Helvetica Neue',sans-serif&quot;, overflow: 'hidden' }}&gt;&#10;  &lt;Box style={{ height: 120, padding: '28px 64px 0 64px', flexDirection: 'row', justifyContent: 'space-between', alignItems: 'flex-start' }}&gt;&#10;    &lt;Box&gt;&#10;      &lt;Text style={{ fontSize: 16, color: '#64748B', letterSpacing: 1 }}&gt;第五章 · 结论&lt;/Text&gt;&#10;      &lt;Text style={{ fontSize: 34, fontWeight: 'bold', color: '#1E293B', marginTop: 6 }}&gt;多 Agent 到底该怎么搭&lt;/Text&gt;&#10;    &lt;/Box&gt;&#10;    &lt;Text style={{ fontSize: 16, color: '#3B82F6', fontWeight: 'bold', paddingTop: 10 }}&gt;19&lt;/Text&gt;&#10;  &lt;/Box&gt;&#10;&#10;  &lt;Box style={{ height: 540, padding: '8px 64px 0 64px', flexDirection: 'row', gap: 36 }}&gt;&#10;    &lt;Box style={{ flex: 1, background: '#EFF6FF', borderRadius: 18, padding: '28px 26px' }}&gt;&#10;      &lt;Box style={{ flexDirection: 'row', alignItems: 'center', gap: 12, marginBottom: 16 }}&gt;&#10;        &lt;FAIcon name='info-circle' style={{ fill: '#3B82F6', width: 30, height: 30 }} /&gt;&#10;        &lt;Text style={{ fontSize: 23, fontWeight: 'bold', color: '#1E293B' }}&gt;原则&lt;/Text&gt;&#10;      &lt;/Box&gt;&#10;      &lt;Box style={{ gap: 16 }}&gt;&#10;        &lt;Box style={{ flexDirection: 'row', alignItems: 'flex-start', gap: 12 }}&gt;&#10;          &lt;Text style={{ fontSize: 20, fontWeight: 'bold', color: '#3B82F6' }}&gt;·&lt;/Text&gt;&#10;          &lt;Text style={{ fontSize: 18, color: '#475569', lineHeight: 1.6 }}&gt;多 Agent 不是默认选项；单 Agent 能解决就别拆&lt;/Text&gt;&#10;        &lt;/Box&gt;&#10;        &lt;Box style={{ flexDirection: 'row', alignItems: 'flex-start', gap: 12 }}&gt;&#10;          &lt;Text style={{ fontSize: 20, fontWeight: 'bold', color: '#3B82F6' }}&gt;·&lt;/Text&gt;&#10;          &lt;Text style={{ fontSize: 18, color: '#475569', lineHeight: 1.6 }}&gt;触发：上下文 / 能力 / 吞吐真撞墙，且做过实验&lt;/Text&gt;&#10;        &lt;/Box&gt;&#10;        &lt;Box style={{ flexDirection: 'row', alignItems: 'flex-start', gap: 12 }}&gt;&#10;          &lt;Text style={{ fontSize: 20, fontWeight: 'bold', color: '#3B82F6' }}&gt;·&lt;/Text&gt;&#10;          &lt;Text style={{ fontSize: 18, color: '#475569', lineHeight: 1.6 }}&gt;按能力边界拆，不按文件功能切&lt;/Text&gt;&#10;        &lt;/Box&gt;&#10;      &lt;/Box&gt;&#10;    &lt;/Box&gt;&#10;&#10;    &lt;Box style={{ flex: 1, background: '#F1F5F9', borderRadius: 18, padding: '28px 26px' }}&gt;&#10;      &lt;Box style={{ flexDirection: 'row', alignItems: 'center', gap: 12, marginBottom: 16 }}&gt;&#10;        &lt;FAIcon name='cog' style={{ fill: '#06B6D4', width: 30, height: 30 }} /&gt;&#10;        &lt;Text style={{ fontSize: 23, fontWeight: 'bold', color: '#1E293B' }}&gt;协议与做法&lt;/Text&gt;&#10;      &lt;/Box&gt;&#10;      &lt;Box style={{ gap: 16 }}&gt;&#10;        &lt;Box style={{ flexDirection: 'row', alignItems: 'flex-start', gap: 12 }}&gt;&#10;          &lt;Text style={{ fontSize: 20, fontWeight: 'bold', color: '#06B6D4' }}&gt;·&lt;/Text&gt;&#10;          &lt;Text style={{ fontSize: 18, color: '#475569', lineHeight: 1.6 }}&gt;明确消息 / 交接契约，失败码要真被消费&lt;/Text&gt;&#10;        &lt;/Box&gt;&#10;        &lt;Box style={{ flexDirection: 'row', alignItems: 'flex-start', gap: 12 }}&gt;&#10;          &lt;Text style={{ fontSize: 20, fontWeight: 'bold', color: '#06B6D4' }}&gt;·&lt;/Text&gt;&#10;          &lt;Text style={{ fontSize: 18, color: '#475569', lineHeight: 1.6 }}&gt;orchestrator 职责单一、可测，别堆 4400 行&lt;/Text&gt;&#10;        &lt;/Box&gt;&#10;        &lt;Box style={{ flexDirection: 'row', alignItems: 'flex-start', gap: 12 }}&gt;&#10;          &lt;Text style={{ fontSize: 20, fontWeight: 'bold', color: '#06B6D4' }}&gt;·&lt;/Text&gt;&#10;          &lt;Text style={{ fontSize: 18, color: '#475569', lineHeight: 1.6 }}&gt;先有单 Agent 质量基线，再做多 Agent 对照&lt;/Text&gt;&#10;        &lt;/Box&gt;&#10;      &lt;/Box&gt;&#10;    &lt;/Box&gt;&#10;  &lt;/Box&gt;&#10;&#10;  &lt;Box style={{ height: 60, padding: '0 64px', flexDirection: 'row', justifyContent: 'space-between', alignItems: 'center', borderTop: '1px solid #E2E8F0' }}&gt;&#10;    &lt;Text style={{ fontSize: 14, color: '#64748B' }}&gt;Regent 失败案例复盘&lt;/Text&gt;&#10;    &lt;Text style={{ fontSize: 14, color: '#64748B' }}&gt;19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09600" y="266700"/>
            <a:ext cx="3457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第五章</a:t>
            </a:r>
            <a:r>
              <a:rPr lang="en-US" sz="1200" spc="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结论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09600" y="514350"/>
            <a:ext cx="34575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293B"/>
                </a:solidFill>
                <a:latin typeface="PingFang SC"/>
                <a:ea typeface="PingFang SC"/>
              </a:rPr>
              <a:t>多</a:t>
            </a:r>
            <a:r>
              <a:rPr lang="en-US" sz="2550" b="1">
                <a:solidFill>
                  <a:srgbClr val="1E293B"/>
                </a:solidFill>
                <a:latin typeface="PingFang SC"/>
                <a:ea typeface="PingFang SC"/>
              </a:rPr>
              <a:t> Agent </a:t>
            </a:r>
            <a:r>
              <a:rPr lang="zh-CN" sz="2550" b="1">
                <a:solidFill>
                  <a:srgbClr val="1E293B"/>
                </a:solidFill>
                <a:latin typeface="PingFang SC"/>
                <a:ea typeface="PingFang SC"/>
              </a:rPr>
              <a:t>到底该怎么搭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1391900" y="266700"/>
            <a:ext cx="190500" cy="2857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B82F6"/>
                </a:solidFill>
                <a:latin typeface="PingFang SC"/>
                <a:ea typeface="PingFang SC"/>
              </a:rPr>
              <a:t>19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09600" y="1219200"/>
            <a:ext cx="5314950" cy="5067300"/>
          </a:xfrm>
          <a:prstGeom prst="roundRect">
            <a:avLst>
              <a:gd name="adj" fmla="val 3383"/>
            </a:avLst>
          </a:prstGeom>
          <a:solidFill>
            <a:srgbClr val="EFF6FF"/>
          </a:solidFill>
          <a:ln/>
        </p:spPr>
        <p:txBody>
          <a:bodyPr/>
          <a:p/>
        </p:txBody>
      </p:sp>
      <p:pic>
        <p:nvPicPr>
          <p:cNvPr id="1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485900"/>
            <a:ext cx="285750" cy="285750"/>
          </a:xfrm>
          <a:prstGeom prst="rect">
            <a:avLst/>
          </a:prstGeom>
          <a:ln/>
        </p:spPr>
      </p:pic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257300" y="1495425"/>
            <a:ext cx="4381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E293B"/>
                </a:solidFill>
                <a:latin typeface="PingFang SC"/>
                <a:ea typeface="PingFang SC"/>
              </a:rPr>
              <a:t>原则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57250" y="1924050"/>
            <a:ext cx="85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3B82F6"/>
                </a:solidFill>
                <a:latin typeface="PingFang SC"/>
                <a:ea typeface="PingFang SC"/>
              </a:rPr>
              <a:t>·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057275" y="1924050"/>
            <a:ext cx="37719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PingFang SC"/>
                <a:ea typeface="PingFang SC"/>
              </a:rPr>
              <a:t>多</a:t>
            </a:r>
            <a:r>
              <a:rPr lang="en-US" sz="1350">
                <a:solidFill>
                  <a:srgbClr val="475569"/>
                </a:solidFill>
                <a:latin typeface="PingFang SC"/>
                <a:ea typeface="PingFang SC"/>
              </a:rPr>
              <a:t> Agent </a:t>
            </a:r>
            <a:r>
              <a:rPr lang="zh-CN" sz="1350">
                <a:solidFill>
                  <a:srgbClr val="475569"/>
                </a:solidFill>
                <a:latin typeface="PingFang SC"/>
                <a:ea typeface="PingFang SC"/>
              </a:rPr>
              <a:t>不是默认选项；单</a:t>
            </a:r>
            <a:r>
              <a:rPr lang="en-US" sz="1350">
                <a:solidFill>
                  <a:srgbClr val="475569"/>
                </a:solidFill>
                <a:latin typeface="PingFang SC"/>
                <a:ea typeface="PingFang SC"/>
              </a:rPr>
              <a:t> Agent </a:t>
            </a:r>
            <a:r>
              <a:rPr lang="zh-CN" sz="1350">
                <a:solidFill>
                  <a:srgbClr val="475569"/>
                </a:solidFill>
                <a:latin typeface="PingFang SC"/>
                <a:ea typeface="PingFang SC"/>
              </a:rPr>
              <a:t>能解决就别拆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57250" y="2409825"/>
            <a:ext cx="85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3B82F6"/>
                </a:solidFill>
                <a:latin typeface="PingFang SC"/>
                <a:ea typeface="PingFang SC"/>
              </a:rPr>
              <a:t>·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057275" y="2409825"/>
            <a:ext cx="360997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PingFang SC"/>
                <a:ea typeface="PingFang SC"/>
              </a:rPr>
              <a:t>触发：上下文</a:t>
            </a:r>
            <a:r>
              <a:rPr lang="en-US" sz="1350">
                <a:solidFill>
                  <a:srgbClr val="475569"/>
                </a:solidFill>
                <a:latin typeface="PingFang SC"/>
                <a:ea typeface="PingFang SC"/>
              </a:rPr>
              <a:t> / </a:t>
            </a:r>
            <a:r>
              <a:rPr lang="zh-CN" sz="1350">
                <a:solidFill>
                  <a:srgbClr val="475569"/>
                </a:solidFill>
                <a:latin typeface="PingFang SC"/>
                <a:ea typeface="PingFang SC"/>
              </a:rPr>
              <a:t>能力</a:t>
            </a:r>
            <a:r>
              <a:rPr lang="en-US" sz="1350">
                <a:solidFill>
                  <a:srgbClr val="475569"/>
                </a:solidFill>
                <a:latin typeface="PingFang SC"/>
                <a:ea typeface="PingFang SC"/>
              </a:rPr>
              <a:t> / </a:t>
            </a:r>
            <a:r>
              <a:rPr lang="zh-CN" sz="1350">
                <a:solidFill>
                  <a:srgbClr val="475569"/>
                </a:solidFill>
                <a:latin typeface="PingFang SC"/>
                <a:ea typeface="PingFang SC"/>
              </a:rPr>
              <a:t>吞吐真撞墙，且做过实验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57250" y="2895600"/>
            <a:ext cx="85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3B82F6"/>
                </a:solidFill>
                <a:latin typeface="PingFang SC"/>
                <a:ea typeface="PingFang SC"/>
              </a:rPr>
              <a:t>·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057275" y="2895600"/>
            <a:ext cx="24003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PingFang SC"/>
                <a:ea typeface="PingFang SC"/>
              </a:rPr>
              <a:t>按能力边界拆，不按文件功能切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6267450" y="1219200"/>
            <a:ext cx="5314950" cy="5067300"/>
          </a:xfrm>
          <a:prstGeom prst="roundRect">
            <a:avLst>
              <a:gd name="adj" fmla="val 3383"/>
            </a:avLst>
          </a:prstGeom>
          <a:solidFill>
            <a:srgbClr val="F1F5F9"/>
          </a:solidFill>
          <a:ln/>
        </p:spPr>
        <p:txBody>
          <a:bodyPr/>
          <a:p/>
        </p:txBody>
      </p:sp>
      <p:pic>
        <p:nvPicPr>
          <p:cNvPr id="1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515100" y="1485900"/>
            <a:ext cx="285750" cy="285750"/>
          </a:xfrm>
          <a:prstGeom prst="rect">
            <a:avLst/>
          </a:prstGeom>
          <a:ln/>
        </p:spPr>
      </p:pic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915150" y="1495425"/>
            <a:ext cx="10953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E293B"/>
                </a:solidFill>
                <a:latin typeface="PingFang SC"/>
                <a:ea typeface="PingFang SC"/>
              </a:rPr>
              <a:t>协议与做法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515100" y="1924050"/>
            <a:ext cx="85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06B6D4"/>
                </a:solidFill>
                <a:latin typeface="PingFang SC"/>
                <a:ea typeface="PingFang SC"/>
              </a:rPr>
              <a:t>·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715125" y="1924050"/>
            <a:ext cx="309562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PingFang SC"/>
                <a:ea typeface="PingFang SC"/>
              </a:rPr>
              <a:t>明确消息</a:t>
            </a:r>
            <a:r>
              <a:rPr lang="en-US" sz="1350">
                <a:solidFill>
                  <a:srgbClr val="475569"/>
                </a:solidFill>
                <a:latin typeface="PingFang SC"/>
                <a:ea typeface="PingFang SC"/>
              </a:rPr>
              <a:t> / </a:t>
            </a:r>
            <a:r>
              <a:rPr lang="zh-CN" sz="1350">
                <a:solidFill>
                  <a:srgbClr val="475569"/>
                </a:solidFill>
                <a:latin typeface="PingFang SC"/>
                <a:ea typeface="PingFang SC"/>
              </a:rPr>
              <a:t>交接契约，失败码要真被消费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515100" y="2409825"/>
            <a:ext cx="85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06B6D4"/>
                </a:solidFill>
                <a:latin typeface="PingFang SC"/>
                <a:ea typeface="PingFang SC"/>
              </a:rPr>
              <a:t>·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715125" y="2409825"/>
            <a:ext cx="34480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>
                <a:solidFill>
                  <a:srgbClr val="475569"/>
                </a:solidFill>
                <a:latin typeface="PingFang SC"/>
                <a:ea typeface="PingFang SC"/>
              </a:rPr>
              <a:t>orchestrator </a:t>
            </a:r>
            <a:r>
              <a:rPr lang="zh-CN" sz="1350">
                <a:solidFill>
                  <a:srgbClr val="475569"/>
                </a:solidFill>
                <a:latin typeface="PingFang SC"/>
                <a:ea typeface="PingFang SC"/>
              </a:rPr>
              <a:t>职责单一、可测，别堆</a:t>
            </a:r>
            <a:r>
              <a:rPr lang="en-US" sz="1350">
                <a:solidFill>
                  <a:srgbClr val="475569"/>
                </a:solidFill>
                <a:latin typeface="PingFang SC"/>
                <a:ea typeface="PingFang SC"/>
              </a:rPr>
              <a:t> 4400 </a:t>
            </a:r>
            <a:r>
              <a:rPr lang="zh-CN" sz="1350">
                <a:solidFill>
                  <a:srgbClr val="475569"/>
                </a:solidFill>
                <a:latin typeface="PingFang SC"/>
                <a:ea typeface="PingFang SC"/>
              </a:rPr>
              <a:t>行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515100" y="2895600"/>
            <a:ext cx="85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06B6D4"/>
                </a:solidFill>
                <a:latin typeface="PingFang SC"/>
                <a:ea typeface="PingFang SC"/>
              </a:rPr>
              <a:t>·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715125" y="2895600"/>
            <a:ext cx="34290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PingFang SC"/>
                <a:ea typeface="PingFang SC"/>
              </a:rPr>
              <a:t>先有单</a:t>
            </a:r>
            <a:r>
              <a:rPr lang="en-US" sz="1350">
                <a:solidFill>
                  <a:srgbClr val="475569"/>
                </a:solidFill>
                <a:latin typeface="PingFang SC"/>
                <a:ea typeface="PingFang SC"/>
              </a:rPr>
              <a:t> Agent </a:t>
            </a:r>
            <a:r>
              <a:rPr lang="zh-CN" sz="1350">
                <a:solidFill>
                  <a:srgbClr val="475569"/>
                </a:solidFill>
                <a:latin typeface="PingFang SC"/>
                <a:ea typeface="PingFang SC"/>
              </a:rPr>
              <a:t>质量基线，再做多</a:t>
            </a:r>
            <a:r>
              <a:rPr lang="en-US" sz="1350">
                <a:solidFill>
                  <a:srgbClr val="475569"/>
                </a:solidFill>
                <a:latin typeface="PingFang SC"/>
                <a:ea typeface="PingFang SC"/>
              </a:rPr>
              <a:t> Agent </a:t>
            </a:r>
            <a:r>
              <a:rPr lang="zh-CN" sz="1350">
                <a:solidFill>
                  <a:srgbClr val="475569"/>
                </a:solidFill>
                <a:latin typeface="PingFang SC"/>
                <a:ea typeface="PingFang SC"/>
              </a:rPr>
              <a:t>对照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失败案例复盘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19 / 20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24" name="" descr="&lt;Slide style={{ width: '1280px', height: '720px', background: '#0F172A', fontFamily: &quot;'PingFang SC','Microsoft YaHei','Helvetica Neue',sans-serif&quot;, overflow: 'hidden' }}&gt;&#10;  &lt;Box style={{ position: 'absolute', top: -140, right: -120, width: 520, height: 520, borderRadius: 260, background: 'linear-gradient(135deg,#3B82F6 0%,#06B6D4 100%)', opacity: 0.16 }} /&gt;&#10;  &lt;Box style={{ position: 'absolute', bottom: -160, left: -110, width: 440, height: 440, borderRadius: 220, background: 'linear-gradient(135deg,#3B82F6 0%,#06B6D4 100%)', opacity: 0.12 }} /&gt;&#10;&#10;  &lt;Box style={{ position: 'absolute', top: 150, left: 96, right: 96, alignItems: 'center' }}&gt;&#10;    &lt;Text style={{ fontSize: 20, color: '#06B6D4', fontWeight: 'bold', letterSpacing: 3, marginBottom: 24 }}&gt;ONE THING TO REMEMBER&lt;/Text&gt;&#10;    &lt;Text style={{ fontSize: 56, fontWeight: 'bold', color: '#FFFFFF', textAlign: 'center', lineHeight: 1.35 }}&gt;&#10;      先让一件事跑通，&lt;br /&gt;&lt;span style={{ color: '#3B82F6' }}&gt;再去谈架构。&lt;/span&gt;&#10;    &lt;/Text&gt;&#10;  &lt;/Box&gt;&#10;&#10;  &lt;Box style={{ position: 'absolute', bottom: 130, left: 96, right: 96, background: '#1E293B', borderRadius: 16, padding: '26px 32px', flexDirection: 'row', alignItems: 'center', gap: 20 }}&gt;&#10;    &lt;FAIcon name='clipboard' style={{ fill: '#06B6D4', width: 36, height: 36 }} /&gt;&#10;    &lt;Box&gt;&#10;      &lt;Text style={{ fontSize: 18, color: '#94A3B8', fontWeight: 'bold', letterSpacing: 1 }}&gt;课堂练习&lt;/Text&gt;&#10;      &lt;Text style={{ fontSize: 20, color: '#FFFFFF', lineHeight: 1.6, marginTop: 6 }}&gt;&#10;        拿你手上的一个小目标，画出自已的「目标 → 交付」闭环，标出质量门与可终态失败。&#10;      &lt;/Text&gt;&#10;    &lt;/Box&gt;&#10;  &lt;/Box&gt;&#10;&#10;  &lt;Box style={{ position: 'absolute', bottom: 36, left: 64, right: 64, flexDirection: 'row', justifyContent: 'space-between', alignItems: 'center' }}&gt;&#10;    &lt;Text style={{ fontSize: 14, color: '#64748B' }}&gt;Regent 失败案例复盘&lt;/Text&gt;&#10;    &lt;Text style={{ fontSize: 14, color: '#64748B' }}&gt;20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26" name=""/>
          <p:cNvSpPr/>
          <p:nvPr/>
        </p:nvSpPr>
        <p:spPr>
          <a:xfrm rot="0" flipH="0" flipV="0">
            <a:off x="8382000" y="-1333500"/>
            <a:ext cx="4953000" cy="4953000"/>
          </a:xfrm>
          <a:custGeom>
            <a:pathLst>
              <a:path w="520" h="520">
                <a:moveTo>
                  <a:pt x="400" y="479"/>
                </a:moveTo>
                <a:lnTo>
                  <a:pt x="395" y="482"/>
                </a:lnTo>
                <a:lnTo>
                  <a:pt x="389" y="486"/>
                </a:lnTo>
                <a:lnTo>
                  <a:pt x="384" y="489"/>
                </a:ln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29" y="140"/>
                </a:lnTo>
                <a:lnTo>
                  <a:pt x="400" y="140"/>
                </a:lnTo>
                <a:close/>
              </a:path>
            </a:pathLst>
          </a:custGeom>
          <a:gradFill>
            <a:gsLst>
              <a:gs pos="0">
                <a:srgbClr val="3B82F6">
                  <a:alpha val="16000"/>
                </a:srgbClr>
              </a:gs>
              <a:gs pos="100000">
                <a:srgbClr val="06B6D4">
                  <a:alpha val="16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7" name=""/>
          <p:cNvSpPr/>
          <p:nvPr/>
        </p:nvSpPr>
        <p:spPr>
          <a:xfrm rot="0" flipH="0" flipV="0">
            <a:off x="-1047750" y="4191000"/>
            <a:ext cx="4191000" cy="4191000"/>
          </a:xfrm>
          <a:custGeom>
            <a:pathLst>
              <a:path w="440" h="440">
                <a:moveTo>
                  <a:pt x="226" y="0"/>
                </a:moveTo>
                <a:lnTo>
                  <a:pt x="231" y="0"/>
                </a:lnTo>
                <a:lnTo>
                  <a:pt x="237" y="1"/>
                </a:lnTo>
                <a:lnTo>
                  <a:pt x="242" y="1"/>
                </a:lnTo>
                <a:lnTo>
                  <a:pt x="248" y="2"/>
                </a:lnTo>
                <a:lnTo>
                  <a:pt x="253" y="3"/>
                </a:lnTo>
                <a:lnTo>
                  <a:pt x="259" y="3"/>
                </a:lnTo>
                <a:lnTo>
                  <a:pt x="264" y="4"/>
                </a:lnTo>
                <a:lnTo>
                  <a:pt x="270" y="6"/>
                </a:lnTo>
                <a:lnTo>
                  <a:pt x="275" y="7"/>
                </a:lnTo>
                <a:lnTo>
                  <a:pt x="280" y="8"/>
                </a:lnTo>
                <a:lnTo>
                  <a:pt x="285" y="10"/>
                </a:lnTo>
                <a:lnTo>
                  <a:pt x="291" y="12"/>
                </a:lnTo>
                <a:lnTo>
                  <a:pt x="296" y="13"/>
                </a:lnTo>
                <a:lnTo>
                  <a:pt x="301" y="15"/>
                </a:lnTo>
                <a:lnTo>
                  <a:pt x="306" y="17"/>
                </a:lnTo>
                <a:lnTo>
                  <a:pt x="311" y="19"/>
                </a:lnTo>
                <a:lnTo>
                  <a:pt x="315" y="22"/>
                </a:lnTo>
                <a:lnTo>
                  <a:pt x="320" y="24"/>
                </a:lnTo>
                <a:lnTo>
                  <a:pt x="325" y="27"/>
                </a:lnTo>
                <a:lnTo>
                  <a:pt x="329" y="29"/>
                </a:lnTo>
                <a:lnTo>
                  <a:pt x="334" y="32"/>
                </a:lnTo>
                <a:lnTo>
                  <a:pt x="339" y="35"/>
                </a:lnTo>
                <a:lnTo>
                  <a:pt x="343" y="38"/>
                </a:lnTo>
                <a:lnTo>
                  <a:pt x="347" y="41"/>
                </a:lnTo>
                <a:lnTo>
                  <a:pt x="352" y="44"/>
                </a:lnTo>
                <a:lnTo>
                  <a:pt x="356" y="47"/>
                </a:lnTo>
                <a:lnTo>
                  <a:pt x="360" y="50"/>
                </a:lnTo>
                <a:lnTo>
                  <a:pt x="364" y="54"/>
                </a:lnTo>
                <a:lnTo>
                  <a:pt x="368" y="57"/>
                </a:lnTo>
                <a:lnTo>
                  <a:pt x="372" y="61"/>
                </a:lnTo>
                <a:lnTo>
                  <a:pt x="376" y="64"/>
                </a:lnTo>
                <a:lnTo>
                  <a:pt x="379" y="68"/>
                </a:lnTo>
                <a:lnTo>
                  <a:pt x="383" y="72"/>
                </a:lnTo>
                <a:lnTo>
                  <a:pt x="386" y="76"/>
                </a:lnTo>
                <a:lnTo>
                  <a:pt x="390" y="80"/>
                </a:lnTo>
                <a:lnTo>
                  <a:pt x="393" y="84"/>
                </a:lnTo>
                <a:lnTo>
                  <a:pt x="396" y="88"/>
                </a:lnTo>
                <a:lnTo>
                  <a:pt x="399" y="93"/>
                </a:lnTo>
                <a:lnTo>
                  <a:pt x="402" y="97"/>
                </a:lnTo>
                <a:lnTo>
                  <a:pt x="405" y="101"/>
                </a:lnTo>
                <a:lnTo>
                  <a:pt x="408" y="106"/>
                </a:lnTo>
                <a:lnTo>
                  <a:pt x="411" y="111"/>
                </a:lnTo>
                <a:lnTo>
                  <a:pt x="413" y="115"/>
                </a:lnTo>
                <a:lnTo>
                  <a:pt x="416" y="120"/>
                </a:lnTo>
                <a:lnTo>
                  <a:pt x="418" y="125"/>
                </a:lnTo>
                <a:lnTo>
                  <a:pt x="421" y="129"/>
                </a:lnTo>
                <a:lnTo>
                  <a:pt x="423" y="134"/>
                </a:lnTo>
                <a:lnTo>
                  <a:pt x="425" y="139"/>
                </a:lnTo>
                <a:lnTo>
                  <a:pt x="427" y="144"/>
                </a:lnTo>
                <a:lnTo>
                  <a:pt x="428" y="149"/>
                </a:lnTo>
                <a:lnTo>
                  <a:pt x="430" y="155"/>
                </a:lnTo>
                <a:lnTo>
                  <a:pt x="432" y="160"/>
                </a:lnTo>
                <a:lnTo>
                  <a:pt x="433" y="165"/>
                </a:lnTo>
                <a:lnTo>
                  <a:pt x="434" y="170"/>
                </a:lnTo>
                <a:lnTo>
                  <a:pt x="436" y="176"/>
                </a:lnTo>
                <a:lnTo>
                  <a:pt x="437" y="181"/>
                </a:lnTo>
                <a:lnTo>
                  <a:pt x="437" y="187"/>
                </a:lnTo>
                <a:lnTo>
                  <a:pt x="438" y="192"/>
                </a:lnTo>
                <a:lnTo>
                  <a:pt x="439" y="198"/>
                </a:lnTo>
                <a:lnTo>
                  <a:pt x="439" y="203"/>
                </a:lnTo>
                <a:lnTo>
                  <a:pt x="440" y="209"/>
                </a:lnTo>
                <a:lnTo>
                  <a:pt x="440" y="214"/>
                </a:lnTo>
                <a:lnTo>
                  <a:pt x="440" y="220"/>
                </a:lnTo>
                <a:lnTo>
                  <a:pt x="440" y="226"/>
                </a:lnTo>
                <a:lnTo>
                  <a:pt x="440" y="231"/>
                </a:lnTo>
                <a:lnTo>
                  <a:pt x="439" y="237"/>
                </a:lnTo>
                <a:lnTo>
                  <a:pt x="439" y="242"/>
                </a:lnTo>
                <a:lnTo>
                  <a:pt x="438" y="248"/>
                </a:lnTo>
                <a:lnTo>
                  <a:pt x="437" y="253"/>
                </a:lnTo>
                <a:lnTo>
                  <a:pt x="437" y="259"/>
                </a:lnTo>
                <a:lnTo>
                  <a:pt x="436" y="264"/>
                </a:lnTo>
                <a:lnTo>
                  <a:pt x="434" y="270"/>
                </a:lnTo>
                <a:lnTo>
                  <a:pt x="433" y="275"/>
                </a:lnTo>
                <a:lnTo>
                  <a:pt x="432" y="280"/>
                </a:lnTo>
                <a:lnTo>
                  <a:pt x="110" y="280"/>
                </a:lnTo>
                <a:lnTo>
                  <a:pt x="110" y="29"/>
                </a:lnTo>
                <a:lnTo>
                  <a:pt x="111" y="29"/>
                </a:lnTo>
                <a:lnTo>
                  <a:pt x="115" y="27"/>
                </a:lnTo>
                <a:lnTo>
                  <a:pt x="120" y="24"/>
                </a:lnTo>
                <a:lnTo>
                  <a:pt x="125" y="22"/>
                </a:lnTo>
                <a:lnTo>
                  <a:pt x="129" y="19"/>
                </a:lnTo>
                <a:lnTo>
                  <a:pt x="134" y="17"/>
                </a:lnTo>
                <a:lnTo>
                  <a:pt x="139" y="15"/>
                </a:lnTo>
                <a:lnTo>
                  <a:pt x="144" y="13"/>
                </a:lnTo>
                <a:lnTo>
                  <a:pt x="149" y="12"/>
                </a:lnTo>
                <a:lnTo>
                  <a:pt x="155" y="10"/>
                </a:lnTo>
                <a:lnTo>
                  <a:pt x="160" y="8"/>
                </a:lnTo>
                <a:lnTo>
                  <a:pt x="165" y="7"/>
                </a:lnTo>
                <a:lnTo>
                  <a:pt x="170" y="6"/>
                </a:lnTo>
                <a:lnTo>
                  <a:pt x="176" y="4"/>
                </a:lnTo>
                <a:lnTo>
                  <a:pt x="181" y="3"/>
                </a:lnTo>
                <a:lnTo>
                  <a:pt x="187" y="3"/>
                </a:lnTo>
                <a:lnTo>
                  <a:pt x="192" y="2"/>
                </a:lnTo>
                <a:lnTo>
                  <a:pt x="198" y="1"/>
                </a:lnTo>
                <a:lnTo>
                  <a:pt x="203" y="1"/>
                </a:lnTo>
                <a:lnTo>
                  <a:pt x="209" y="0"/>
                </a:lnTo>
                <a:lnTo>
                  <a:pt x="214" y="0"/>
                </a:lnTo>
                <a:lnTo>
                  <a:pt x="220" y="0"/>
                </a:lnTo>
                <a:close/>
              </a:path>
            </a:pathLst>
          </a:custGeom>
          <a:gradFill>
            <a:gsLst>
              <a:gs pos="0">
                <a:srgbClr val="3B82F6">
                  <a:alpha val="12000"/>
                </a:srgbClr>
              </a:gs>
              <a:gs pos="100000">
                <a:srgbClr val="06B6D4">
                  <a:alpha val="12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4476750" y="1428750"/>
            <a:ext cx="3238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225">
                <a:solidFill>
                  <a:srgbClr val="06B6D4"/>
                </a:solidFill>
                <a:latin typeface="PingFang SC"/>
                <a:ea typeface="PingFang SC"/>
              </a:rPr>
              <a:t>ONE THING TO REMEMBER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3962400" y="1885950"/>
            <a:ext cx="4267200" cy="173355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4200" b="1">
                <a:solidFill>
                  <a:srgbClr val="FFFFFF"/>
                </a:solidFill>
                <a:latin typeface="PingFang SC"/>
                <a:ea typeface="PingFang SC"/>
              </a:rPr>
              <a:t>先让一件事跑通，</a:t>
            </a:r>
            <a:endParaRPr/>
          </a:p>
          <a:p>
            <a:pPr algn="ctr">
              <a:lnSpc>
                <a:spcPct val="135000"/>
              </a:lnSpc>
            </a:pPr>
            <a:r>
              <a:rPr lang="zh-CN" sz="4200" b="1">
                <a:solidFill>
                  <a:srgbClr val="3B82F6"/>
                </a:solidFill>
                <a:latin typeface="PingFang SC"/>
                <a:ea typeface="PingFang SC"/>
              </a:rPr>
              <a:t>再去谈架构。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914400" y="4486275"/>
            <a:ext cx="10363200" cy="1133475"/>
          </a:xfrm>
          <a:prstGeom prst="roundRect">
            <a:avLst>
              <a:gd name="adj" fmla="val 13445"/>
            </a:avLst>
          </a:prstGeom>
          <a:solidFill>
            <a:srgbClr val="1E293B"/>
          </a:solidFill>
          <a:ln/>
        </p:spPr>
        <p:txBody>
          <a:bodyPr/>
          <a:p/>
        </p:txBody>
      </p:sp>
      <p:pic>
        <p:nvPicPr>
          <p:cNvPr id="2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219200" y="4886325"/>
            <a:ext cx="342900" cy="342900"/>
          </a:xfrm>
          <a:prstGeom prst="rect">
            <a:avLst/>
          </a:prstGeom>
          <a:ln/>
        </p:spPr>
      </p:pic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752600" y="4733925"/>
            <a:ext cx="7353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 spc="75">
                <a:solidFill>
                  <a:srgbClr val="94A3B8"/>
                </a:solidFill>
                <a:latin typeface="PingFang SC"/>
                <a:ea typeface="PingFang SC"/>
              </a:rPr>
              <a:t>课堂练习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752600" y="5000625"/>
            <a:ext cx="73533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FFFFFF"/>
                </a:solidFill>
                <a:latin typeface="PingFang SC"/>
                <a:ea typeface="PingFang SC"/>
              </a:rPr>
              <a:t>拿你手上的一个小目标，画出自已的「目标</a:t>
            </a:r>
            <a:r>
              <a:rPr lang="en-US" sz="1500">
                <a:solidFill>
                  <a:srgbClr val="FFFFFF"/>
                </a:solidFill>
                <a:latin typeface="PingFang SC"/>
                <a:ea typeface="PingFang SC"/>
              </a:rPr>
              <a:t> → </a:t>
            </a:r>
            <a:r>
              <a:rPr lang="zh-CN" sz="1500">
                <a:solidFill>
                  <a:srgbClr val="FFFFFF"/>
                </a:solidFill>
                <a:latin typeface="PingFang SC"/>
                <a:ea typeface="PingFang SC"/>
              </a:rPr>
              <a:t>交付」闭环，标出质量门与可终态失败。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09600" y="6353175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失败案例复盘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1125200" y="6353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20 / 20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2026-08-02T21:26:02Z</dcterms:created>
  <dcterms:modified xsi:type="dcterms:W3CDTF">2026-08-02T21:26:02Z</dcterms:modified>
</cp:coreProperties>
</file>